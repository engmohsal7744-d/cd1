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69" r:id="rId1"/>
  </p:sldMasterIdLst>
  <p:notesMasterIdLst>
    <p:notesMasterId r:id="rId51"/>
  </p:notesMasterIdLst>
  <p:handoutMasterIdLst>
    <p:handoutMasterId r:id="rId52"/>
  </p:handoutMasterIdLst>
  <p:sldIdLst>
    <p:sldId id="256" r:id="rId2"/>
    <p:sldId id="398" r:id="rId3"/>
    <p:sldId id="400" r:id="rId4"/>
    <p:sldId id="401" r:id="rId5"/>
    <p:sldId id="402" r:id="rId6"/>
    <p:sldId id="293" r:id="rId7"/>
    <p:sldId id="317" r:id="rId8"/>
    <p:sldId id="318" r:id="rId9"/>
    <p:sldId id="403" r:id="rId10"/>
    <p:sldId id="404" r:id="rId11"/>
    <p:sldId id="424" r:id="rId12"/>
    <p:sldId id="425" r:id="rId13"/>
    <p:sldId id="426" r:id="rId14"/>
    <p:sldId id="422" r:id="rId15"/>
    <p:sldId id="423" r:id="rId16"/>
    <p:sldId id="421" r:id="rId17"/>
    <p:sldId id="416" r:id="rId18"/>
    <p:sldId id="417" r:id="rId19"/>
    <p:sldId id="418" r:id="rId20"/>
    <p:sldId id="407" r:id="rId21"/>
    <p:sldId id="408" r:id="rId22"/>
    <p:sldId id="419" r:id="rId23"/>
    <p:sldId id="420" r:id="rId24"/>
    <p:sldId id="409" r:id="rId25"/>
    <p:sldId id="413" r:id="rId26"/>
    <p:sldId id="414" r:id="rId27"/>
    <p:sldId id="415" r:id="rId28"/>
    <p:sldId id="326" r:id="rId29"/>
    <p:sldId id="327" r:id="rId30"/>
    <p:sldId id="328" r:id="rId31"/>
    <p:sldId id="329" r:id="rId32"/>
    <p:sldId id="320" r:id="rId33"/>
    <p:sldId id="330" r:id="rId34"/>
    <p:sldId id="349" r:id="rId35"/>
    <p:sldId id="430" r:id="rId36"/>
    <p:sldId id="351" r:id="rId37"/>
    <p:sldId id="431" r:id="rId38"/>
    <p:sldId id="433" r:id="rId39"/>
    <p:sldId id="434" r:id="rId40"/>
    <p:sldId id="435" r:id="rId41"/>
    <p:sldId id="436" r:id="rId42"/>
    <p:sldId id="353" r:id="rId43"/>
    <p:sldId id="354" r:id="rId44"/>
    <p:sldId id="355" r:id="rId45"/>
    <p:sldId id="356" r:id="rId46"/>
    <p:sldId id="427" r:id="rId47"/>
    <p:sldId id="428" r:id="rId48"/>
    <p:sldId id="429" r:id="rId49"/>
    <p:sldId id="437"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3"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C1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4045" autoAdjust="0"/>
  </p:normalViewPr>
  <p:slideViewPr>
    <p:cSldViewPr>
      <p:cViewPr varScale="1">
        <p:scale>
          <a:sx n="69" d="100"/>
          <a:sy n="69" d="100"/>
        </p:scale>
        <p:origin x="1862" y="67"/>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16.xml"/><Relationship Id="rId3" Type="http://schemas.openxmlformats.org/officeDocument/2006/relationships/slide" Target="slides/slide11.xml"/><Relationship Id="rId7" Type="http://schemas.openxmlformats.org/officeDocument/2006/relationships/slide" Target="slides/slide15.xml"/><Relationship Id="rId2" Type="http://schemas.openxmlformats.org/officeDocument/2006/relationships/slide" Target="slides/slide7.xml"/><Relationship Id="rId1" Type="http://schemas.openxmlformats.org/officeDocument/2006/relationships/slide" Target="slides/slide6.xml"/><Relationship Id="rId6" Type="http://schemas.openxmlformats.org/officeDocument/2006/relationships/slide" Target="slides/slide14.xml"/><Relationship Id="rId11" Type="http://schemas.openxmlformats.org/officeDocument/2006/relationships/slide" Target="slides/slide28.xml"/><Relationship Id="rId5" Type="http://schemas.openxmlformats.org/officeDocument/2006/relationships/slide" Target="slides/slide13.xml"/><Relationship Id="rId10" Type="http://schemas.openxmlformats.org/officeDocument/2006/relationships/slide" Target="slides/slide19.xml"/><Relationship Id="rId4" Type="http://schemas.openxmlformats.org/officeDocument/2006/relationships/slide" Target="slides/slide12.xml"/><Relationship Id="rId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eed Hussein Al_Qahtani" userId="S::shaqahtani@iau.edu.sa::da71c249-7f83-4ba6-819c-108fbd6baf9b" providerId="AD" clId="Web-{EC36B52E-1674-E8F8-1AAA-CEBC36E01AE8}"/>
    <pc:docChg chg="mod modMainMaster">
      <pc:chgData name="Saeed Hussein Al_Qahtani" userId="S::shaqahtani@iau.edu.sa::da71c249-7f83-4ba6-819c-108fbd6baf9b" providerId="AD" clId="Web-{EC36B52E-1674-E8F8-1AAA-CEBC36E01AE8}" dt="2026-07-23T06:32:39.229" v="1" actId="33475"/>
      <pc:docMkLst>
        <pc:docMk/>
      </pc:docMkLst>
      <pc:sldMasterChg chg="addSp">
        <pc:chgData name="Saeed Hussein Al_Qahtani" userId="S::shaqahtani@iau.edu.sa::da71c249-7f83-4ba6-819c-108fbd6baf9b" providerId="AD" clId="Web-{EC36B52E-1674-E8F8-1AAA-CEBC36E01AE8}" dt="2026-07-23T06:32:39.229" v="0" actId="33475"/>
        <pc:sldMasterMkLst>
          <pc:docMk/>
          <pc:sldMasterMk cId="0" sldId="2147483869"/>
        </pc:sldMasterMkLst>
        <pc:spChg chg="add">
          <ac:chgData name="Saeed Hussein Al_Qahtani" userId="S::shaqahtani@iau.edu.sa::da71c249-7f83-4ba6-819c-108fbd6baf9b" providerId="AD" clId="Web-{EC36B52E-1674-E8F8-1AAA-CEBC36E01AE8}" dt="2026-07-23T06:32:39.229" v="0" actId="33475"/>
          <ac:spMkLst>
            <pc:docMk/>
            <pc:sldMasterMk cId="0" sldId="2147483869"/>
            <ac:spMk id="5" creationId="{DBEFA2B8-AA30-4AC4-9175-D80C3555F68B}"/>
          </ac:spMkLst>
        </pc:spChg>
        <pc:spChg chg="add">
          <ac:chgData name="Saeed Hussein Al_Qahtani" userId="S::shaqahtani@iau.edu.sa::da71c249-7f83-4ba6-819c-108fbd6baf9b" providerId="AD" clId="Web-{EC36B52E-1674-E8F8-1AAA-CEBC36E01AE8}" dt="2026-07-23T06:32:39.229" v="0" actId="33475"/>
          <ac:spMkLst>
            <pc:docMk/>
            <pc:sldMasterMk cId="0" sldId="2147483869"/>
            <ac:spMk id="6" creationId="{644D778F-19FC-D815-E6B1-6C86628B0FC4}"/>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8CB1C5F-A3BA-BB46-85AC-8CE03E4C523B}" type="datetime1">
              <a:rPr lang="en-AU" smtClean="0"/>
              <a:pPr/>
              <a:t>3/10/2026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78532AD-4A51-2648-ADF8-36887CB7029A}" type="slidenum">
              <a:rPr lang="en-US" smtClean="0"/>
              <a:pPr/>
              <a:t>‹#›</a:t>
            </a:fld>
            <a:endParaRPr lang="en-US"/>
          </a:p>
        </p:txBody>
      </p:sp>
    </p:spTree>
    <p:extLst>
      <p:ext uri="{BB962C8B-B14F-4D97-AF65-F5344CB8AC3E}">
        <p14:creationId xmlns:p14="http://schemas.microsoft.com/office/powerpoint/2010/main" val="3723721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D85AAF-D5A1-8147-BA10-6C384DDED8D3}" type="datetime1">
              <a:rPr lang="en-AU" smtClean="0"/>
              <a:pPr/>
              <a:t>3/10/2026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04CBD-D2AB-4F0E-A140-F45345530EBC}" type="slidenum">
              <a:rPr lang="en-US" smtClean="0"/>
              <a:pPr/>
              <a:t>‹#›</a:t>
            </a:fld>
            <a:endParaRPr lang="en-US"/>
          </a:p>
        </p:txBody>
      </p:sp>
    </p:spTree>
    <p:extLst>
      <p:ext uri="{BB962C8B-B14F-4D97-AF65-F5344CB8AC3E}">
        <p14:creationId xmlns:p14="http://schemas.microsoft.com/office/powerpoint/2010/main" val="14256082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C04CBD-D2AB-4F0E-A140-F45345530EBC}" type="slidenum">
              <a:rPr lang="en-US" smtClean="0"/>
              <a:pPr/>
              <a:t>1</a:t>
            </a:fld>
            <a:endParaRPr lang="en-US"/>
          </a:p>
        </p:txBody>
      </p:sp>
    </p:spTree>
    <p:extLst>
      <p:ext uri="{BB962C8B-B14F-4D97-AF65-F5344CB8AC3E}">
        <p14:creationId xmlns:p14="http://schemas.microsoft.com/office/powerpoint/2010/main" val="3428984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Exhaustive testing is the process of testing for absolutely everything just to made sure that the product can not be destroyed or crashed so there is a need to look for all possible combos. </a:t>
            </a:r>
          </a:p>
        </p:txBody>
      </p:sp>
      <p:sp>
        <p:nvSpPr>
          <p:cNvPr id="4" name="Slide Number Placeholder 3"/>
          <p:cNvSpPr>
            <a:spLocks noGrp="1"/>
          </p:cNvSpPr>
          <p:nvPr>
            <p:ph type="sldNum" sz="quarter" idx="5"/>
          </p:nvPr>
        </p:nvSpPr>
        <p:spPr/>
        <p:txBody>
          <a:bodyPr/>
          <a:lstStyle/>
          <a:p>
            <a:fld id="{80C04CBD-D2AB-4F0E-A140-F45345530EBC}" type="slidenum">
              <a:rPr lang="en-US" smtClean="0"/>
              <a:pPr/>
              <a:t>4</a:t>
            </a:fld>
            <a:endParaRPr lang="en-US"/>
          </a:p>
        </p:txBody>
      </p:sp>
    </p:spTree>
    <p:extLst>
      <p:ext uri="{BB962C8B-B14F-4D97-AF65-F5344CB8AC3E}">
        <p14:creationId xmlns:p14="http://schemas.microsoft.com/office/powerpoint/2010/main" val="3942413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Source Sans Pro" panose="020B0503030403020204" pitchFamily="34" charset="0"/>
              </a:rPr>
              <a:t>The purpose of grey box testing is to search and identify the defects due to improper code structure or improper use of applications.</a:t>
            </a:r>
            <a:endParaRPr lang="en-US" dirty="0"/>
          </a:p>
        </p:txBody>
      </p:sp>
      <p:sp>
        <p:nvSpPr>
          <p:cNvPr id="4" name="Slide Number Placeholder 3"/>
          <p:cNvSpPr>
            <a:spLocks noGrp="1"/>
          </p:cNvSpPr>
          <p:nvPr>
            <p:ph type="sldNum" sz="quarter" idx="5"/>
          </p:nvPr>
        </p:nvSpPr>
        <p:spPr/>
        <p:txBody>
          <a:bodyPr/>
          <a:lstStyle/>
          <a:p>
            <a:fld id="{80C04CBD-D2AB-4F0E-A140-F45345530EBC}" type="slidenum">
              <a:rPr lang="en-US" smtClean="0"/>
              <a:pPr/>
              <a:t>7</a:t>
            </a:fld>
            <a:endParaRPr lang="en-US"/>
          </a:p>
        </p:txBody>
      </p:sp>
    </p:spTree>
    <p:extLst>
      <p:ext uri="{BB962C8B-B14F-4D97-AF65-F5344CB8AC3E}">
        <p14:creationId xmlns:p14="http://schemas.microsoft.com/office/powerpoint/2010/main" val="2810055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power 10 = 1024</a:t>
            </a:r>
          </a:p>
        </p:txBody>
      </p:sp>
      <p:sp>
        <p:nvSpPr>
          <p:cNvPr id="4" name="Slide Number Placeholder 3"/>
          <p:cNvSpPr>
            <a:spLocks noGrp="1"/>
          </p:cNvSpPr>
          <p:nvPr>
            <p:ph type="sldNum" sz="quarter" idx="5"/>
          </p:nvPr>
        </p:nvSpPr>
        <p:spPr/>
        <p:txBody>
          <a:bodyPr/>
          <a:lstStyle/>
          <a:p>
            <a:fld id="{80C04CBD-D2AB-4F0E-A140-F45345530EBC}" type="slidenum">
              <a:rPr lang="en-US" smtClean="0"/>
              <a:pPr/>
              <a:t>12</a:t>
            </a:fld>
            <a:endParaRPr lang="en-US"/>
          </a:p>
        </p:txBody>
      </p:sp>
    </p:spTree>
    <p:extLst>
      <p:ext uri="{BB962C8B-B14F-4D97-AF65-F5344CB8AC3E}">
        <p14:creationId xmlns:p14="http://schemas.microsoft.com/office/powerpoint/2010/main" val="3924972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Full path coverage is </a:t>
            </a:r>
            <a:r>
              <a:rPr lang="en-US" b="1" i="0" dirty="0">
                <a:solidFill>
                  <a:srgbClr val="202124"/>
                </a:solidFill>
                <a:effectLst/>
                <a:latin typeface="arial" panose="020B0604020202020204" pitchFamily="34" charset="0"/>
              </a:rPr>
              <a:t>when every possible route through your code is executed during the testing</a:t>
            </a:r>
            <a:endParaRPr lang="en-US" dirty="0"/>
          </a:p>
        </p:txBody>
      </p:sp>
      <p:sp>
        <p:nvSpPr>
          <p:cNvPr id="4" name="Slide Number Placeholder 3"/>
          <p:cNvSpPr>
            <a:spLocks noGrp="1"/>
          </p:cNvSpPr>
          <p:nvPr>
            <p:ph type="sldNum" sz="quarter" idx="5"/>
          </p:nvPr>
        </p:nvSpPr>
        <p:spPr/>
        <p:txBody>
          <a:bodyPr/>
          <a:lstStyle/>
          <a:p>
            <a:fld id="{80C04CBD-D2AB-4F0E-A140-F45345530EBC}" type="slidenum">
              <a:rPr lang="en-US" smtClean="0"/>
              <a:pPr/>
              <a:t>33</a:t>
            </a:fld>
            <a:endParaRPr lang="en-US"/>
          </a:p>
        </p:txBody>
      </p:sp>
    </p:spTree>
    <p:extLst>
      <p:ext uri="{BB962C8B-B14F-4D97-AF65-F5344CB8AC3E}">
        <p14:creationId xmlns:p14="http://schemas.microsoft.com/office/powerpoint/2010/main" val="655393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Documentation testing, though neglected in many cases, should be </a:t>
            </a:r>
            <a:r>
              <a:rPr lang="en-US" sz="1200" kern="1200" err="1">
                <a:solidFill>
                  <a:schemeClr val="tx1"/>
                </a:solidFill>
                <a:effectLst/>
                <a:latin typeface="+mn-lt"/>
                <a:ea typeface="+mn-ea"/>
                <a:cs typeface="+mn-cs"/>
              </a:rPr>
              <a:t>consid</a:t>
            </a:r>
            <a:r>
              <a:rPr lang="en-US" sz="1200" kern="1200">
                <a:solidFill>
                  <a:schemeClr val="tx1"/>
                </a:solidFill>
                <a:effectLst/>
                <a:latin typeface="+mn-lt"/>
                <a:ea typeface="+mn-ea"/>
                <a:cs typeface="+mn-cs"/>
              </a:rPr>
              <a:t>- </a:t>
            </a:r>
            <a:r>
              <a:rPr lang="en-US" sz="1200" kern="1200" err="1">
                <a:solidFill>
                  <a:schemeClr val="tx1"/>
                </a:solidFill>
                <a:effectLst/>
                <a:latin typeface="+mn-lt"/>
                <a:ea typeface="+mn-ea"/>
                <a:cs typeface="+mn-cs"/>
              </a:rPr>
              <a:t>ered</a:t>
            </a:r>
            <a:r>
              <a:rPr lang="en-US" sz="1200" kern="1200">
                <a:solidFill>
                  <a:schemeClr val="tx1"/>
                </a:solidFill>
                <a:effectLst/>
                <a:latin typeface="+mn-lt"/>
                <a:ea typeface="+mn-ea"/>
                <a:cs typeface="+mn-cs"/>
              </a:rPr>
              <a:t> as important as code testing or design documents inspections. An erroneous user manual or programmer manual can lead to mistakes during program operation and maintenance that may incur damages equivalent in severity to those caused by software bugs. </a:t>
            </a:r>
            <a:endParaRPr lang="en-US"/>
          </a:p>
          <a:p>
            <a:endParaRPr lang="en-US"/>
          </a:p>
        </p:txBody>
      </p:sp>
      <p:sp>
        <p:nvSpPr>
          <p:cNvPr id="4" name="Slide Number Placeholder 3"/>
          <p:cNvSpPr>
            <a:spLocks noGrp="1"/>
          </p:cNvSpPr>
          <p:nvPr>
            <p:ph type="sldNum" sz="quarter" idx="10"/>
          </p:nvPr>
        </p:nvSpPr>
        <p:spPr/>
        <p:txBody>
          <a:bodyPr/>
          <a:lstStyle/>
          <a:p>
            <a:fld id="{80C04CBD-D2AB-4F0E-A140-F45345530EBC}" type="slidenum">
              <a:rPr lang="en-US" smtClean="0"/>
              <a:pPr/>
              <a:t>37</a:t>
            </a:fld>
            <a:endParaRPr lang="en-US"/>
          </a:p>
        </p:txBody>
      </p:sp>
    </p:spTree>
    <p:extLst>
      <p:ext uri="{BB962C8B-B14F-4D97-AF65-F5344CB8AC3E}">
        <p14:creationId xmlns:p14="http://schemas.microsoft.com/office/powerpoint/2010/main" val="1621615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C04CBD-D2AB-4F0E-A140-F45345530EBC}" type="slidenum">
              <a:rPr lang="en-US" smtClean="0"/>
              <a:pPr/>
              <a:t>38</a:t>
            </a:fld>
            <a:endParaRPr lang="en-US"/>
          </a:p>
        </p:txBody>
      </p:sp>
    </p:spTree>
    <p:extLst>
      <p:ext uri="{BB962C8B-B14F-4D97-AF65-F5344CB8AC3E}">
        <p14:creationId xmlns:p14="http://schemas.microsoft.com/office/powerpoint/2010/main" val="16216159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C04CBD-D2AB-4F0E-A140-F45345530EBC}" type="slidenum">
              <a:rPr lang="en-US" smtClean="0"/>
              <a:pPr/>
              <a:t>39</a:t>
            </a:fld>
            <a:endParaRPr lang="en-US"/>
          </a:p>
        </p:txBody>
      </p:sp>
    </p:spTree>
    <p:extLst>
      <p:ext uri="{BB962C8B-B14F-4D97-AF65-F5344CB8AC3E}">
        <p14:creationId xmlns:p14="http://schemas.microsoft.com/office/powerpoint/2010/main" val="1621615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C04CBD-D2AB-4F0E-A140-F45345530EBC}" type="slidenum">
              <a:rPr lang="en-US" smtClean="0"/>
              <a:pPr/>
              <a:t>40</a:t>
            </a:fld>
            <a:endParaRPr lang="en-US"/>
          </a:p>
        </p:txBody>
      </p:sp>
    </p:spTree>
    <p:extLst>
      <p:ext uri="{BB962C8B-B14F-4D97-AF65-F5344CB8AC3E}">
        <p14:creationId xmlns:p14="http://schemas.microsoft.com/office/powerpoint/2010/main" val="1621615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C04CBD-D2AB-4F0E-A140-F45345530EBC}" type="slidenum">
              <a:rPr lang="en-US" smtClean="0"/>
              <a:pPr/>
              <a:t>41</a:t>
            </a:fld>
            <a:endParaRPr lang="en-US"/>
          </a:p>
        </p:txBody>
      </p:sp>
    </p:spTree>
    <p:extLst>
      <p:ext uri="{BB962C8B-B14F-4D97-AF65-F5344CB8AC3E}">
        <p14:creationId xmlns:p14="http://schemas.microsoft.com/office/powerpoint/2010/main" val="1621615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9" name="Slide Number Placeholder 28"/>
          <p:cNvSpPr>
            <a:spLocks noGrp="1"/>
          </p:cNvSpPr>
          <p:nvPr>
            <p:ph type="sldNum" sz="quarter" idx="12"/>
          </p:nvPr>
        </p:nvSpPr>
        <p:spPr>
          <a:xfrm>
            <a:off x="8320088" y="1136"/>
            <a:ext cx="747712" cy="365760"/>
          </a:xfrm>
        </p:spPr>
        <p:txBody>
          <a:bodyPr/>
          <a:lstStyle>
            <a:lvl1pPr algn="r">
              <a:defRPr sz="1400">
                <a:solidFill>
                  <a:schemeClr val="bg1"/>
                </a:solidFill>
              </a:defRPr>
            </a:lvl1pPr>
          </a:lstStyle>
          <a:p>
            <a:fld id="{FD11FBD1-D8D0-4E7D-A2C6-44F5FA4D90F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accent3"/>
                </a:solidFill>
                <a:latin typeface="+mn-lt"/>
                <a:cs typeface="Times New Roman" pitchFamily="18" charset="0"/>
              </a:defRPr>
            </a:lvl1pPr>
          </a:lstStyle>
          <a:p>
            <a:r>
              <a:rPr kumimoji="0" lang="en-US"/>
              <a:t>Click to edit Master title style</a:t>
            </a:r>
            <a:endParaRPr kumimoji="0" lang="en-US" dirty="0"/>
          </a:p>
        </p:txBody>
      </p:sp>
      <p:sp>
        <p:nvSpPr>
          <p:cNvPr id="3" name="Content Placeholder 2"/>
          <p:cNvSpPr>
            <a:spLocks noGrp="1"/>
          </p:cNvSpPr>
          <p:nvPr>
            <p:ph idx="1"/>
          </p:nvPr>
        </p:nvSpPr>
        <p:spPr/>
        <p:txBody>
          <a:bodyPr/>
          <a:lstStyle>
            <a:lvl1pPr>
              <a:defRPr>
                <a:latin typeface="+mn-lt"/>
                <a:cs typeface="Times New Roman" pitchFamily="18" charset="0"/>
              </a:defRPr>
            </a:lvl1pPr>
            <a:lvl2pPr>
              <a:defRPr>
                <a:latin typeface="+mn-lt"/>
              </a:defRPr>
            </a:lvl2pPr>
            <a:lvl3pPr>
              <a:defRPr>
                <a:latin typeface="+mn-lt"/>
              </a:defRPr>
            </a:lvl3pPr>
            <a:lvl4pPr>
              <a:defRPr>
                <a:latin typeface="+mn-lt"/>
              </a:defRPr>
            </a:lvl4pPr>
            <a:lvl5pPr>
              <a:defRPr>
                <a:latin typeface="+mn-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Slide Number Placeholder 5"/>
          <p:cNvSpPr>
            <a:spLocks noGrp="1"/>
          </p:cNvSpPr>
          <p:nvPr>
            <p:ph type="sldNum" sz="quarter" idx="12"/>
          </p:nvPr>
        </p:nvSpPr>
        <p:spPr/>
        <p:txBody>
          <a:bodyPr/>
          <a:lstStyle/>
          <a:p>
            <a:fld id="{FD11FBD1-D8D0-4E7D-A2C6-44F5FA4D90F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6" name="Slide Number Placeholder 5"/>
          <p:cNvSpPr>
            <a:spLocks noGrp="1"/>
          </p:cNvSpPr>
          <p:nvPr>
            <p:ph type="sldNum" sz="quarter" idx="12"/>
          </p:nvPr>
        </p:nvSpPr>
        <p:spPr/>
        <p:txBody>
          <a:bodyPr/>
          <a:lstStyle/>
          <a:p>
            <a:fld id="{FD11FBD1-D8D0-4E7D-A2C6-44F5FA4D90F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p>
            <a:fld id="{FD11FBD1-D8D0-4E7D-A2C6-44F5FA4D90F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7" name="Slide Number Placeholder 26"/>
          <p:cNvSpPr>
            <a:spLocks noGrp="1"/>
          </p:cNvSpPr>
          <p:nvPr>
            <p:ph type="sldNum" sz="quarter" idx="11"/>
          </p:nvPr>
        </p:nvSpPr>
        <p:spPr/>
        <p:txBody>
          <a:bodyPr rtlCol="0"/>
          <a:lstStyle/>
          <a:p>
            <a:fld id="{FD11FBD1-D8D0-4E7D-A2C6-44F5FA4D90F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b="1">
                <a:solidFill>
                  <a:srgbClr val="A04DA3"/>
                </a:solidFill>
                <a:latin typeface="+mn-lt"/>
              </a:defRPr>
            </a:lvl1pPr>
          </a:lstStyle>
          <a:p>
            <a:r>
              <a:rPr kumimoji="0" lang="en-US"/>
              <a:t>Click to edit Master title style</a:t>
            </a:r>
            <a:endParaRPr kumimoji="0" lang="en-US" dirty="0"/>
          </a:p>
        </p:txBody>
      </p:sp>
      <p:sp>
        <p:nvSpPr>
          <p:cNvPr id="5" name="Slide Number Placeholder 4"/>
          <p:cNvSpPr>
            <a:spLocks noGrp="1"/>
          </p:cNvSpPr>
          <p:nvPr>
            <p:ph type="sldNum" sz="quarter" idx="12"/>
          </p:nvPr>
        </p:nvSpPr>
        <p:spPr>
          <a:xfrm>
            <a:off x="8174736" y="2272"/>
            <a:ext cx="762000" cy="365760"/>
          </a:xfrm>
        </p:spPr>
        <p:txBody>
          <a:bodyPr/>
          <a:lstStyle/>
          <a:p>
            <a:fld id="{FD11FBD1-D8D0-4E7D-A2C6-44F5FA4D90F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D11FBD1-D8D0-4E7D-A2C6-44F5FA4D90FB}" type="slidenum">
              <a:rPr lang="en-US" smtClean="0"/>
              <a:pPr/>
              <a:t>‹#›</a:t>
            </a:fld>
            <a:endParaRPr lang="en-US"/>
          </a:p>
        </p:txBody>
      </p:sp>
      <p:sp>
        <p:nvSpPr>
          <p:cNvPr id="7" name="Footer Placeholder 16"/>
          <p:cNvSpPr>
            <a:spLocks noGrp="1"/>
          </p:cNvSpPr>
          <p:nvPr>
            <p:ph type="ftr" sz="quarter" idx="11"/>
          </p:nvPr>
        </p:nvSpPr>
        <p:spPr>
          <a:xfrm>
            <a:off x="7193280" y="609600"/>
            <a:ext cx="1950720" cy="457200"/>
          </a:xfrm>
          <a:prstGeom prst="rect">
            <a:avLst/>
          </a:prstGeom>
        </p:spPr>
        <p:txBody>
          <a:bodyPr/>
          <a:lstStyle>
            <a:lvl1pPr>
              <a:defRPr>
                <a:latin typeface="Times New Roman" pitchFamily="18" charset="0"/>
                <a:cs typeface="Times New Roman" pitchFamily="18" charset="0"/>
              </a:defRPr>
            </a:lvl1pPr>
          </a:lstStyle>
          <a:p>
            <a:r>
              <a:rPr lang="en-US"/>
              <a:t>CIS512 </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p:txBody>
          <a:bodyPr/>
          <a:lstStyle/>
          <a:p>
            <a:fld id="{FD11FBD1-D8D0-4E7D-A2C6-44F5FA4D90F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7" name="Slide Number Placeholder 6"/>
          <p:cNvSpPr>
            <a:spLocks noGrp="1"/>
          </p:cNvSpPr>
          <p:nvPr>
            <p:ph type="sldNum" sz="quarter" idx="12"/>
          </p:nvPr>
        </p:nvSpPr>
        <p:spPr/>
        <p:txBody>
          <a:bodyPr/>
          <a:lstStyle/>
          <a:p>
            <a:fld id="{FD11FBD1-D8D0-4E7D-A2C6-44F5FA4D90F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FD11FBD1-D8D0-4E7D-A2C6-44F5FA4D90F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p>
            <a:fld id="{FD11FBD1-D8D0-4E7D-A2C6-44F5FA4D90FB}" type="slidenum">
              <a:rPr lang="en-US" smtClean="0"/>
              <a:pPr/>
              <a:t>‹#›</a:t>
            </a:fld>
            <a:endParaRPr lang="en-US"/>
          </a:p>
        </p:txBody>
      </p:sp>
      <p:sp>
        <p:nvSpPr>
          <p:cNvPr id="7" name="Footer Placeholder 16"/>
          <p:cNvSpPr>
            <a:spLocks noGrp="1"/>
          </p:cNvSpPr>
          <p:nvPr>
            <p:ph type="ftr" sz="quarter" idx="11"/>
          </p:nvPr>
        </p:nvSpPr>
        <p:spPr>
          <a:xfrm>
            <a:off x="7193280" y="609600"/>
            <a:ext cx="1950720" cy="457200"/>
          </a:xfrm>
          <a:prstGeom prst="rect">
            <a:avLst/>
          </a:prstGeom>
        </p:spPr>
        <p:txBody>
          <a:bodyPr/>
          <a:lstStyle>
            <a:lvl1pPr>
              <a:defRPr>
                <a:latin typeface="Times New Roman" pitchFamily="18" charset="0"/>
                <a:cs typeface="Times New Roman" pitchFamily="18" charset="0"/>
              </a:defRPr>
            </a:lvl1pPr>
          </a:lstStyle>
          <a:p>
            <a:r>
              <a:rPr lang="en-US"/>
              <a:t>CIS512 </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FD11FBD1-D8D0-4E7D-A2C6-44F5FA4D90FB}" type="slidenum">
              <a:rPr lang="en-US" smtClean="0"/>
              <a:pPr/>
              <a:t>‹#›</a:t>
            </a:fld>
            <a:endParaRPr lang="en-US"/>
          </a:p>
        </p:txBody>
      </p:sp>
      <p:sp>
        <p:nvSpPr>
          <p:cNvPr id="4" name="Footer Placeholder 3"/>
          <p:cNvSpPr>
            <a:spLocks noGrp="1"/>
          </p:cNvSpPr>
          <p:nvPr>
            <p:ph type="ftr" sz="quarter" idx="11"/>
          </p:nvPr>
        </p:nvSpPr>
        <p:spPr/>
        <p:txBody>
          <a:bodyPr/>
          <a:lstStyle/>
          <a:p>
            <a:r>
              <a:rPr lang="en-US"/>
              <a:t>CIS512 </a:t>
            </a:r>
          </a:p>
        </p:txBody>
      </p:sp>
    </p:spTree>
    <p:extLst>
      <p:ext uri="{BB962C8B-B14F-4D97-AF65-F5344CB8AC3E}">
        <p14:creationId xmlns:p14="http://schemas.microsoft.com/office/powerpoint/2010/main" val="308717901"/>
      </p:ext>
    </p:extLst>
  </p:cSld>
  <p:clrMapOvr>
    <a:masterClrMapping/>
  </p:clrMapOvr>
  <p:hf sldNum="0"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r>
              <a:rPr lang="en-US"/>
              <a:t>Click icon to add table</a:t>
            </a:r>
          </a:p>
        </p:txBody>
      </p:sp>
    </p:spTree>
    <p:extLst>
      <p:ext uri="{BB962C8B-B14F-4D97-AF65-F5344CB8AC3E}">
        <p14:creationId xmlns:p14="http://schemas.microsoft.com/office/powerpoint/2010/main" val="1981397485"/>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dirty="0"/>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400">
                <a:solidFill>
                  <a:srgbClr val="FFFFFF"/>
                </a:solidFill>
                <a:latin typeface="Arial"/>
                <a:cs typeface="Arial"/>
              </a:defRPr>
            </a:lvl1pPr>
          </a:lstStyle>
          <a:p>
            <a:fld id="{FD11FBD1-D8D0-4E7D-A2C6-44F5FA4D90FB}" type="slidenum">
              <a:rPr lang="en-US" smtClean="0"/>
              <a:pPr/>
              <a:t>‹#›</a:t>
            </a:fld>
            <a:endParaRPr lang="en-US"/>
          </a:p>
        </p:txBody>
      </p:sp>
      <p:sp>
        <p:nvSpPr>
          <p:cNvPr id="2" name="Footer Placeholder 1"/>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1">
                <a:solidFill>
                  <a:schemeClr val="tx1">
                    <a:tint val="75000"/>
                  </a:schemeClr>
                </a:solidFill>
                <a:latin typeface="Times New Roman"/>
                <a:cs typeface="Times New Roman"/>
              </a:defRPr>
            </a:lvl1pPr>
          </a:lstStyle>
          <a:p>
            <a:r>
              <a:rPr lang="en-US"/>
              <a:t>CIS512 </a:t>
            </a:r>
          </a:p>
        </p:txBody>
      </p:sp>
      <p:sp>
        <p:nvSpPr>
          <p:cNvPr id="5" name="TextBox 4">
            <a:extLst>
              <a:ext uri="{FF2B5EF4-FFF2-40B4-BE49-F238E27FC236}">
                <a16:creationId xmlns:a16="http://schemas.microsoft.com/office/drawing/2014/main" id="{DBEFA2B8-AA30-4AC4-9175-D80C3555F68B}"/>
              </a:ext>
            </a:extLst>
          </p:cNvPr>
          <p:cNvSpPr txBox="1"/>
          <p:nvPr>
            <p:extLst>
              <p:ext uri="{1162E1C5-73C7-4A58-AE30-91384D911F3F}">
                <p184:classification xmlns:p184="http://schemas.microsoft.com/office/powerpoint/2018/4/main" val="hdr"/>
              </p:ext>
            </p:extLst>
          </p:nvPr>
        </p:nvSpPr>
        <p:spPr>
          <a:xfrm>
            <a:off x="4283075" y="63500"/>
            <a:ext cx="603314"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Public - عام</a:t>
            </a:r>
          </a:p>
        </p:txBody>
      </p:sp>
      <p:sp>
        <p:nvSpPr>
          <p:cNvPr id="6" name="TextBox 5">
            <a:extLst>
              <a:ext uri="{FF2B5EF4-FFF2-40B4-BE49-F238E27FC236}">
                <a16:creationId xmlns:a16="http://schemas.microsoft.com/office/drawing/2014/main" id="{644D778F-19FC-D815-E6B1-6C86628B0FC4}"/>
              </a:ext>
            </a:extLst>
          </p:cNvPr>
          <p:cNvSpPr txBox="1"/>
          <p:nvPr>
            <p:extLst>
              <p:ext uri="{1162E1C5-73C7-4A58-AE30-91384D911F3F}">
                <p184:classification xmlns:p184="http://schemas.microsoft.com/office/powerpoint/2018/4/main" val="ftr"/>
              </p:ext>
            </p:extLst>
          </p:nvPr>
        </p:nvSpPr>
        <p:spPr>
          <a:xfrm>
            <a:off x="4283075" y="6642100"/>
            <a:ext cx="603314" cy="152400"/>
          </a:xfrm>
          <a:prstGeom prst="rect">
            <a:avLst/>
          </a:prstGeom>
        </p:spPr>
        <p:txBody>
          <a:bodyPr horzOverflow="overflow" lIns="0" tIns="0" rIns="0" bIns="0">
            <a:spAutoFit/>
          </a:bodyPr>
          <a:lstStyle/>
          <a:p>
            <a:pPr algn="l"/>
            <a:r>
              <a:rPr lang="en-US" sz="1000">
                <a:solidFill>
                  <a:srgbClr val="008000">
                    <a:alpha val="50000"/>
                  </a:srgbClr>
                </a:solidFill>
                <a:latin typeface="Aptos" panose="020B0004020202020204" pitchFamily="34" charset="0"/>
              </a:rPr>
              <a:t>Public - عام</a:t>
            </a:r>
          </a:p>
        </p:txBody>
      </p:sp>
    </p:spTree>
  </p:cSld>
  <p:clrMap bg1="lt1" tx1="dk1" bg2="lt2" tx2="dk2" accent1="accent1" accent2="accent2" accent3="accent3" accent4="accent4" accent5="accent5" accent6="accent6" hlink="hlink" folHlink="folHlink"/>
  <p:sldLayoutIdLst>
    <p:sldLayoutId id="2147483870" r:id="rId1"/>
    <p:sldLayoutId id="2147483871" r:id="rId2"/>
    <p:sldLayoutId id="2147483872" r:id="rId3"/>
    <p:sldLayoutId id="2147483873" r:id="rId4"/>
    <p:sldLayoutId id="2147483874" r:id="rId5"/>
    <p:sldLayoutId id="2147483875" r:id="rId6"/>
    <p:sldLayoutId id="2147483876" r:id="rId7"/>
    <p:sldLayoutId id="2147483877" r:id="rId8"/>
    <p:sldLayoutId id="2147483878" r:id="rId9"/>
    <p:sldLayoutId id="2147483879" r:id="rId10"/>
    <p:sldLayoutId id="2147483880" r:id="rId11"/>
    <p:sldLayoutId id="2147483881" r:id="rId12"/>
    <p:sldLayoutId id="2147483882" r:id="rId13"/>
  </p:sldLayoutIdLst>
  <p:hf sldNum="0" hdr="0" dt="0"/>
  <p:txStyles>
    <p:titleStyle>
      <a:lvl1pPr algn="l" rtl="1"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1"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1"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1"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1"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1"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r" rtl="1"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r" rtl="1"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r" rtl="1"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r" rtl="1"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905000"/>
            <a:ext cx="8534400" cy="1814512"/>
          </a:xfrm>
        </p:spPr>
        <p:txBody>
          <a:bodyPr>
            <a:normAutofit/>
          </a:bodyPr>
          <a:lstStyle/>
          <a:p>
            <a:pPr algn="ctr"/>
            <a:r>
              <a:rPr lang="en-US" sz="3100" b="1" dirty="0">
                <a:solidFill>
                  <a:schemeClr val="accent6">
                    <a:lumMod val="20000"/>
                    <a:lumOff val="80000"/>
                  </a:schemeClr>
                </a:solidFill>
              </a:rPr>
              <a:t>Topic 7: CIS403 Software Quality Assurance</a:t>
            </a:r>
            <a:br>
              <a:rPr lang="en-US" sz="3100" b="1" dirty="0">
                <a:solidFill>
                  <a:schemeClr val="accent6">
                    <a:lumMod val="20000"/>
                    <a:lumOff val="80000"/>
                  </a:schemeClr>
                </a:solidFill>
              </a:rPr>
            </a:br>
            <a:br>
              <a:rPr lang="en-US" b="1" dirty="0">
                <a:solidFill>
                  <a:schemeClr val="accent6">
                    <a:lumMod val="20000"/>
                    <a:lumOff val="80000"/>
                  </a:schemeClr>
                </a:solidFill>
              </a:rPr>
            </a:br>
            <a:r>
              <a:rPr lang="en-US" sz="3600" b="1" dirty="0">
                <a:solidFill>
                  <a:schemeClr val="accent3">
                    <a:lumMod val="20000"/>
                    <a:lumOff val="80000"/>
                  </a:schemeClr>
                </a:solidFill>
              </a:rPr>
              <a:t>Software Testing</a:t>
            </a:r>
          </a:p>
        </p:txBody>
      </p:sp>
    </p:spTree>
    <p:extLst>
      <p:ext uri="{BB962C8B-B14F-4D97-AF65-F5344CB8AC3E}">
        <p14:creationId xmlns:p14="http://schemas.microsoft.com/office/powerpoint/2010/main" val="2788779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type="title"/>
          </p:nvPr>
        </p:nvSpPr>
        <p:spPr>
          <a:xfrm>
            <a:off x="381000" y="914400"/>
            <a:ext cx="6932613" cy="633413"/>
          </a:xfrm>
        </p:spPr>
        <p:txBody>
          <a:bodyPr>
            <a:normAutofit fontScale="90000"/>
          </a:bodyPr>
          <a:lstStyle/>
          <a:p>
            <a:pPr eaLnBrk="1" hangingPunct="1"/>
            <a:r>
              <a:rPr lang="en-US" altLang="x-none" dirty="0"/>
              <a:t>What is a “Good” Test?</a:t>
            </a:r>
          </a:p>
        </p:txBody>
      </p:sp>
      <p:sp>
        <p:nvSpPr>
          <p:cNvPr id="5125" name="Rectangle 4"/>
          <p:cNvSpPr>
            <a:spLocks noGrp="1" noChangeArrowheads="1"/>
          </p:cNvSpPr>
          <p:nvPr>
            <p:ph idx="1"/>
          </p:nvPr>
        </p:nvSpPr>
        <p:spPr>
          <a:xfrm>
            <a:off x="304800" y="1752600"/>
            <a:ext cx="8534400" cy="3962400"/>
          </a:xfrm>
        </p:spPr>
        <p:txBody>
          <a:bodyPr>
            <a:normAutofit/>
          </a:bodyPr>
          <a:lstStyle/>
          <a:p>
            <a:pPr rtl="0" eaLnBrk="1" hangingPunct="1"/>
            <a:r>
              <a:rPr lang="en-US" altLang="x-none" dirty="0"/>
              <a:t>A good test has a high probability of finding an error</a:t>
            </a:r>
          </a:p>
          <a:p>
            <a:pPr rtl="0" eaLnBrk="1" hangingPunct="1"/>
            <a:r>
              <a:rPr lang="en-US" altLang="x-none" dirty="0"/>
              <a:t>A good test is not redundant.</a:t>
            </a:r>
          </a:p>
          <a:p>
            <a:pPr rtl="0" eaLnBrk="1" hangingPunct="1"/>
            <a:r>
              <a:rPr lang="en-US" altLang="x-none" dirty="0"/>
              <a:t>A good test should be “best of breed” </a:t>
            </a:r>
          </a:p>
          <a:p>
            <a:pPr rtl="0" eaLnBrk="1" hangingPunct="1"/>
            <a:r>
              <a:rPr lang="en-US" altLang="x-none" dirty="0"/>
              <a:t>A good test should be neither too simple nor too complex</a:t>
            </a:r>
          </a:p>
        </p:txBody>
      </p:sp>
      <p:sp>
        <p:nvSpPr>
          <p:cNvPr id="5" name="Slide Number Placeholder 4"/>
          <p:cNvSpPr>
            <a:spLocks noGrp="1"/>
          </p:cNvSpPr>
          <p:nvPr>
            <p:ph type="sldNum" sz="quarter" idx="12"/>
          </p:nvPr>
        </p:nvSpPr>
        <p:spPr>
          <a:prstGeom prst="rect">
            <a:avLst/>
          </a:prstGeom>
        </p:spPr>
        <p:txBody>
          <a:bodyPr/>
          <a:lstStyle/>
          <a:p>
            <a:pPr>
              <a:defRPr/>
            </a:pPr>
            <a:fld id="{EF03341A-024D-48FA-9EC2-6BDCB7CF1832}" type="slidenum">
              <a:rPr lang="en-US"/>
              <a:pPr>
                <a:defRPr/>
              </a:pPr>
              <a:t>2</a:t>
            </a:fld>
            <a:endParaRPr lang="en-US"/>
          </a:p>
        </p:txBody>
      </p:sp>
      <p:sp>
        <p:nvSpPr>
          <p:cNvPr id="4"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Tree>
    <p:extLst>
      <p:ext uri="{BB962C8B-B14F-4D97-AF65-F5344CB8AC3E}">
        <p14:creationId xmlns:p14="http://schemas.microsoft.com/office/powerpoint/2010/main" val="2409117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a:xfrm>
            <a:off x="1219200" y="1066800"/>
            <a:ext cx="6780702" cy="666849"/>
          </a:xfrm>
          <a:noFill/>
          <a:extLst>
            <a:ext uri="{91240B29-F687-4f45-9708-019B960494DF}">
              <a14:hiddenLine xmlns:a14="http://schemas.microsoft.com/office/drawing/2010/main" xmlns="" w="12700">
                <a:solidFill>
                  <a:schemeClr val="tx1"/>
                </a:solidFill>
                <a:miter lim="800000"/>
                <a:headEnd/>
                <a:tailEnd/>
              </a14:hiddenLine>
            </a:ext>
          </a:extLst>
        </p:spPr>
        <p:txBody>
          <a:bodyPr wrap="none" lIns="63500" tIns="25400" rIns="63500" bIns="25400" anchor="t">
            <a:spAutoFit/>
          </a:bodyPr>
          <a:lstStyle/>
          <a:p>
            <a:pPr eaLnBrk="1" hangingPunct="1"/>
            <a:r>
              <a:rPr lang="en-US" altLang="x-none" dirty="0"/>
              <a:t>Topic 3: Test Case Design</a:t>
            </a:r>
          </a:p>
        </p:txBody>
      </p:sp>
      <p:sp>
        <p:nvSpPr>
          <p:cNvPr id="44" name="Slide Number Placeholder 4"/>
          <p:cNvSpPr>
            <a:spLocks noGrp="1"/>
          </p:cNvSpPr>
          <p:nvPr>
            <p:ph type="sldNum" sz="quarter" idx="12"/>
          </p:nvPr>
        </p:nvSpPr>
        <p:spPr>
          <a:prstGeom prst="rect">
            <a:avLst/>
          </a:prstGeom>
        </p:spPr>
        <p:txBody>
          <a:bodyPr/>
          <a:lstStyle/>
          <a:p>
            <a:pPr>
              <a:defRPr/>
            </a:pPr>
            <a:fld id="{2FF79395-70B3-45D0-BAE1-BF9ABB2D24D4}" type="slidenum">
              <a:rPr lang="en-US"/>
              <a:pPr>
                <a:defRPr/>
              </a:pPr>
              <a:t>3</a:t>
            </a:fld>
            <a:endParaRPr lang="en-US"/>
          </a:p>
        </p:txBody>
      </p:sp>
      <p:sp>
        <p:nvSpPr>
          <p:cNvPr id="43"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7173" name="Freeform 3"/>
          <p:cNvSpPr>
            <a:spLocks/>
          </p:cNvSpPr>
          <p:nvPr/>
        </p:nvSpPr>
        <p:spPr bwMode="auto">
          <a:xfrm>
            <a:off x="5486400" y="2362200"/>
            <a:ext cx="1347788" cy="1258888"/>
          </a:xfrm>
          <a:custGeom>
            <a:avLst/>
            <a:gdLst>
              <a:gd name="T0" fmla="*/ 0 w 849"/>
              <a:gd name="T1" fmla="*/ 1862125702 h 705"/>
              <a:gd name="T2" fmla="*/ 322580120 w 849"/>
              <a:gd name="T3" fmla="*/ 2040684233 h 705"/>
              <a:gd name="T4" fmla="*/ 705644012 w 849"/>
              <a:gd name="T5" fmla="*/ 1836615810 h 705"/>
              <a:gd name="T6" fmla="*/ 1471771796 w 849"/>
              <a:gd name="T7" fmla="*/ 2147483647 h 705"/>
              <a:gd name="T8" fmla="*/ 1713706886 w 849"/>
              <a:gd name="T9" fmla="*/ 1683565385 h 705"/>
              <a:gd name="T10" fmla="*/ 2056448263 w 849"/>
              <a:gd name="T11" fmla="*/ 1556021281 h 705"/>
              <a:gd name="T12" fmla="*/ 2056448263 w 849"/>
              <a:gd name="T13" fmla="*/ 1351952858 h 705"/>
              <a:gd name="T14" fmla="*/ 2137093293 w 849"/>
              <a:gd name="T15" fmla="*/ 1071360115 h 705"/>
              <a:gd name="T16" fmla="*/ 2016125748 w 849"/>
              <a:gd name="T17" fmla="*/ 816273693 h 705"/>
              <a:gd name="T18" fmla="*/ 1713706886 w 849"/>
              <a:gd name="T19" fmla="*/ 561189057 h 705"/>
              <a:gd name="T20" fmla="*/ 1794351916 w 849"/>
              <a:gd name="T21" fmla="*/ 306102635 h 705"/>
              <a:gd name="T22" fmla="*/ 1491933053 w 849"/>
              <a:gd name="T23" fmla="*/ 153052210 h 705"/>
              <a:gd name="T24" fmla="*/ 1149191676 w 849"/>
              <a:gd name="T25" fmla="*/ 229576530 h 705"/>
              <a:gd name="T26" fmla="*/ 806450299 w 849"/>
              <a:gd name="T27" fmla="*/ 0 h 705"/>
              <a:gd name="T28" fmla="*/ 524192694 w 849"/>
              <a:gd name="T29" fmla="*/ 331610741 h 705"/>
              <a:gd name="T30" fmla="*/ 483870180 w 849"/>
              <a:gd name="T31" fmla="*/ 663223269 h 705"/>
              <a:gd name="T32" fmla="*/ 241935090 w 849"/>
              <a:gd name="T33" fmla="*/ 663223269 h 705"/>
              <a:gd name="T34" fmla="*/ 60483772 w 849"/>
              <a:gd name="T35" fmla="*/ 1045850223 h 705"/>
              <a:gd name="T36" fmla="*/ 60483772 w 849"/>
              <a:gd name="T37" fmla="*/ 1428478963 h 705"/>
              <a:gd name="T38" fmla="*/ 20161257 w 849"/>
              <a:gd name="T39" fmla="*/ 1862125702 h 705"/>
              <a:gd name="T40" fmla="*/ 0 w 849"/>
              <a:gd name="T41" fmla="*/ 1862125702 h 70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49" h="705">
                <a:moveTo>
                  <a:pt x="0" y="584"/>
                </a:moveTo>
                <a:lnTo>
                  <a:pt x="128" y="640"/>
                </a:lnTo>
                <a:lnTo>
                  <a:pt x="280" y="576"/>
                </a:lnTo>
                <a:lnTo>
                  <a:pt x="584" y="704"/>
                </a:lnTo>
                <a:lnTo>
                  <a:pt x="680" y="528"/>
                </a:lnTo>
                <a:lnTo>
                  <a:pt x="816" y="488"/>
                </a:lnTo>
                <a:lnTo>
                  <a:pt x="816" y="424"/>
                </a:lnTo>
                <a:lnTo>
                  <a:pt x="848" y="336"/>
                </a:lnTo>
                <a:lnTo>
                  <a:pt x="800" y="256"/>
                </a:lnTo>
                <a:lnTo>
                  <a:pt x="680" y="176"/>
                </a:lnTo>
                <a:lnTo>
                  <a:pt x="712" y="96"/>
                </a:lnTo>
                <a:lnTo>
                  <a:pt x="592" y="48"/>
                </a:lnTo>
                <a:lnTo>
                  <a:pt x="456" y="72"/>
                </a:lnTo>
                <a:lnTo>
                  <a:pt x="320" y="0"/>
                </a:lnTo>
                <a:lnTo>
                  <a:pt x="208" y="104"/>
                </a:lnTo>
                <a:lnTo>
                  <a:pt x="192" y="208"/>
                </a:lnTo>
                <a:lnTo>
                  <a:pt x="96" y="208"/>
                </a:lnTo>
                <a:lnTo>
                  <a:pt x="24" y="328"/>
                </a:lnTo>
                <a:lnTo>
                  <a:pt x="24" y="448"/>
                </a:lnTo>
                <a:lnTo>
                  <a:pt x="8" y="584"/>
                </a:lnTo>
                <a:lnTo>
                  <a:pt x="0" y="584"/>
                </a:lnTo>
              </a:path>
            </a:pathLst>
          </a:custGeom>
          <a:solidFill>
            <a:schemeClr val="hlink"/>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74" name="Freeform 4"/>
          <p:cNvSpPr>
            <a:spLocks/>
          </p:cNvSpPr>
          <p:nvPr/>
        </p:nvSpPr>
        <p:spPr bwMode="auto">
          <a:xfrm>
            <a:off x="5486400" y="2362200"/>
            <a:ext cx="1347788" cy="1258888"/>
          </a:xfrm>
          <a:custGeom>
            <a:avLst/>
            <a:gdLst>
              <a:gd name="T0" fmla="*/ 0 w 849"/>
              <a:gd name="T1" fmla="*/ 1862125702 h 705"/>
              <a:gd name="T2" fmla="*/ 322580120 w 849"/>
              <a:gd name="T3" fmla="*/ 2040684233 h 705"/>
              <a:gd name="T4" fmla="*/ 705644012 w 849"/>
              <a:gd name="T5" fmla="*/ 1836615810 h 705"/>
              <a:gd name="T6" fmla="*/ 1471771796 w 849"/>
              <a:gd name="T7" fmla="*/ 2147483647 h 705"/>
              <a:gd name="T8" fmla="*/ 1713706886 w 849"/>
              <a:gd name="T9" fmla="*/ 1683565385 h 705"/>
              <a:gd name="T10" fmla="*/ 2056448263 w 849"/>
              <a:gd name="T11" fmla="*/ 1556021281 h 705"/>
              <a:gd name="T12" fmla="*/ 2056448263 w 849"/>
              <a:gd name="T13" fmla="*/ 1351952858 h 705"/>
              <a:gd name="T14" fmla="*/ 2137093293 w 849"/>
              <a:gd name="T15" fmla="*/ 1071360115 h 705"/>
              <a:gd name="T16" fmla="*/ 2016125748 w 849"/>
              <a:gd name="T17" fmla="*/ 816273693 h 705"/>
              <a:gd name="T18" fmla="*/ 1713706886 w 849"/>
              <a:gd name="T19" fmla="*/ 561189057 h 705"/>
              <a:gd name="T20" fmla="*/ 1794351916 w 849"/>
              <a:gd name="T21" fmla="*/ 306102635 h 705"/>
              <a:gd name="T22" fmla="*/ 1491933053 w 849"/>
              <a:gd name="T23" fmla="*/ 153052210 h 705"/>
              <a:gd name="T24" fmla="*/ 1149191676 w 849"/>
              <a:gd name="T25" fmla="*/ 229576530 h 705"/>
              <a:gd name="T26" fmla="*/ 806450299 w 849"/>
              <a:gd name="T27" fmla="*/ 0 h 705"/>
              <a:gd name="T28" fmla="*/ 524192694 w 849"/>
              <a:gd name="T29" fmla="*/ 331610741 h 705"/>
              <a:gd name="T30" fmla="*/ 483870180 w 849"/>
              <a:gd name="T31" fmla="*/ 663223269 h 705"/>
              <a:gd name="T32" fmla="*/ 241935090 w 849"/>
              <a:gd name="T33" fmla="*/ 663223269 h 705"/>
              <a:gd name="T34" fmla="*/ 60483772 w 849"/>
              <a:gd name="T35" fmla="*/ 1045850223 h 705"/>
              <a:gd name="T36" fmla="*/ 60483772 w 849"/>
              <a:gd name="T37" fmla="*/ 1428478963 h 705"/>
              <a:gd name="T38" fmla="*/ 20161257 w 849"/>
              <a:gd name="T39" fmla="*/ 1862125702 h 70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49" h="705">
                <a:moveTo>
                  <a:pt x="0" y="584"/>
                </a:moveTo>
                <a:lnTo>
                  <a:pt x="128" y="640"/>
                </a:lnTo>
                <a:lnTo>
                  <a:pt x="280" y="576"/>
                </a:lnTo>
                <a:lnTo>
                  <a:pt x="584" y="704"/>
                </a:lnTo>
                <a:lnTo>
                  <a:pt x="680" y="528"/>
                </a:lnTo>
                <a:lnTo>
                  <a:pt x="816" y="488"/>
                </a:lnTo>
                <a:lnTo>
                  <a:pt x="816" y="424"/>
                </a:lnTo>
                <a:lnTo>
                  <a:pt x="848" y="336"/>
                </a:lnTo>
                <a:lnTo>
                  <a:pt x="800" y="256"/>
                </a:lnTo>
                <a:lnTo>
                  <a:pt x="680" y="176"/>
                </a:lnTo>
                <a:lnTo>
                  <a:pt x="712" y="96"/>
                </a:lnTo>
                <a:lnTo>
                  <a:pt x="592" y="48"/>
                </a:lnTo>
                <a:lnTo>
                  <a:pt x="456" y="72"/>
                </a:lnTo>
                <a:lnTo>
                  <a:pt x="320" y="0"/>
                </a:lnTo>
                <a:lnTo>
                  <a:pt x="208" y="104"/>
                </a:lnTo>
                <a:lnTo>
                  <a:pt x="192" y="208"/>
                </a:lnTo>
                <a:lnTo>
                  <a:pt x="96" y="208"/>
                </a:lnTo>
                <a:lnTo>
                  <a:pt x="24" y="328"/>
                </a:lnTo>
                <a:lnTo>
                  <a:pt x="24" y="448"/>
                </a:lnTo>
                <a:lnTo>
                  <a:pt x="8" y="58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75" name="Freeform 5"/>
          <p:cNvSpPr>
            <a:spLocks/>
          </p:cNvSpPr>
          <p:nvPr/>
        </p:nvSpPr>
        <p:spPr bwMode="auto">
          <a:xfrm>
            <a:off x="5143500" y="1476375"/>
            <a:ext cx="852488" cy="2201863"/>
          </a:xfrm>
          <a:custGeom>
            <a:avLst/>
            <a:gdLst>
              <a:gd name="T0" fmla="*/ 1350804542 w 537"/>
              <a:gd name="T1" fmla="*/ 0 h 1233"/>
              <a:gd name="T2" fmla="*/ 1350804542 w 537"/>
              <a:gd name="T3" fmla="*/ 2147483647 h 1233"/>
              <a:gd name="T4" fmla="*/ 0 w 537"/>
              <a:gd name="T5" fmla="*/ 2147483647 h 1233"/>
              <a:gd name="T6" fmla="*/ 0 60000 65536"/>
              <a:gd name="T7" fmla="*/ 0 60000 65536"/>
              <a:gd name="T8" fmla="*/ 0 60000 65536"/>
            </a:gdLst>
            <a:ahLst/>
            <a:cxnLst>
              <a:cxn ang="T6">
                <a:pos x="T0" y="T1"/>
              </a:cxn>
              <a:cxn ang="T7">
                <a:pos x="T2" y="T3"/>
              </a:cxn>
              <a:cxn ang="T8">
                <a:pos x="T4" y="T5"/>
              </a:cxn>
            </a:cxnLst>
            <a:rect l="0" t="0" r="r" b="b"/>
            <a:pathLst>
              <a:path w="537" h="1233">
                <a:moveTo>
                  <a:pt x="536" y="0"/>
                </a:moveTo>
                <a:lnTo>
                  <a:pt x="536" y="840"/>
                </a:lnTo>
                <a:lnTo>
                  <a:pt x="0" y="123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76" name="Line 6"/>
          <p:cNvSpPr>
            <a:spLocks noChangeShapeType="1"/>
          </p:cNvSpPr>
          <p:nvPr/>
        </p:nvSpPr>
        <p:spPr bwMode="auto">
          <a:xfrm>
            <a:off x="5994400" y="2990850"/>
            <a:ext cx="124460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7177" name="Oval 7" descr="50%"/>
          <p:cNvSpPr>
            <a:spLocks noChangeArrowheads="1"/>
          </p:cNvSpPr>
          <p:nvPr/>
        </p:nvSpPr>
        <p:spPr bwMode="auto">
          <a:xfrm>
            <a:off x="6426200" y="3419475"/>
            <a:ext cx="495300" cy="114300"/>
          </a:xfrm>
          <a:prstGeom prst="ellipse">
            <a:avLst/>
          </a:prstGeom>
          <a:pattFill prst="pct50">
            <a:fgClr>
              <a:srgbClr val="000000"/>
            </a:fgClr>
            <a:bgClr>
              <a:srgbClr val="FFFFFF"/>
            </a:bgClr>
          </a:patt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7178" name="Oval 8"/>
          <p:cNvSpPr>
            <a:spLocks noChangeArrowheads="1"/>
          </p:cNvSpPr>
          <p:nvPr/>
        </p:nvSpPr>
        <p:spPr bwMode="auto">
          <a:xfrm>
            <a:off x="6413500" y="3405188"/>
            <a:ext cx="520700" cy="142875"/>
          </a:xfrm>
          <a:prstGeom prst="ellipse">
            <a:avLst/>
          </a:prstGeom>
          <a:solidFill>
            <a:schemeClr val="accent2"/>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7179" name="Freeform 9"/>
          <p:cNvSpPr>
            <a:spLocks/>
          </p:cNvSpPr>
          <p:nvPr/>
        </p:nvSpPr>
        <p:spPr bwMode="auto">
          <a:xfrm>
            <a:off x="6426200" y="3576638"/>
            <a:ext cx="103188" cy="230187"/>
          </a:xfrm>
          <a:custGeom>
            <a:avLst/>
            <a:gdLst>
              <a:gd name="T0" fmla="*/ 161290782 w 65"/>
              <a:gd name="T1" fmla="*/ 0 h 129"/>
              <a:gd name="T2" fmla="*/ 0 w 65"/>
              <a:gd name="T3" fmla="*/ 152835246 h 129"/>
              <a:gd name="T4" fmla="*/ 100806738 w 65"/>
              <a:gd name="T5" fmla="*/ 407561251 h 129"/>
              <a:gd name="T6" fmla="*/ 100806738 w 65"/>
              <a:gd name="T7" fmla="*/ 356614979 h 1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129">
                <a:moveTo>
                  <a:pt x="64" y="0"/>
                </a:moveTo>
                <a:lnTo>
                  <a:pt x="0" y="48"/>
                </a:lnTo>
                <a:lnTo>
                  <a:pt x="40" y="128"/>
                </a:lnTo>
                <a:lnTo>
                  <a:pt x="40"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0" name="Freeform 10"/>
          <p:cNvSpPr>
            <a:spLocks/>
          </p:cNvSpPr>
          <p:nvPr/>
        </p:nvSpPr>
        <p:spPr bwMode="auto">
          <a:xfrm>
            <a:off x="6413500" y="3562350"/>
            <a:ext cx="103188" cy="230188"/>
          </a:xfrm>
          <a:custGeom>
            <a:avLst/>
            <a:gdLst>
              <a:gd name="T0" fmla="*/ 161290782 w 65"/>
              <a:gd name="T1" fmla="*/ 0 h 129"/>
              <a:gd name="T2" fmla="*/ 0 w 65"/>
              <a:gd name="T3" fmla="*/ 152835910 h 129"/>
              <a:gd name="T4" fmla="*/ 100806738 w 65"/>
              <a:gd name="T5" fmla="*/ 407564806 h 129"/>
              <a:gd name="T6" fmla="*/ 100806738 w 65"/>
              <a:gd name="T7" fmla="*/ 356618313 h 1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5" h="129">
                <a:moveTo>
                  <a:pt x="64" y="0"/>
                </a:moveTo>
                <a:lnTo>
                  <a:pt x="0" y="48"/>
                </a:lnTo>
                <a:lnTo>
                  <a:pt x="40" y="128"/>
                </a:lnTo>
                <a:lnTo>
                  <a:pt x="40"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1" name="Freeform 11"/>
          <p:cNvSpPr>
            <a:spLocks/>
          </p:cNvSpPr>
          <p:nvPr/>
        </p:nvSpPr>
        <p:spPr bwMode="auto">
          <a:xfrm>
            <a:off x="6692900" y="3605213"/>
            <a:ext cx="65088" cy="230187"/>
          </a:xfrm>
          <a:custGeom>
            <a:avLst/>
            <a:gdLst>
              <a:gd name="T0" fmla="*/ 0 w 41"/>
              <a:gd name="T1" fmla="*/ 0 h 129"/>
              <a:gd name="T2" fmla="*/ 40322810 w 41"/>
              <a:gd name="T3" fmla="*/ 203779733 h 129"/>
              <a:gd name="T4" fmla="*/ 100807024 w 41"/>
              <a:gd name="T5" fmla="*/ 407561251 h 129"/>
              <a:gd name="T6" fmla="*/ 0 60000 65536"/>
              <a:gd name="T7" fmla="*/ 0 60000 65536"/>
              <a:gd name="T8" fmla="*/ 0 60000 65536"/>
            </a:gdLst>
            <a:ahLst/>
            <a:cxnLst>
              <a:cxn ang="T6">
                <a:pos x="T0" y="T1"/>
              </a:cxn>
              <a:cxn ang="T7">
                <a:pos x="T2" y="T3"/>
              </a:cxn>
              <a:cxn ang="T8">
                <a:pos x="T4" y="T5"/>
              </a:cxn>
            </a:cxnLst>
            <a:rect l="0" t="0" r="r" b="b"/>
            <a:pathLst>
              <a:path w="41" h="129">
                <a:moveTo>
                  <a:pt x="0" y="0"/>
                </a:moveTo>
                <a:lnTo>
                  <a:pt x="16" y="64"/>
                </a:lnTo>
                <a:lnTo>
                  <a:pt x="40" y="12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2" name="Freeform 12"/>
          <p:cNvSpPr>
            <a:spLocks/>
          </p:cNvSpPr>
          <p:nvPr/>
        </p:nvSpPr>
        <p:spPr bwMode="auto">
          <a:xfrm>
            <a:off x="6680200" y="3590925"/>
            <a:ext cx="65088" cy="230188"/>
          </a:xfrm>
          <a:custGeom>
            <a:avLst/>
            <a:gdLst>
              <a:gd name="T0" fmla="*/ 0 w 41"/>
              <a:gd name="T1" fmla="*/ 0 h 129"/>
              <a:gd name="T2" fmla="*/ 40322810 w 41"/>
              <a:gd name="T3" fmla="*/ 203782403 h 129"/>
              <a:gd name="T4" fmla="*/ 100807024 w 41"/>
              <a:gd name="T5" fmla="*/ 407564806 h 129"/>
              <a:gd name="T6" fmla="*/ 0 60000 65536"/>
              <a:gd name="T7" fmla="*/ 0 60000 65536"/>
              <a:gd name="T8" fmla="*/ 0 60000 65536"/>
            </a:gdLst>
            <a:ahLst/>
            <a:cxnLst>
              <a:cxn ang="T6">
                <a:pos x="T0" y="T1"/>
              </a:cxn>
              <a:cxn ang="T7">
                <a:pos x="T2" y="T3"/>
              </a:cxn>
              <a:cxn ang="T8">
                <a:pos x="T4" y="T5"/>
              </a:cxn>
            </a:cxnLst>
            <a:rect l="0" t="0" r="r" b="b"/>
            <a:pathLst>
              <a:path w="41" h="129">
                <a:moveTo>
                  <a:pt x="0" y="0"/>
                </a:moveTo>
                <a:lnTo>
                  <a:pt x="16" y="64"/>
                </a:lnTo>
                <a:lnTo>
                  <a:pt x="40" y="12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3" name="Freeform 13"/>
          <p:cNvSpPr>
            <a:spLocks/>
          </p:cNvSpPr>
          <p:nvPr/>
        </p:nvSpPr>
        <p:spPr bwMode="auto">
          <a:xfrm>
            <a:off x="6896100" y="3533775"/>
            <a:ext cx="65088" cy="230188"/>
          </a:xfrm>
          <a:custGeom>
            <a:avLst/>
            <a:gdLst>
              <a:gd name="T0" fmla="*/ 0 w 41"/>
              <a:gd name="T1" fmla="*/ 0 h 129"/>
              <a:gd name="T2" fmla="*/ 100807024 w 41"/>
              <a:gd name="T3" fmla="*/ 152835910 h 129"/>
              <a:gd name="T4" fmla="*/ 0 w 41"/>
              <a:gd name="T5" fmla="*/ 407564806 h 129"/>
              <a:gd name="T6" fmla="*/ 0 60000 65536"/>
              <a:gd name="T7" fmla="*/ 0 60000 65536"/>
              <a:gd name="T8" fmla="*/ 0 60000 65536"/>
            </a:gdLst>
            <a:ahLst/>
            <a:cxnLst>
              <a:cxn ang="T6">
                <a:pos x="T0" y="T1"/>
              </a:cxn>
              <a:cxn ang="T7">
                <a:pos x="T2" y="T3"/>
              </a:cxn>
              <a:cxn ang="T8">
                <a:pos x="T4" y="T5"/>
              </a:cxn>
            </a:cxnLst>
            <a:rect l="0" t="0" r="r" b="b"/>
            <a:pathLst>
              <a:path w="41" h="129">
                <a:moveTo>
                  <a:pt x="0" y="0"/>
                </a:moveTo>
                <a:lnTo>
                  <a:pt x="40" y="48"/>
                </a:lnTo>
                <a:lnTo>
                  <a:pt x="0" y="12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4" name="Freeform 14"/>
          <p:cNvSpPr>
            <a:spLocks/>
          </p:cNvSpPr>
          <p:nvPr/>
        </p:nvSpPr>
        <p:spPr bwMode="auto">
          <a:xfrm>
            <a:off x="6883400" y="3519488"/>
            <a:ext cx="65088" cy="230187"/>
          </a:xfrm>
          <a:custGeom>
            <a:avLst/>
            <a:gdLst>
              <a:gd name="T0" fmla="*/ 0 w 41"/>
              <a:gd name="T1" fmla="*/ 0 h 129"/>
              <a:gd name="T2" fmla="*/ 100807024 w 41"/>
              <a:gd name="T3" fmla="*/ 152835246 h 129"/>
              <a:gd name="T4" fmla="*/ 0 w 41"/>
              <a:gd name="T5" fmla="*/ 407561251 h 129"/>
              <a:gd name="T6" fmla="*/ 0 60000 65536"/>
              <a:gd name="T7" fmla="*/ 0 60000 65536"/>
              <a:gd name="T8" fmla="*/ 0 60000 65536"/>
            </a:gdLst>
            <a:ahLst/>
            <a:cxnLst>
              <a:cxn ang="T6">
                <a:pos x="T0" y="T1"/>
              </a:cxn>
              <a:cxn ang="T7">
                <a:pos x="T2" y="T3"/>
              </a:cxn>
              <a:cxn ang="T8">
                <a:pos x="T4" y="T5"/>
              </a:cxn>
            </a:cxnLst>
            <a:rect l="0" t="0" r="r" b="b"/>
            <a:pathLst>
              <a:path w="41" h="129">
                <a:moveTo>
                  <a:pt x="0" y="0"/>
                </a:moveTo>
                <a:lnTo>
                  <a:pt x="40" y="48"/>
                </a:lnTo>
                <a:lnTo>
                  <a:pt x="0" y="12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5" name="Line 15"/>
          <p:cNvSpPr>
            <a:spLocks noChangeShapeType="1"/>
          </p:cNvSpPr>
          <p:nvPr/>
        </p:nvSpPr>
        <p:spPr bwMode="auto">
          <a:xfrm>
            <a:off x="6807200" y="3548063"/>
            <a:ext cx="0" cy="10001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7186" name="Freeform 16"/>
          <p:cNvSpPr>
            <a:spLocks/>
          </p:cNvSpPr>
          <p:nvPr/>
        </p:nvSpPr>
        <p:spPr bwMode="auto">
          <a:xfrm>
            <a:off x="6362700" y="3548063"/>
            <a:ext cx="103188" cy="173037"/>
          </a:xfrm>
          <a:custGeom>
            <a:avLst/>
            <a:gdLst>
              <a:gd name="T0" fmla="*/ 161290782 w 65"/>
              <a:gd name="T1" fmla="*/ 0 h 97"/>
              <a:gd name="T2" fmla="*/ 0 w 65"/>
              <a:gd name="T3" fmla="*/ 50915691 h 97"/>
              <a:gd name="T4" fmla="*/ 0 w 65"/>
              <a:gd name="T5" fmla="*/ 305495932 h 97"/>
              <a:gd name="T6" fmla="*/ 0 60000 65536"/>
              <a:gd name="T7" fmla="*/ 0 60000 65536"/>
              <a:gd name="T8" fmla="*/ 0 60000 65536"/>
            </a:gdLst>
            <a:ahLst/>
            <a:cxnLst>
              <a:cxn ang="T6">
                <a:pos x="T0" y="T1"/>
              </a:cxn>
              <a:cxn ang="T7">
                <a:pos x="T2" y="T3"/>
              </a:cxn>
              <a:cxn ang="T8">
                <a:pos x="T4" y="T5"/>
              </a:cxn>
            </a:cxnLst>
            <a:rect l="0" t="0" r="r" b="b"/>
            <a:pathLst>
              <a:path w="65" h="97">
                <a:moveTo>
                  <a:pt x="64" y="0"/>
                </a:moveTo>
                <a:lnTo>
                  <a:pt x="0" y="16"/>
                </a:lnTo>
                <a:lnTo>
                  <a:pt x="0" y="9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7" name="Freeform 17"/>
          <p:cNvSpPr>
            <a:spLocks/>
          </p:cNvSpPr>
          <p:nvPr/>
        </p:nvSpPr>
        <p:spPr bwMode="auto">
          <a:xfrm>
            <a:off x="6350000" y="3533775"/>
            <a:ext cx="103188" cy="173038"/>
          </a:xfrm>
          <a:custGeom>
            <a:avLst/>
            <a:gdLst>
              <a:gd name="T0" fmla="*/ 161290782 w 65"/>
              <a:gd name="T1" fmla="*/ 0 h 97"/>
              <a:gd name="T2" fmla="*/ 0 w 65"/>
              <a:gd name="T3" fmla="*/ 50915986 h 97"/>
              <a:gd name="T4" fmla="*/ 0 w 65"/>
              <a:gd name="T5" fmla="*/ 305499481 h 97"/>
              <a:gd name="T6" fmla="*/ 0 60000 65536"/>
              <a:gd name="T7" fmla="*/ 0 60000 65536"/>
              <a:gd name="T8" fmla="*/ 0 60000 65536"/>
            </a:gdLst>
            <a:ahLst/>
            <a:cxnLst>
              <a:cxn ang="T6">
                <a:pos x="T0" y="T1"/>
              </a:cxn>
              <a:cxn ang="T7">
                <a:pos x="T2" y="T3"/>
              </a:cxn>
              <a:cxn ang="T8">
                <a:pos x="T4" y="T5"/>
              </a:cxn>
            </a:cxnLst>
            <a:rect l="0" t="0" r="r" b="b"/>
            <a:pathLst>
              <a:path w="65" h="97">
                <a:moveTo>
                  <a:pt x="64" y="0"/>
                </a:moveTo>
                <a:lnTo>
                  <a:pt x="0" y="16"/>
                </a:lnTo>
                <a:lnTo>
                  <a:pt x="0" y="9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88" name="Line 18"/>
          <p:cNvSpPr>
            <a:spLocks noChangeShapeType="1"/>
          </p:cNvSpPr>
          <p:nvPr/>
        </p:nvSpPr>
        <p:spPr bwMode="auto">
          <a:xfrm>
            <a:off x="6350000" y="3676650"/>
            <a:ext cx="0" cy="1428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7189" name="Freeform 19"/>
          <p:cNvSpPr>
            <a:spLocks/>
          </p:cNvSpPr>
          <p:nvPr/>
        </p:nvSpPr>
        <p:spPr bwMode="auto">
          <a:xfrm>
            <a:off x="6591300" y="3605213"/>
            <a:ext cx="39688" cy="144462"/>
          </a:xfrm>
          <a:custGeom>
            <a:avLst/>
            <a:gdLst>
              <a:gd name="T0" fmla="*/ 60484512 w 25"/>
              <a:gd name="T1" fmla="*/ 0 h 81"/>
              <a:gd name="T2" fmla="*/ 0 w 25"/>
              <a:gd name="T3" fmla="*/ 152678499 h 81"/>
              <a:gd name="T4" fmla="*/ 0 w 25"/>
              <a:gd name="T5" fmla="*/ 254465354 h 81"/>
              <a:gd name="T6" fmla="*/ 0 60000 65536"/>
              <a:gd name="T7" fmla="*/ 0 60000 65536"/>
              <a:gd name="T8" fmla="*/ 0 60000 65536"/>
            </a:gdLst>
            <a:ahLst/>
            <a:cxnLst>
              <a:cxn ang="T6">
                <a:pos x="T0" y="T1"/>
              </a:cxn>
              <a:cxn ang="T7">
                <a:pos x="T2" y="T3"/>
              </a:cxn>
              <a:cxn ang="T8">
                <a:pos x="T4" y="T5"/>
              </a:cxn>
            </a:cxnLst>
            <a:rect l="0" t="0" r="r" b="b"/>
            <a:pathLst>
              <a:path w="25" h="81">
                <a:moveTo>
                  <a:pt x="24" y="0"/>
                </a:moveTo>
                <a:lnTo>
                  <a:pt x="0" y="48"/>
                </a:lnTo>
                <a:lnTo>
                  <a:pt x="0" y="8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90" name="Freeform 20"/>
          <p:cNvSpPr>
            <a:spLocks/>
          </p:cNvSpPr>
          <p:nvPr/>
        </p:nvSpPr>
        <p:spPr bwMode="auto">
          <a:xfrm>
            <a:off x="6578600" y="3590925"/>
            <a:ext cx="39688" cy="144463"/>
          </a:xfrm>
          <a:custGeom>
            <a:avLst/>
            <a:gdLst>
              <a:gd name="T0" fmla="*/ 60484512 w 25"/>
              <a:gd name="T1" fmla="*/ 0 h 81"/>
              <a:gd name="T2" fmla="*/ 0 w 25"/>
              <a:gd name="T3" fmla="*/ 152681340 h 81"/>
              <a:gd name="T4" fmla="*/ 0 w 25"/>
              <a:gd name="T5" fmla="*/ 254468899 h 81"/>
              <a:gd name="T6" fmla="*/ 0 60000 65536"/>
              <a:gd name="T7" fmla="*/ 0 60000 65536"/>
              <a:gd name="T8" fmla="*/ 0 60000 65536"/>
            </a:gdLst>
            <a:ahLst/>
            <a:cxnLst>
              <a:cxn ang="T6">
                <a:pos x="T0" y="T1"/>
              </a:cxn>
              <a:cxn ang="T7">
                <a:pos x="T2" y="T3"/>
              </a:cxn>
              <a:cxn ang="T8">
                <a:pos x="T4" y="T5"/>
              </a:cxn>
            </a:cxnLst>
            <a:rect l="0" t="0" r="r" b="b"/>
            <a:pathLst>
              <a:path w="25" h="81">
                <a:moveTo>
                  <a:pt x="24" y="0"/>
                </a:moveTo>
                <a:lnTo>
                  <a:pt x="0" y="48"/>
                </a:lnTo>
                <a:lnTo>
                  <a:pt x="0" y="8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91" name="Oval 21"/>
          <p:cNvSpPr>
            <a:spLocks noChangeArrowheads="1"/>
          </p:cNvSpPr>
          <p:nvPr/>
        </p:nvSpPr>
        <p:spPr bwMode="auto">
          <a:xfrm>
            <a:off x="6324600" y="3305175"/>
            <a:ext cx="101600" cy="128588"/>
          </a:xfrm>
          <a:prstGeom prst="ellipse">
            <a:avLst/>
          </a:prstGeom>
          <a:solidFill>
            <a:srgbClr val="51DC00"/>
          </a:solidFill>
          <a:ln w="25400">
            <a:solidFill>
              <a:schemeClr val="bg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7192" name="Oval 22"/>
          <p:cNvSpPr>
            <a:spLocks noChangeArrowheads="1"/>
          </p:cNvSpPr>
          <p:nvPr/>
        </p:nvSpPr>
        <p:spPr bwMode="auto">
          <a:xfrm>
            <a:off x="6311900" y="3290888"/>
            <a:ext cx="127000" cy="157162"/>
          </a:xfrm>
          <a:prstGeom prst="ellipse">
            <a:avLst/>
          </a:prstGeom>
          <a:noFill/>
          <a:ln w="25400">
            <a:solidFill>
              <a:srgbClr val="000000"/>
            </a:solidFill>
            <a:round/>
            <a:headEnd/>
            <a:tailEn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7193" name="Freeform 23"/>
          <p:cNvSpPr>
            <a:spLocks/>
          </p:cNvSpPr>
          <p:nvPr/>
        </p:nvSpPr>
        <p:spPr bwMode="auto">
          <a:xfrm>
            <a:off x="6108700" y="3033713"/>
            <a:ext cx="242888" cy="258762"/>
          </a:xfrm>
          <a:custGeom>
            <a:avLst/>
            <a:gdLst>
              <a:gd name="T0" fmla="*/ 383064539 w 153"/>
              <a:gd name="T1" fmla="*/ 458592293 h 145"/>
              <a:gd name="T2" fmla="*/ 221774207 w 153"/>
              <a:gd name="T3" fmla="*/ 101909398 h 145"/>
              <a:gd name="T4" fmla="*/ 0 w 153"/>
              <a:gd name="T5" fmla="*/ 0 h 145"/>
              <a:gd name="T6" fmla="*/ 0 60000 65536"/>
              <a:gd name="T7" fmla="*/ 0 60000 65536"/>
              <a:gd name="T8" fmla="*/ 0 60000 65536"/>
            </a:gdLst>
            <a:ahLst/>
            <a:cxnLst>
              <a:cxn ang="T6">
                <a:pos x="T0" y="T1"/>
              </a:cxn>
              <a:cxn ang="T7">
                <a:pos x="T2" y="T3"/>
              </a:cxn>
              <a:cxn ang="T8">
                <a:pos x="T4" y="T5"/>
              </a:cxn>
            </a:cxnLst>
            <a:rect l="0" t="0" r="r" b="b"/>
            <a:pathLst>
              <a:path w="153" h="145">
                <a:moveTo>
                  <a:pt x="152" y="144"/>
                </a:moveTo>
                <a:lnTo>
                  <a:pt x="88" y="32"/>
                </a:lnTo>
                <a:lnTo>
                  <a:pt x="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94" name="Freeform 24"/>
          <p:cNvSpPr>
            <a:spLocks/>
          </p:cNvSpPr>
          <p:nvPr/>
        </p:nvSpPr>
        <p:spPr bwMode="auto">
          <a:xfrm>
            <a:off x="6108700" y="3033713"/>
            <a:ext cx="242888" cy="258762"/>
          </a:xfrm>
          <a:custGeom>
            <a:avLst/>
            <a:gdLst>
              <a:gd name="T0" fmla="*/ 383064539 w 153"/>
              <a:gd name="T1" fmla="*/ 458592293 h 145"/>
              <a:gd name="T2" fmla="*/ 221774207 w 153"/>
              <a:gd name="T3" fmla="*/ 101909398 h 145"/>
              <a:gd name="T4" fmla="*/ 0 w 153"/>
              <a:gd name="T5" fmla="*/ 0 h 145"/>
              <a:gd name="T6" fmla="*/ 0 60000 65536"/>
              <a:gd name="T7" fmla="*/ 0 60000 65536"/>
              <a:gd name="T8" fmla="*/ 0 60000 65536"/>
            </a:gdLst>
            <a:ahLst/>
            <a:cxnLst>
              <a:cxn ang="T6">
                <a:pos x="T0" y="T1"/>
              </a:cxn>
              <a:cxn ang="T7">
                <a:pos x="T2" y="T3"/>
              </a:cxn>
              <a:cxn ang="T8">
                <a:pos x="T4" y="T5"/>
              </a:cxn>
            </a:cxnLst>
            <a:rect l="0" t="0" r="r" b="b"/>
            <a:pathLst>
              <a:path w="153" h="145">
                <a:moveTo>
                  <a:pt x="152" y="144"/>
                </a:moveTo>
                <a:lnTo>
                  <a:pt x="88" y="32"/>
                </a:lnTo>
                <a:lnTo>
                  <a:pt x="0"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95" name="Oval 25"/>
          <p:cNvSpPr>
            <a:spLocks noChangeArrowheads="1"/>
          </p:cNvSpPr>
          <p:nvPr/>
        </p:nvSpPr>
        <p:spPr bwMode="auto">
          <a:xfrm>
            <a:off x="6051550" y="2984500"/>
            <a:ext cx="50800" cy="71438"/>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7196" name="Freeform 26"/>
          <p:cNvSpPr>
            <a:spLocks/>
          </p:cNvSpPr>
          <p:nvPr/>
        </p:nvSpPr>
        <p:spPr bwMode="auto">
          <a:xfrm>
            <a:off x="6248400" y="2919413"/>
            <a:ext cx="166688" cy="373062"/>
          </a:xfrm>
          <a:custGeom>
            <a:avLst/>
            <a:gdLst>
              <a:gd name="T0" fmla="*/ 262097036 w 105"/>
              <a:gd name="T1" fmla="*/ 662724116 h 209"/>
              <a:gd name="T2" fmla="*/ 201613105 w 105"/>
              <a:gd name="T3" fmla="*/ 254894165 h 209"/>
              <a:gd name="T4" fmla="*/ 0 w 105"/>
              <a:gd name="T5" fmla="*/ 0 h 209"/>
              <a:gd name="T6" fmla="*/ 0 60000 65536"/>
              <a:gd name="T7" fmla="*/ 0 60000 65536"/>
              <a:gd name="T8" fmla="*/ 0 60000 65536"/>
            </a:gdLst>
            <a:ahLst/>
            <a:cxnLst>
              <a:cxn ang="T6">
                <a:pos x="T0" y="T1"/>
              </a:cxn>
              <a:cxn ang="T7">
                <a:pos x="T2" y="T3"/>
              </a:cxn>
              <a:cxn ang="T8">
                <a:pos x="T4" y="T5"/>
              </a:cxn>
            </a:cxnLst>
            <a:rect l="0" t="0" r="r" b="b"/>
            <a:pathLst>
              <a:path w="105" h="209">
                <a:moveTo>
                  <a:pt x="104" y="208"/>
                </a:moveTo>
                <a:lnTo>
                  <a:pt x="80" y="80"/>
                </a:lnTo>
                <a:lnTo>
                  <a:pt x="0" y="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97" name="Freeform 27"/>
          <p:cNvSpPr>
            <a:spLocks/>
          </p:cNvSpPr>
          <p:nvPr/>
        </p:nvSpPr>
        <p:spPr bwMode="auto">
          <a:xfrm>
            <a:off x="6248400" y="2919413"/>
            <a:ext cx="166688" cy="373062"/>
          </a:xfrm>
          <a:custGeom>
            <a:avLst/>
            <a:gdLst>
              <a:gd name="T0" fmla="*/ 262097036 w 105"/>
              <a:gd name="T1" fmla="*/ 662724116 h 209"/>
              <a:gd name="T2" fmla="*/ 201613105 w 105"/>
              <a:gd name="T3" fmla="*/ 254894165 h 209"/>
              <a:gd name="T4" fmla="*/ 0 w 105"/>
              <a:gd name="T5" fmla="*/ 0 h 209"/>
              <a:gd name="T6" fmla="*/ 0 60000 65536"/>
              <a:gd name="T7" fmla="*/ 0 60000 65536"/>
              <a:gd name="T8" fmla="*/ 0 60000 65536"/>
            </a:gdLst>
            <a:ahLst/>
            <a:cxnLst>
              <a:cxn ang="T6">
                <a:pos x="T0" y="T1"/>
              </a:cxn>
              <a:cxn ang="T7">
                <a:pos x="T2" y="T3"/>
              </a:cxn>
              <a:cxn ang="T8">
                <a:pos x="T4" y="T5"/>
              </a:cxn>
            </a:cxnLst>
            <a:rect l="0" t="0" r="r" b="b"/>
            <a:pathLst>
              <a:path w="105" h="209">
                <a:moveTo>
                  <a:pt x="104" y="208"/>
                </a:moveTo>
                <a:lnTo>
                  <a:pt x="80" y="80"/>
                </a:lnTo>
                <a:lnTo>
                  <a:pt x="0" y="0"/>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7198" name="Oval 28"/>
          <p:cNvSpPr>
            <a:spLocks noChangeArrowheads="1"/>
          </p:cNvSpPr>
          <p:nvPr/>
        </p:nvSpPr>
        <p:spPr bwMode="auto">
          <a:xfrm>
            <a:off x="6191250" y="2870200"/>
            <a:ext cx="88900" cy="71438"/>
          </a:xfrm>
          <a:prstGeom prst="ellipse">
            <a:avLst/>
          </a:prstGeom>
          <a:solidFill>
            <a:schemeClr val="accent2"/>
          </a:solidFill>
          <a:ln w="127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75133" name="Rectangle 29"/>
          <p:cNvSpPr>
            <a:spLocks noChangeArrowheads="1"/>
          </p:cNvSpPr>
          <p:nvPr/>
        </p:nvSpPr>
        <p:spPr bwMode="auto">
          <a:xfrm>
            <a:off x="1865313" y="1931988"/>
            <a:ext cx="3375025"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dirty="0">
                <a:effectLst>
                  <a:outerShdw blurRad="38100" dist="38100" dir="2700000" algn="tl">
                    <a:srgbClr val="FFFFFF"/>
                  </a:outerShdw>
                </a:effectLst>
                <a:latin typeface="Helvetica" pitchFamily="-128" charset="0"/>
                <a:ea typeface="ＭＳ Ｐゴシック" pitchFamily="-128" charset="-128"/>
              </a:rPr>
              <a:t>"Bugs lurk in corners </a:t>
            </a:r>
          </a:p>
        </p:txBody>
      </p:sp>
      <p:sp>
        <p:nvSpPr>
          <p:cNvPr id="175134" name="Rectangle 30"/>
          <p:cNvSpPr>
            <a:spLocks noChangeArrowheads="1"/>
          </p:cNvSpPr>
          <p:nvPr/>
        </p:nvSpPr>
        <p:spPr bwMode="auto">
          <a:xfrm>
            <a:off x="1865313" y="2289175"/>
            <a:ext cx="2890837"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dirty="0">
                <a:effectLst>
                  <a:outerShdw blurRad="38100" dist="38100" dir="2700000" algn="tl">
                    <a:srgbClr val="FFFFFF"/>
                  </a:outerShdw>
                </a:effectLst>
                <a:latin typeface="Helvetica" pitchFamily="-128" charset="0"/>
                <a:ea typeface="ＭＳ Ｐゴシック" pitchFamily="-128" charset="-128"/>
              </a:rPr>
              <a:t>and congregate at </a:t>
            </a:r>
          </a:p>
        </p:txBody>
      </p:sp>
      <p:sp>
        <p:nvSpPr>
          <p:cNvPr id="175135" name="Rectangle 31"/>
          <p:cNvSpPr>
            <a:spLocks noChangeArrowheads="1"/>
          </p:cNvSpPr>
          <p:nvPr/>
        </p:nvSpPr>
        <p:spPr bwMode="auto">
          <a:xfrm>
            <a:off x="1865313" y="2646363"/>
            <a:ext cx="2306637"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boundaries ..."</a:t>
            </a:r>
          </a:p>
        </p:txBody>
      </p:sp>
      <p:sp>
        <p:nvSpPr>
          <p:cNvPr id="175136" name="Rectangle 32"/>
          <p:cNvSpPr>
            <a:spLocks noChangeArrowheads="1"/>
          </p:cNvSpPr>
          <p:nvPr/>
        </p:nvSpPr>
        <p:spPr bwMode="auto">
          <a:xfrm>
            <a:off x="2855913" y="3160713"/>
            <a:ext cx="1958975"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i="1">
                <a:effectLst>
                  <a:outerShdw blurRad="38100" dist="38100" dir="2700000" algn="tl">
                    <a:srgbClr val="FFFFFF"/>
                  </a:outerShdw>
                </a:effectLst>
                <a:latin typeface="Helvetica" pitchFamily="-128" charset="0"/>
                <a:ea typeface="ＭＳ Ｐゴシック" pitchFamily="-128" charset="-128"/>
              </a:rPr>
              <a:t>Boris Beizer</a:t>
            </a:r>
          </a:p>
        </p:txBody>
      </p:sp>
      <p:sp>
        <p:nvSpPr>
          <p:cNvPr id="175137" name="Rectangle 33"/>
          <p:cNvSpPr>
            <a:spLocks noChangeArrowheads="1"/>
          </p:cNvSpPr>
          <p:nvPr/>
        </p:nvSpPr>
        <p:spPr bwMode="auto">
          <a:xfrm>
            <a:off x="1662113" y="4103688"/>
            <a:ext cx="19081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i="1">
                <a:effectLst>
                  <a:outerShdw blurRad="38100" dist="38100" dir="2700000" algn="tl">
                    <a:srgbClr val="FFFFFF"/>
                  </a:outerShdw>
                </a:effectLst>
                <a:latin typeface="Helvetica" pitchFamily="-128" charset="0"/>
                <a:ea typeface="ＭＳ Ｐゴシック" pitchFamily="-128" charset="-128"/>
              </a:rPr>
              <a:t>OBJECTIVE</a:t>
            </a:r>
          </a:p>
          <a:p>
            <a:pPr>
              <a:defRPr/>
            </a:pPr>
            <a:endParaRPr lang="en-US" b="1" i="1">
              <a:effectLst>
                <a:outerShdw blurRad="38100" dist="38100" dir="2700000" algn="tl">
                  <a:srgbClr val="FFFFFF"/>
                </a:outerShdw>
              </a:effectLst>
              <a:latin typeface="Helvetica" pitchFamily="-128" charset="0"/>
              <a:ea typeface="ＭＳ Ｐゴシック" pitchFamily="-128" charset="-128"/>
            </a:endParaRPr>
          </a:p>
        </p:txBody>
      </p:sp>
      <p:sp>
        <p:nvSpPr>
          <p:cNvPr id="175138" name="Rectangle 34"/>
          <p:cNvSpPr>
            <a:spLocks noChangeArrowheads="1"/>
          </p:cNvSpPr>
          <p:nvPr/>
        </p:nvSpPr>
        <p:spPr bwMode="auto">
          <a:xfrm>
            <a:off x="1662113" y="4460875"/>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endParaRPr lang="en-US" b="1" i="1">
              <a:effectLst>
                <a:outerShdw blurRad="38100" dist="38100" dir="2700000" algn="tl">
                  <a:srgbClr val="FFFFFF"/>
                </a:outerShdw>
              </a:effectLst>
              <a:latin typeface="Helvetica" pitchFamily="-128" charset="0"/>
              <a:ea typeface="ＭＳ Ｐゴシック" pitchFamily="-128" charset="-128"/>
            </a:endParaRPr>
          </a:p>
          <a:p>
            <a:pPr>
              <a:defRPr/>
            </a:pPr>
            <a:endParaRPr lang="en-US" b="1" i="1">
              <a:effectLst>
                <a:outerShdw blurRad="38100" dist="38100" dir="2700000" algn="tl">
                  <a:srgbClr val="FFFFFF"/>
                </a:outerShdw>
              </a:effectLst>
              <a:latin typeface="Helvetica" pitchFamily="-128" charset="0"/>
              <a:ea typeface="ＭＳ Ｐゴシック" pitchFamily="-128" charset="-128"/>
            </a:endParaRPr>
          </a:p>
        </p:txBody>
      </p:sp>
      <p:sp>
        <p:nvSpPr>
          <p:cNvPr id="175139" name="Rectangle 35"/>
          <p:cNvSpPr>
            <a:spLocks noChangeArrowheads="1"/>
          </p:cNvSpPr>
          <p:nvPr/>
        </p:nvSpPr>
        <p:spPr bwMode="auto">
          <a:xfrm>
            <a:off x="1662113" y="4818063"/>
            <a:ext cx="1620837"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i="1">
                <a:effectLst>
                  <a:outerShdw blurRad="38100" dist="38100" dir="2700000" algn="tl">
                    <a:srgbClr val="FFFFFF"/>
                  </a:outerShdw>
                </a:effectLst>
                <a:latin typeface="Helvetica" pitchFamily="-128" charset="0"/>
                <a:ea typeface="ＭＳ Ｐゴシック" pitchFamily="-128" charset="-128"/>
              </a:rPr>
              <a:t>CRITERIA</a:t>
            </a:r>
          </a:p>
          <a:p>
            <a:pPr>
              <a:defRPr/>
            </a:pPr>
            <a:endParaRPr lang="en-US" b="1" i="1">
              <a:effectLst>
                <a:outerShdw blurRad="38100" dist="38100" dir="2700000" algn="tl">
                  <a:srgbClr val="FFFFFF"/>
                </a:outerShdw>
              </a:effectLst>
              <a:latin typeface="Helvetica" pitchFamily="-128" charset="0"/>
              <a:ea typeface="ＭＳ Ｐゴシック" pitchFamily="-128" charset="-128"/>
            </a:endParaRPr>
          </a:p>
        </p:txBody>
      </p:sp>
      <p:sp>
        <p:nvSpPr>
          <p:cNvPr id="175140" name="Rectangle 36"/>
          <p:cNvSpPr>
            <a:spLocks noChangeArrowheads="1"/>
          </p:cNvSpPr>
          <p:nvPr/>
        </p:nvSpPr>
        <p:spPr bwMode="auto">
          <a:xfrm>
            <a:off x="1662113" y="5175250"/>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endParaRPr lang="en-US" b="1" i="1">
              <a:effectLst>
                <a:outerShdw blurRad="38100" dist="38100" dir="2700000" algn="tl">
                  <a:srgbClr val="FFFFFF"/>
                </a:outerShdw>
              </a:effectLst>
              <a:latin typeface="Helvetica" pitchFamily="-128" charset="0"/>
              <a:ea typeface="ＭＳ Ｐゴシック" pitchFamily="-128" charset="-128"/>
            </a:endParaRPr>
          </a:p>
          <a:p>
            <a:pPr>
              <a:defRPr/>
            </a:pPr>
            <a:endParaRPr lang="en-US" b="1" i="1">
              <a:effectLst>
                <a:outerShdw blurRad="38100" dist="38100" dir="2700000" algn="tl">
                  <a:srgbClr val="FFFFFF"/>
                </a:outerShdw>
              </a:effectLst>
              <a:latin typeface="Helvetica" pitchFamily="-128" charset="0"/>
              <a:ea typeface="ＭＳ Ｐゴシック" pitchFamily="-128" charset="-128"/>
            </a:endParaRPr>
          </a:p>
        </p:txBody>
      </p:sp>
      <p:sp>
        <p:nvSpPr>
          <p:cNvPr id="175141" name="Rectangle 37"/>
          <p:cNvSpPr>
            <a:spLocks noChangeArrowheads="1"/>
          </p:cNvSpPr>
          <p:nvPr/>
        </p:nvSpPr>
        <p:spPr bwMode="auto">
          <a:xfrm>
            <a:off x="1662113" y="5532438"/>
            <a:ext cx="2179637"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i="1">
                <a:effectLst>
                  <a:outerShdw blurRad="38100" dist="38100" dir="2700000" algn="tl">
                    <a:srgbClr val="FFFFFF"/>
                  </a:outerShdw>
                </a:effectLst>
                <a:latin typeface="Helvetica" pitchFamily="-128" charset="0"/>
                <a:ea typeface="ＭＳ Ｐゴシック" pitchFamily="-128" charset="-128"/>
              </a:rPr>
              <a:t>CONSTRAINT</a:t>
            </a:r>
          </a:p>
        </p:txBody>
      </p:sp>
      <p:sp>
        <p:nvSpPr>
          <p:cNvPr id="175142" name="Rectangle 38"/>
          <p:cNvSpPr>
            <a:spLocks noChangeArrowheads="1"/>
          </p:cNvSpPr>
          <p:nvPr/>
        </p:nvSpPr>
        <p:spPr bwMode="auto">
          <a:xfrm>
            <a:off x="3859213" y="4103688"/>
            <a:ext cx="2705100"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to uncover errors</a:t>
            </a: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75143" name="Rectangle 39"/>
          <p:cNvSpPr>
            <a:spLocks noChangeArrowheads="1"/>
          </p:cNvSpPr>
          <p:nvPr/>
        </p:nvSpPr>
        <p:spPr bwMode="auto">
          <a:xfrm>
            <a:off x="3859213" y="4460875"/>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endParaRPr lang="en-US" b="1">
              <a:effectLst>
                <a:outerShdw blurRad="38100" dist="38100" dir="2700000" algn="tl">
                  <a:srgbClr val="FFFFFF"/>
                </a:outerShdw>
              </a:effectLst>
              <a:latin typeface="Helvetica" pitchFamily="-128" charset="0"/>
              <a:ea typeface="ＭＳ Ｐゴシック" pitchFamily="-128" charset="-128"/>
            </a:endParaRP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75144" name="Rectangle 40"/>
          <p:cNvSpPr>
            <a:spLocks noChangeArrowheads="1"/>
          </p:cNvSpPr>
          <p:nvPr/>
        </p:nvSpPr>
        <p:spPr bwMode="auto">
          <a:xfrm>
            <a:off x="3859213" y="4818063"/>
            <a:ext cx="3314700"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in a complete manner</a:t>
            </a: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75145" name="Rectangle 41"/>
          <p:cNvSpPr>
            <a:spLocks noChangeArrowheads="1"/>
          </p:cNvSpPr>
          <p:nvPr/>
        </p:nvSpPr>
        <p:spPr bwMode="auto">
          <a:xfrm>
            <a:off x="3859213" y="5175250"/>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endParaRPr lang="en-US" b="1">
              <a:effectLst>
                <a:outerShdw blurRad="38100" dist="38100" dir="2700000" algn="tl">
                  <a:srgbClr val="FFFFFF"/>
                </a:outerShdw>
              </a:effectLst>
              <a:latin typeface="Helvetica" pitchFamily="-128" charset="0"/>
              <a:ea typeface="ＭＳ Ｐゴシック" pitchFamily="-128" charset="-128"/>
            </a:endParaRP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75146" name="Rectangle 42"/>
          <p:cNvSpPr>
            <a:spLocks noChangeArrowheads="1"/>
          </p:cNvSpPr>
          <p:nvPr/>
        </p:nvSpPr>
        <p:spPr bwMode="auto">
          <a:xfrm>
            <a:off x="3859213" y="5532438"/>
            <a:ext cx="5057775"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with a minimum of effort and time</a:t>
            </a:r>
          </a:p>
        </p:txBody>
      </p:sp>
    </p:spTree>
    <p:extLst>
      <p:ext uri="{BB962C8B-B14F-4D97-AF65-F5344CB8AC3E}">
        <p14:creationId xmlns:p14="http://schemas.microsoft.com/office/powerpoint/2010/main" val="17328560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a:xfrm>
            <a:off x="152400" y="685800"/>
            <a:ext cx="8305800" cy="479425"/>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dirty="0"/>
              <a:t>Exhaustive Testing not possible!</a:t>
            </a:r>
          </a:p>
        </p:txBody>
      </p:sp>
      <p:sp>
        <p:nvSpPr>
          <p:cNvPr id="85" name="Slide Number Placeholder 4"/>
          <p:cNvSpPr>
            <a:spLocks noGrp="1"/>
          </p:cNvSpPr>
          <p:nvPr>
            <p:ph type="sldNum" sz="quarter" idx="12"/>
          </p:nvPr>
        </p:nvSpPr>
        <p:spPr>
          <a:prstGeom prst="rect">
            <a:avLst/>
          </a:prstGeom>
        </p:spPr>
        <p:txBody>
          <a:bodyPr/>
          <a:lstStyle/>
          <a:p>
            <a:pPr>
              <a:defRPr/>
            </a:pPr>
            <a:fld id="{C84B52CE-3C9E-4F7D-9B3E-EA24918A3CBA}" type="slidenum">
              <a:rPr lang="en-US"/>
              <a:pPr>
                <a:defRPr/>
              </a:pPr>
              <a:t>4</a:t>
            </a:fld>
            <a:endParaRPr lang="en-US"/>
          </a:p>
        </p:txBody>
      </p:sp>
      <p:sp>
        <p:nvSpPr>
          <p:cNvPr id="84"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dirty="0"/>
              <a:t>These slides are designed to accompany </a:t>
            </a:r>
            <a:r>
              <a:rPr lang="en-US" i="1" dirty="0"/>
              <a:t>Software Engineering: A Practitioner’s Approach, 7/e </a:t>
            </a:r>
            <a:r>
              <a:rPr lang="en-US" dirty="0"/>
              <a:t>(McGraw-Hill 2009). Slides copyright 2009 by Roger Pressman.</a:t>
            </a:r>
          </a:p>
        </p:txBody>
      </p:sp>
      <p:sp>
        <p:nvSpPr>
          <p:cNvPr id="8197" name="Line 3"/>
          <p:cNvSpPr>
            <a:spLocks noChangeShapeType="1"/>
          </p:cNvSpPr>
          <p:nvPr/>
        </p:nvSpPr>
        <p:spPr bwMode="auto">
          <a:xfrm>
            <a:off x="3359150" y="3943350"/>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grpSp>
        <p:nvGrpSpPr>
          <p:cNvPr id="8198" name="Group 4"/>
          <p:cNvGrpSpPr>
            <a:grpSpLocks/>
          </p:cNvGrpSpPr>
          <p:nvPr/>
        </p:nvGrpSpPr>
        <p:grpSpPr bwMode="auto">
          <a:xfrm>
            <a:off x="5029200" y="1371600"/>
            <a:ext cx="65088" cy="201613"/>
            <a:chOff x="2808" y="640"/>
            <a:chExt cx="41" cy="113"/>
          </a:xfrm>
        </p:grpSpPr>
        <p:sp>
          <p:nvSpPr>
            <p:cNvPr id="8276" name="Freeform 5"/>
            <p:cNvSpPr>
              <a:spLocks/>
            </p:cNvSpPr>
            <p:nvPr/>
          </p:nvSpPr>
          <p:spPr bwMode="auto">
            <a:xfrm>
              <a:off x="2808" y="664"/>
              <a:ext cx="41" cy="89"/>
            </a:xfrm>
            <a:custGeom>
              <a:avLst/>
              <a:gdLst>
                <a:gd name="T0" fmla="*/ 20 w 41"/>
                <a:gd name="T1" fmla="*/ 88 h 89"/>
                <a:gd name="T2" fmla="*/ 0 w 41"/>
                <a:gd name="T3" fmla="*/ 0 h 89"/>
                <a:gd name="T4" fmla="*/ 20 w 41"/>
                <a:gd name="T5" fmla="*/ 0 h 89"/>
                <a:gd name="T6" fmla="*/ 40 w 41"/>
                <a:gd name="T7" fmla="*/ 0 h 89"/>
                <a:gd name="T8" fmla="*/ 20 w 41"/>
                <a:gd name="T9" fmla="*/ 88 h 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89">
                  <a:moveTo>
                    <a:pt x="20" y="88"/>
                  </a:moveTo>
                  <a:lnTo>
                    <a:pt x="0" y="0"/>
                  </a:lnTo>
                  <a:lnTo>
                    <a:pt x="20" y="0"/>
                  </a:lnTo>
                  <a:lnTo>
                    <a:pt x="40" y="0"/>
                  </a:lnTo>
                  <a:lnTo>
                    <a:pt x="20" y="88"/>
                  </a:lnTo>
                </a:path>
              </a:pathLst>
            </a:custGeom>
            <a:solidFill>
              <a:srgbClr val="000000"/>
            </a:solidFill>
            <a:ln w="25400" cap="rnd" cmpd="sng">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77" name="Line 6"/>
            <p:cNvSpPr>
              <a:spLocks noChangeShapeType="1"/>
            </p:cNvSpPr>
            <p:nvPr/>
          </p:nvSpPr>
          <p:spPr bwMode="auto">
            <a:xfrm>
              <a:off x="2836" y="640"/>
              <a:ext cx="0" cy="1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grpSp>
      <p:sp>
        <p:nvSpPr>
          <p:cNvPr id="8199" name="Line 7"/>
          <p:cNvSpPr>
            <a:spLocks noChangeShapeType="1"/>
          </p:cNvSpPr>
          <p:nvPr/>
        </p:nvSpPr>
        <p:spPr bwMode="auto">
          <a:xfrm>
            <a:off x="5073650" y="1343025"/>
            <a:ext cx="0" cy="1000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00" name="Rectangle 8"/>
          <p:cNvSpPr>
            <a:spLocks noChangeArrowheads="1"/>
          </p:cNvSpPr>
          <p:nvPr/>
        </p:nvSpPr>
        <p:spPr bwMode="auto">
          <a:xfrm>
            <a:off x="4800600" y="1600200"/>
            <a:ext cx="546100" cy="257175"/>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nvGrpSpPr>
          <p:cNvPr id="8201" name="Group 9"/>
          <p:cNvGrpSpPr>
            <a:grpSpLocks/>
          </p:cNvGrpSpPr>
          <p:nvPr/>
        </p:nvGrpSpPr>
        <p:grpSpPr bwMode="auto">
          <a:xfrm>
            <a:off x="5359400" y="1671638"/>
            <a:ext cx="1524000" cy="73025"/>
            <a:chOff x="3016" y="808"/>
            <a:chExt cx="960" cy="41"/>
          </a:xfrm>
        </p:grpSpPr>
        <p:sp>
          <p:nvSpPr>
            <p:cNvPr id="8274" name="Freeform 10"/>
            <p:cNvSpPr>
              <a:spLocks/>
            </p:cNvSpPr>
            <p:nvPr/>
          </p:nvSpPr>
          <p:spPr bwMode="auto">
            <a:xfrm>
              <a:off x="3016" y="808"/>
              <a:ext cx="89" cy="41"/>
            </a:xfrm>
            <a:custGeom>
              <a:avLst/>
              <a:gdLst>
                <a:gd name="T0" fmla="*/ 0 w 89"/>
                <a:gd name="T1" fmla="*/ 20 h 41"/>
                <a:gd name="T2" fmla="*/ 88 w 89"/>
                <a:gd name="T3" fmla="*/ 0 h 41"/>
                <a:gd name="T4" fmla="*/ 88 w 89"/>
                <a:gd name="T5" fmla="*/ 20 h 41"/>
                <a:gd name="T6" fmla="*/ 88 w 89"/>
                <a:gd name="T7" fmla="*/ 40 h 41"/>
                <a:gd name="T8" fmla="*/ 0 w 89"/>
                <a:gd name="T9" fmla="*/ 2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 h="41">
                  <a:moveTo>
                    <a:pt x="0" y="20"/>
                  </a:moveTo>
                  <a:lnTo>
                    <a:pt x="88" y="0"/>
                  </a:lnTo>
                  <a:lnTo>
                    <a:pt x="88" y="20"/>
                  </a:lnTo>
                  <a:lnTo>
                    <a:pt x="88" y="40"/>
                  </a:lnTo>
                  <a:lnTo>
                    <a:pt x="0" y="20"/>
                  </a:lnTo>
                </a:path>
              </a:pathLst>
            </a:custGeom>
            <a:solidFill>
              <a:srgbClr val="000000"/>
            </a:solidFill>
            <a:ln w="25400" cap="rnd" cmpd="sng">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75" name="Line 11"/>
            <p:cNvSpPr>
              <a:spLocks noChangeShapeType="1"/>
            </p:cNvSpPr>
            <p:nvPr/>
          </p:nvSpPr>
          <p:spPr bwMode="auto">
            <a:xfrm>
              <a:off x="3120" y="836"/>
              <a:ext cx="8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grpSp>
      <p:sp>
        <p:nvSpPr>
          <p:cNvPr id="8202" name="Line 12"/>
          <p:cNvSpPr>
            <a:spLocks noChangeShapeType="1"/>
          </p:cNvSpPr>
          <p:nvPr/>
        </p:nvSpPr>
        <p:spPr bwMode="auto">
          <a:xfrm>
            <a:off x="5073650" y="1885950"/>
            <a:ext cx="0" cy="1714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03" name="Freeform 13"/>
          <p:cNvSpPr>
            <a:spLocks/>
          </p:cNvSpPr>
          <p:nvPr/>
        </p:nvSpPr>
        <p:spPr bwMode="auto">
          <a:xfrm>
            <a:off x="4902200" y="2071688"/>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04" name="Freeform 14"/>
          <p:cNvSpPr>
            <a:spLocks/>
          </p:cNvSpPr>
          <p:nvPr/>
        </p:nvSpPr>
        <p:spPr bwMode="auto">
          <a:xfrm>
            <a:off x="4902200" y="2071688"/>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05" name="Line 15"/>
          <p:cNvSpPr>
            <a:spLocks noChangeShapeType="1"/>
          </p:cNvSpPr>
          <p:nvPr/>
        </p:nvSpPr>
        <p:spPr bwMode="auto">
          <a:xfrm flipH="1">
            <a:off x="4191000" y="2265363"/>
            <a:ext cx="6731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06" name="Freeform 16"/>
          <p:cNvSpPr>
            <a:spLocks/>
          </p:cNvSpPr>
          <p:nvPr/>
        </p:nvSpPr>
        <p:spPr bwMode="auto">
          <a:xfrm>
            <a:off x="4013200" y="2457450"/>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07" name="Freeform 17"/>
          <p:cNvSpPr>
            <a:spLocks/>
          </p:cNvSpPr>
          <p:nvPr/>
        </p:nvSpPr>
        <p:spPr bwMode="auto">
          <a:xfrm>
            <a:off x="4013200" y="2457450"/>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08" name="Line 18"/>
          <p:cNvSpPr>
            <a:spLocks noChangeShapeType="1"/>
          </p:cNvSpPr>
          <p:nvPr/>
        </p:nvSpPr>
        <p:spPr bwMode="auto">
          <a:xfrm flipH="1">
            <a:off x="3416300" y="2651125"/>
            <a:ext cx="5969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09" name="Line 19"/>
          <p:cNvSpPr>
            <a:spLocks noChangeShapeType="1"/>
          </p:cNvSpPr>
          <p:nvPr/>
        </p:nvSpPr>
        <p:spPr bwMode="auto">
          <a:xfrm>
            <a:off x="5257800" y="2265363"/>
            <a:ext cx="1003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10" name="Line 20"/>
          <p:cNvSpPr>
            <a:spLocks noChangeShapeType="1"/>
          </p:cNvSpPr>
          <p:nvPr/>
        </p:nvSpPr>
        <p:spPr bwMode="auto">
          <a:xfrm flipV="1">
            <a:off x="4184650" y="2257425"/>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11" name="Rectangle 21"/>
          <p:cNvSpPr>
            <a:spLocks noChangeArrowheads="1"/>
          </p:cNvSpPr>
          <p:nvPr/>
        </p:nvSpPr>
        <p:spPr bwMode="auto">
          <a:xfrm>
            <a:off x="5994400" y="2571750"/>
            <a:ext cx="546100" cy="257175"/>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12" name="Line 22"/>
          <p:cNvSpPr>
            <a:spLocks noChangeShapeType="1"/>
          </p:cNvSpPr>
          <p:nvPr/>
        </p:nvSpPr>
        <p:spPr bwMode="auto">
          <a:xfrm flipV="1">
            <a:off x="6280150" y="2257425"/>
            <a:ext cx="0" cy="30003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13" name="Line 23"/>
          <p:cNvSpPr>
            <a:spLocks noChangeShapeType="1"/>
          </p:cNvSpPr>
          <p:nvPr/>
        </p:nvSpPr>
        <p:spPr bwMode="auto">
          <a:xfrm>
            <a:off x="3422650" y="2657475"/>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14" name="Freeform 24"/>
          <p:cNvSpPr>
            <a:spLocks/>
          </p:cNvSpPr>
          <p:nvPr/>
        </p:nvSpPr>
        <p:spPr bwMode="auto">
          <a:xfrm>
            <a:off x="3238500" y="2871788"/>
            <a:ext cx="344488" cy="201612"/>
          </a:xfrm>
          <a:custGeom>
            <a:avLst/>
            <a:gdLst>
              <a:gd name="T0" fmla="*/ 0 w 217"/>
              <a:gd name="T1" fmla="*/ 356528520 h 113"/>
              <a:gd name="T2" fmla="*/ 28225791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12"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15" name="Freeform 25"/>
          <p:cNvSpPr>
            <a:spLocks/>
          </p:cNvSpPr>
          <p:nvPr/>
        </p:nvSpPr>
        <p:spPr bwMode="auto">
          <a:xfrm>
            <a:off x="3238500" y="2871788"/>
            <a:ext cx="522288" cy="201612"/>
          </a:xfrm>
          <a:custGeom>
            <a:avLst/>
            <a:gdLst>
              <a:gd name="T0" fmla="*/ 0 w 329"/>
              <a:gd name="T1" fmla="*/ 356528520 h 113"/>
              <a:gd name="T2" fmla="*/ 282257770 w 329"/>
              <a:gd name="T3" fmla="*/ 0 h 113"/>
              <a:gd name="T4" fmla="*/ 544354271 w 329"/>
              <a:gd name="T5" fmla="*/ 356528520 h 113"/>
              <a:gd name="T6" fmla="*/ 826612041 w 329"/>
              <a:gd name="T7" fmla="*/ 356528520 h 1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9" h="113">
                <a:moveTo>
                  <a:pt x="0" y="112"/>
                </a:moveTo>
                <a:lnTo>
                  <a:pt x="112" y="0"/>
                </a:lnTo>
                <a:lnTo>
                  <a:pt x="216" y="112"/>
                </a:lnTo>
                <a:lnTo>
                  <a:pt x="328"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16" name="Freeform 26"/>
          <p:cNvSpPr>
            <a:spLocks/>
          </p:cNvSpPr>
          <p:nvPr/>
        </p:nvSpPr>
        <p:spPr bwMode="auto">
          <a:xfrm>
            <a:off x="2984500" y="3071813"/>
            <a:ext cx="230188" cy="315912"/>
          </a:xfrm>
          <a:custGeom>
            <a:avLst/>
            <a:gdLst>
              <a:gd name="T0" fmla="*/ 362903288 w 145"/>
              <a:gd name="T1" fmla="*/ 0 h 177"/>
              <a:gd name="T2" fmla="*/ 0 w 145"/>
              <a:gd name="T3" fmla="*/ 0 h 177"/>
              <a:gd name="T4" fmla="*/ 0 w 145"/>
              <a:gd name="T5" fmla="*/ 560658129 h 177"/>
              <a:gd name="T6" fmla="*/ 0 60000 65536"/>
              <a:gd name="T7" fmla="*/ 0 60000 65536"/>
              <a:gd name="T8" fmla="*/ 0 60000 65536"/>
            </a:gdLst>
            <a:ahLst/>
            <a:cxnLst>
              <a:cxn ang="T6">
                <a:pos x="T0" y="T1"/>
              </a:cxn>
              <a:cxn ang="T7">
                <a:pos x="T2" y="T3"/>
              </a:cxn>
              <a:cxn ang="T8">
                <a:pos x="T4" y="T5"/>
              </a:cxn>
            </a:cxnLst>
            <a:rect l="0" t="0" r="r" b="b"/>
            <a:pathLst>
              <a:path w="145" h="177">
                <a:moveTo>
                  <a:pt x="144" y="0"/>
                </a:moveTo>
                <a:lnTo>
                  <a:pt x="0" y="0"/>
                </a:lnTo>
                <a:lnTo>
                  <a:pt x="0" y="17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17" name="Line 27"/>
          <p:cNvSpPr>
            <a:spLocks noChangeShapeType="1"/>
          </p:cNvSpPr>
          <p:nvPr/>
        </p:nvSpPr>
        <p:spPr bwMode="auto">
          <a:xfrm>
            <a:off x="3765550" y="3086100"/>
            <a:ext cx="0" cy="2857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18" name="Rectangle 28"/>
          <p:cNvSpPr>
            <a:spLocks noChangeArrowheads="1"/>
          </p:cNvSpPr>
          <p:nvPr/>
        </p:nvSpPr>
        <p:spPr bwMode="auto">
          <a:xfrm>
            <a:off x="3479800" y="3429000"/>
            <a:ext cx="546100" cy="271463"/>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19" name="Rectangle 29"/>
          <p:cNvSpPr>
            <a:spLocks noChangeArrowheads="1"/>
          </p:cNvSpPr>
          <p:nvPr/>
        </p:nvSpPr>
        <p:spPr bwMode="auto">
          <a:xfrm>
            <a:off x="2717800" y="3429000"/>
            <a:ext cx="533400" cy="271463"/>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20" name="Line 30"/>
          <p:cNvSpPr>
            <a:spLocks noChangeShapeType="1"/>
          </p:cNvSpPr>
          <p:nvPr/>
        </p:nvSpPr>
        <p:spPr bwMode="auto">
          <a:xfrm>
            <a:off x="2990850" y="37290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21" name="Line 31"/>
          <p:cNvSpPr>
            <a:spLocks noChangeShapeType="1"/>
          </p:cNvSpPr>
          <p:nvPr/>
        </p:nvSpPr>
        <p:spPr bwMode="auto">
          <a:xfrm>
            <a:off x="3765550" y="37290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22" name="Line 32"/>
          <p:cNvSpPr>
            <a:spLocks noChangeShapeType="1"/>
          </p:cNvSpPr>
          <p:nvPr/>
        </p:nvSpPr>
        <p:spPr bwMode="auto">
          <a:xfrm>
            <a:off x="2997200" y="3937000"/>
            <a:ext cx="749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23" name="Line 33"/>
          <p:cNvSpPr>
            <a:spLocks noChangeShapeType="1"/>
          </p:cNvSpPr>
          <p:nvPr/>
        </p:nvSpPr>
        <p:spPr bwMode="auto">
          <a:xfrm>
            <a:off x="4368800" y="2651125"/>
            <a:ext cx="5715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24" name="Freeform 34"/>
          <p:cNvSpPr>
            <a:spLocks/>
          </p:cNvSpPr>
          <p:nvPr/>
        </p:nvSpPr>
        <p:spPr bwMode="auto">
          <a:xfrm>
            <a:off x="4787900" y="2871788"/>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25" name="Freeform 35"/>
          <p:cNvSpPr>
            <a:spLocks/>
          </p:cNvSpPr>
          <p:nvPr/>
        </p:nvSpPr>
        <p:spPr bwMode="auto">
          <a:xfrm>
            <a:off x="4787900" y="2871788"/>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26" name="Freeform 36"/>
          <p:cNvSpPr>
            <a:spLocks/>
          </p:cNvSpPr>
          <p:nvPr/>
        </p:nvSpPr>
        <p:spPr bwMode="auto">
          <a:xfrm>
            <a:off x="4521200" y="3071813"/>
            <a:ext cx="230188" cy="315912"/>
          </a:xfrm>
          <a:custGeom>
            <a:avLst/>
            <a:gdLst>
              <a:gd name="T0" fmla="*/ 362903288 w 145"/>
              <a:gd name="T1" fmla="*/ 0 h 177"/>
              <a:gd name="T2" fmla="*/ 0 w 145"/>
              <a:gd name="T3" fmla="*/ 0 h 177"/>
              <a:gd name="T4" fmla="*/ 0 w 145"/>
              <a:gd name="T5" fmla="*/ 560658129 h 177"/>
              <a:gd name="T6" fmla="*/ 0 60000 65536"/>
              <a:gd name="T7" fmla="*/ 0 60000 65536"/>
              <a:gd name="T8" fmla="*/ 0 60000 65536"/>
            </a:gdLst>
            <a:ahLst/>
            <a:cxnLst>
              <a:cxn ang="T6">
                <a:pos x="T0" y="T1"/>
              </a:cxn>
              <a:cxn ang="T7">
                <a:pos x="T2" y="T3"/>
              </a:cxn>
              <a:cxn ang="T8">
                <a:pos x="T4" y="T5"/>
              </a:cxn>
            </a:cxnLst>
            <a:rect l="0" t="0" r="r" b="b"/>
            <a:pathLst>
              <a:path w="145" h="177">
                <a:moveTo>
                  <a:pt x="144" y="0"/>
                </a:moveTo>
                <a:lnTo>
                  <a:pt x="0" y="0"/>
                </a:lnTo>
                <a:lnTo>
                  <a:pt x="0" y="17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27" name="Line 37"/>
          <p:cNvSpPr>
            <a:spLocks noChangeShapeType="1"/>
          </p:cNvSpPr>
          <p:nvPr/>
        </p:nvSpPr>
        <p:spPr bwMode="auto">
          <a:xfrm>
            <a:off x="5302250" y="3086100"/>
            <a:ext cx="0" cy="2857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28" name="Rectangle 38"/>
          <p:cNvSpPr>
            <a:spLocks noChangeArrowheads="1"/>
          </p:cNvSpPr>
          <p:nvPr/>
        </p:nvSpPr>
        <p:spPr bwMode="auto">
          <a:xfrm>
            <a:off x="5029200" y="3429000"/>
            <a:ext cx="546100" cy="271463"/>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29" name="Rectangle 39"/>
          <p:cNvSpPr>
            <a:spLocks noChangeArrowheads="1"/>
          </p:cNvSpPr>
          <p:nvPr/>
        </p:nvSpPr>
        <p:spPr bwMode="auto">
          <a:xfrm>
            <a:off x="4254500" y="3429000"/>
            <a:ext cx="546100" cy="271463"/>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30" name="Line 40"/>
          <p:cNvSpPr>
            <a:spLocks noChangeShapeType="1"/>
          </p:cNvSpPr>
          <p:nvPr/>
        </p:nvSpPr>
        <p:spPr bwMode="auto">
          <a:xfrm>
            <a:off x="4527550" y="37290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1" name="Line 41"/>
          <p:cNvSpPr>
            <a:spLocks noChangeShapeType="1"/>
          </p:cNvSpPr>
          <p:nvPr/>
        </p:nvSpPr>
        <p:spPr bwMode="auto">
          <a:xfrm>
            <a:off x="5302250" y="37290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2" name="Line 42"/>
          <p:cNvSpPr>
            <a:spLocks noChangeShapeType="1"/>
          </p:cNvSpPr>
          <p:nvPr/>
        </p:nvSpPr>
        <p:spPr bwMode="auto">
          <a:xfrm>
            <a:off x="4940300" y="3937000"/>
            <a:ext cx="3429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3" name="Line 43"/>
          <p:cNvSpPr>
            <a:spLocks noChangeShapeType="1"/>
          </p:cNvSpPr>
          <p:nvPr/>
        </p:nvSpPr>
        <p:spPr bwMode="auto">
          <a:xfrm>
            <a:off x="4959350" y="2657475"/>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4" name="Line 44"/>
          <p:cNvSpPr>
            <a:spLocks noChangeShapeType="1"/>
          </p:cNvSpPr>
          <p:nvPr/>
        </p:nvSpPr>
        <p:spPr bwMode="auto">
          <a:xfrm>
            <a:off x="4533900" y="3937000"/>
            <a:ext cx="3810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5" name="Oval 45"/>
          <p:cNvSpPr>
            <a:spLocks noChangeArrowheads="1"/>
          </p:cNvSpPr>
          <p:nvPr/>
        </p:nvSpPr>
        <p:spPr bwMode="auto">
          <a:xfrm>
            <a:off x="4876800" y="3914775"/>
            <a:ext cx="38100" cy="42863"/>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36" name="Oval 46"/>
          <p:cNvSpPr>
            <a:spLocks noChangeArrowheads="1"/>
          </p:cNvSpPr>
          <p:nvPr/>
        </p:nvSpPr>
        <p:spPr bwMode="auto">
          <a:xfrm>
            <a:off x="3340100" y="3914775"/>
            <a:ext cx="25400" cy="42863"/>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37" name="Line 47"/>
          <p:cNvSpPr>
            <a:spLocks noChangeShapeType="1"/>
          </p:cNvSpPr>
          <p:nvPr/>
        </p:nvSpPr>
        <p:spPr bwMode="auto">
          <a:xfrm>
            <a:off x="4908550" y="3943350"/>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8" name="Line 48"/>
          <p:cNvSpPr>
            <a:spLocks noChangeShapeType="1"/>
          </p:cNvSpPr>
          <p:nvPr/>
        </p:nvSpPr>
        <p:spPr bwMode="auto">
          <a:xfrm flipH="1">
            <a:off x="4241800" y="4165600"/>
            <a:ext cx="622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39" name="Line 49"/>
          <p:cNvSpPr>
            <a:spLocks noChangeShapeType="1"/>
          </p:cNvSpPr>
          <p:nvPr/>
        </p:nvSpPr>
        <p:spPr bwMode="auto">
          <a:xfrm>
            <a:off x="3365500" y="4165600"/>
            <a:ext cx="8382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40" name="Oval 50"/>
          <p:cNvSpPr>
            <a:spLocks noChangeArrowheads="1"/>
          </p:cNvSpPr>
          <p:nvPr/>
        </p:nvSpPr>
        <p:spPr bwMode="auto">
          <a:xfrm>
            <a:off x="4191000" y="4143375"/>
            <a:ext cx="38100" cy="28575"/>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41" name="Freeform 51"/>
          <p:cNvSpPr>
            <a:spLocks/>
          </p:cNvSpPr>
          <p:nvPr/>
        </p:nvSpPr>
        <p:spPr bwMode="auto">
          <a:xfrm>
            <a:off x="4216400" y="4186238"/>
            <a:ext cx="534988" cy="230187"/>
          </a:xfrm>
          <a:custGeom>
            <a:avLst/>
            <a:gdLst>
              <a:gd name="T0" fmla="*/ 0 w 337"/>
              <a:gd name="T1" fmla="*/ 0 h 129"/>
              <a:gd name="T2" fmla="*/ 0 w 337"/>
              <a:gd name="T3" fmla="*/ 407561251 h 129"/>
              <a:gd name="T4" fmla="*/ 846773291 w 337"/>
              <a:gd name="T5" fmla="*/ 407561251 h 129"/>
              <a:gd name="T6" fmla="*/ 0 60000 65536"/>
              <a:gd name="T7" fmla="*/ 0 60000 65536"/>
              <a:gd name="T8" fmla="*/ 0 60000 65536"/>
            </a:gdLst>
            <a:ahLst/>
            <a:cxnLst>
              <a:cxn ang="T6">
                <a:pos x="T0" y="T1"/>
              </a:cxn>
              <a:cxn ang="T7">
                <a:pos x="T2" y="T3"/>
              </a:cxn>
              <a:cxn ang="T8">
                <a:pos x="T4" y="T5"/>
              </a:cxn>
            </a:cxnLst>
            <a:rect l="0" t="0" r="r" b="b"/>
            <a:pathLst>
              <a:path w="337" h="129">
                <a:moveTo>
                  <a:pt x="0" y="0"/>
                </a:moveTo>
                <a:lnTo>
                  <a:pt x="0" y="128"/>
                </a:lnTo>
                <a:lnTo>
                  <a:pt x="336" y="12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42" name="Oval 52"/>
          <p:cNvSpPr>
            <a:spLocks noChangeArrowheads="1"/>
          </p:cNvSpPr>
          <p:nvPr/>
        </p:nvSpPr>
        <p:spPr bwMode="auto">
          <a:xfrm>
            <a:off x="4737100" y="4400550"/>
            <a:ext cx="38100" cy="28575"/>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43" name="Line 53"/>
          <p:cNvSpPr>
            <a:spLocks noChangeShapeType="1"/>
          </p:cNvSpPr>
          <p:nvPr/>
        </p:nvSpPr>
        <p:spPr bwMode="auto">
          <a:xfrm>
            <a:off x="6280150" y="2857500"/>
            <a:ext cx="0" cy="15430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44" name="Line 54"/>
          <p:cNvSpPr>
            <a:spLocks noChangeShapeType="1"/>
          </p:cNvSpPr>
          <p:nvPr/>
        </p:nvSpPr>
        <p:spPr bwMode="auto">
          <a:xfrm>
            <a:off x="4800600" y="4422775"/>
            <a:ext cx="14605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45" name="Freeform 55"/>
          <p:cNvSpPr>
            <a:spLocks/>
          </p:cNvSpPr>
          <p:nvPr/>
        </p:nvSpPr>
        <p:spPr bwMode="auto">
          <a:xfrm>
            <a:off x="4584700" y="4672013"/>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46" name="Freeform 56"/>
          <p:cNvSpPr>
            <a:spLocks/>
          </p:cNvSpPr>
          <p:nvPr/>
        </p:nvSpPr>
        <p:spPr bwMode="auto">
          <a:xfrm>
            <a:off x="4584700" y="4672013"/>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47" name="Line 57"/>
          <p:cNvSpPr>
            <a:spLocks noChangeShapeType="1"/>
          </p:cNvSpPr>
          <p:nvPr/>
        </p:nvSpPr>
        <p:spPr bwMode="auto">
          <a:xfrm flipV="1">
            <a:off x="4756150" y="4414838"/>
            <a:ext cx="0" cy="25717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8248" name="Freeform 58"/>
          <p:cNvSpPr>
            <a:spLocks/>
          </p:cNvSpPr>
          <p:nvPr/>
        </p:nvSpPr>
        <p:spPr bwMode="auto">
          <a:xfrm>
            <a:off x="4927600" y="1714500"/>
            <a:ext cx="1970088" cy="3159125"/>
          </a:xfrm>
          <a:custGeom>
            <a:avLst/>
            <a:gdLst>
              <a:gd name="T0" fmla="*/ 0 w 1241"/>
              <a:gd name="T1" fmla="*/ 2147483647 h 1769"/>
              <a:gd name="T2" fmla="*/ 2147483647 w 1241"/>
              <a:gd name="T3" fmla="*/ 2147483647 h 1769"/>
              <a:gd name="T4" fmla="*/ 2147483647 w 1241"/>
              <a:gd name="T5" fmla="*/ 0 h 1769"/>
              <a:gd name="T6" fmla="*/ 0 60000 65536"/>
              <a:gd name="T7" fmla="*/ 0 60000 65536"/>
              <a:gd name="T8" fmla="*/ 0 60000 65536"/>
            </a:gdLst>
            <a:ahLst/>
            <a:cxnLst>
              <a:cxn ang="T6">
                <a:pos x="T0" y="T1"/>
              </a:cxn>
              <a:cxn ang="T7">
                <a:pos x="T2" y="T3"/>
              </a:cxn>
              <a:cxn ang="T8">
                <a:pos x="T4" y="T5"/>
              </a:cxn>
            </a:cxnLst>
            <a:rect l="0" t="0" r="r" b="b"/>
            <a:pathLst>
              <a:path w="1241" h="1769">
                <a:moveTo>
                  <a:pt x="0" y="1768"/>
                </a:moveTo>
                <a:lnTo>
                  <a:pt x="1240" y="1768"/>
                </a:lnTo>
                <a:lnTo>
                  <a:pt x="124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grpSp>
        <p:nvGrpSpPr>
          <p:cNvPr id="8249" name="Group 59"/>
          <p:cNvGrpSpPr>
            <a:grpSpLocks/>
          </p:cNvGrpSpPr>
          <p:nvPr/>
        </p:nvGrpSpPr>
        <p:grpSpPr bwMode="auto">
          <a:xfrm>
            <a:off x="4711700" y="5072063"/>
            <a:ext cx="65088" cy="230187"/>
            <a:chOff x="2608" y="2712"/>
            <a:chExt cx="41" cy="129"/>
          </a:xfrm>
        </p:grpSpPr>
        <p:sp>
          <p:nvSpPr>
            <p:cNvPr id="8272" name="Freeform 60"/>
            <p:cNvSpPr>
              <a:spLocks/>
            </p:cNvSpPr>
            <p:nvPr/>
          </p:nvSpPr>
          <p:spPr bwMode="auto">
            <a:xfrm>
              <a:off x="2608" y="2752"/>
              <a:ext cx="41" cy="89"/>
            </a:xfrm>
            <a:custGeom>
              <a:avLst/>
              <a:gdLst>
                <a:gd name="T0" fmla="*/ 20 w 41"/>
                <a:gd name="T1" fmla="*/ 88 h 89"/>
                <a:gd name="T2" fmla="*/ 0 w 41"/>
                <a:gd name="T3" fmla="*/ 0 h 89"/>
                <a:gd name="T4" fmla="*/ 20 w 41"/>
                <a:gd name="T5" fmla="*/ 0 h 89"/>
                <a:gd name="T6" fmla="*/ 40 w 41"/>
                <a:gd name="T7" fmla="*/ 0 h 89"/>
                <a:gd name="T8" fmla="*/ 20 w 41"/>
                <a:gd name="T9" fmla="*/ 88 h 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89">
                  <a:moveTo>
                    <a:pt x="20" y="88"/>
                  </a:moveTo>
                  <a:lnTo>
                    <a:pt x="0" y="0"/>
                  </a:lnTo>
                  <a:lnTo>
                    <a:pt x="20" y="0"/>
                  </a:lnTo>
                  <a:lnTo>
                    <a:pt x="40" y="0"/>
                  </a:lnTo>
                  <a:lnTo>
                    <a:pt x="20" y="88"/>
                  </a:lnTo>
                </a:path>
              </a:pathLst>
            </a:custGeom>
            <a:solidFill>
              <a:srgbClr val="000000"/>
            </a:solidFill>
            <a:ln w="25400" cap="rnd" cmpd="sng">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73" name="Line 61"/>
            <p:cNvSpPr>
              <a:spLocks noChangeShapeType="1"/>
            </p:cNvSpPr>
            <p:nvPr/>
          </p:nvSpPr>
          <p:spPr bwMode="auto">
            <a:xfrm>
              <a:off x="2636" y="2712"/>
              <a:ext cx="0" cy="3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grpSp>
      <p:sp>
        <p:nvSpPr>
          <p:cNvPr id="8250" name="Line 62"/>
          <p:cNvSpPr>
            <a:spLocks noChangeShapeType="1"/>
          </p:cNvSpPr>
          <p:nvPr/>
        </p:nvSpPr>
        <p:spPr bwMode="auto">
          <a:xfrm flipV="1">
            <a:off x="4756150" y="5057775"/>
            <a:ext cx="0" cy="12858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76191" name="Rectangle 63"/>
          <p:cNvSpPr>
            <a:spLocks noChangeArrowheads="1"/>
          </p:cNvSpPr>
          <p:nvPr/>
        </p:nvSpPr>
        <p:spPr bwMode="auto">
          <a:xfrm>
            <a:off x="6950075" y="3538538"/>
            <a:ext cx="1258888" cy="3333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sz="1600" b="1">
                <a:effectLst>
                  <a:outerShdw blurRad="38100" dist="38100" dir="2700000" algn="tl">
                    <a:srgbClr val="FFFFFF"/>
                  </a:outerShdw>
                </a:effectLst>
                <a:latin typeface="Helvetica" pitchFamily="-128" charset="0"/>
                <a:ea typeface="ＭＳ Ｐゴシック" pitchFamily="-128" charset="-128"/>
              </a:rPr>
              <a:t>loop &lt; 20 X</a:t>
            </a:r>
          </a:p>
        </p:txBody>
      </p:sp>
      <p:sp>
        <p:nvSpPr>
          <p:cNvPr id="8252" name="Freeform 64"/>
          <p:cNvSpPr>
            <a:spLocks/>
          </p:cNvSpPr>
          <p:nvPr/>
        </p:nvSpPr>
        <p:spPr bwMode="auto">
          <a:xfrm>
            <a:off x="4902200" y="2257425"/>
            <a:ext cx="344488" cy="201613"/>
          </a:xfrm>
          <a:custGeom>
            <a:avLst/>
            <a:gdLst>
              <a:gd name="T0" fmla="*/ 0 w 217"/>
              <a:gd name="T1" fmla="*/ 0 h 113"/>
              <a:gd name="T2" fmla="*/ 262096630 w 217"/>
              <a:gd name="T3" fmla="*/ 356532072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3" name="Freeform 65"/>
          <p:cNvSpPr>
            <a:spLocks/>
          </p:cNvSpPr>
          <p:nvPr/>
        </p:nvSpPr>
        <p:spPr bwMode="auto">
          <a:xfrm>
            <a:off x="4902200" y="2257425"/>
            <a:ext cx="344488" cy="201613"/>
          </a:xfrm>
          <a:custGeom>
            <a:avLst/>
            <a:gdLst>
              <a:gd name="T0" fmla="*/ 0 w 217"/>
              <a:gd name="T1" fmla="*/ 0 h 113"/>
              <a:gd name="T2" fmla="*/ 262096630 w 217"/>
              <a:gd name="T3" fmla="*/ 356532072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4" name="Freeform 66"/>
          <p:cNvSpPr>
            <a:spLocks/>
          </p:cNvSpPr>
          <p:nvPr/>
        </p:nvSpPr>
        <p:spPr bwMode="auto">
          <a:xfrm>
            <a:off x="4013200" y="2643188"/>
            <a:ext cx="344488" cy="201612"/>
          </a:xfrm>
          <a:custGeom>
            <a:avLst/>
            <a:gdLst>
              <a:gd name="T0" fmla="*/ 0 w 217"/>
              <a:gd name="T1" fmla="*/ 0 h 113"/>
              <a:gd name="T2" fmla="*/ 262096630 w 217"/>
              <a:gd name="T3" fmla="*/ 356528520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5" name="Freeform 67"/>
          <p:cNvSpPr>
            <a:spLocks/>
          </p:cNvSpPr>
          <p:nvPr/>
        </p:nvSpPr>
        <p:spPr bwMode="auto">
          <a:xfrm>
            <a:off x="4013200" y="2643188"/>
            <a:ext cx="344488" cy="201612"/>
          </a:xfrm>
          <a:custGeom>
            <a:avLst/>
            <a:gdLst>
              <a:gd name="T0" fmla="*/ 0 w 217"/>
              <a:gd name="T1" fmla="*/ 0 h 113"/>
              <a:gd name="T2" fmla="*/ 262096630 w 217"/>
              <a:gd name="T3" fmla="*/ 356528520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6" name="Freeform 68"/>
          <p:cNvSpPr>
            <a:spLocks/>
          </p:cNvSpPr>
          <p:nvPr/>
        </p:nvSpPr>
        <p:spPr bwMode="auto">
          <a:xfrm>
            <a:off x="3238500" y="3071813"/>
            <a:ext cx="344488" cy="187325"/>
          </a:xfrm>
          <a:custGeom>
            <a:avLst/>
            <a:gdLst>
              <a:gd name="T0" fmla="*/ 0 w 217"/>
              <a:gd name="T1" fmla="*/ 0 h 105"/>
              <a:gd name="T2" fmla="*/ 28225791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12"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7" name="Freeform 69"/>
          <p:cNvSpPr>
            <a:spLocks/>
          </p:cNvSpPr>
          <p:nvPr/>
        </p:nvSpPr>
        <p:spPr bwMode="auto">
          <a:xfrm>
            <a:off x="3238500" y="3071813"/>
            <a:ext cx="344488" cy="187325"/>
          </a:xfrm>
          <a:custGeom>
            <a:avLst/>
            <a:gdLst>
              <a:gd name="T0" fmla="*/ 0 w 217"/>
              <a:gd name="T1" fmla="*/ 0 h 105"/>
              <a:gd name="T2" fmla="*/ 28225791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12"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8" name="Freeform 70"/>
          <p:cNvSpPr>
            <a:spLocks/>
          </p:cNvSpPr>
          <p:nvPr/>
        </p:nvSpPr>
        <p:spPr bwMode="auto">
          <a:xfrm>
            <a:off x="4787900" y="3071813"/>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59" name="Freeform 71"/>
          <p:cNvSpPr>
            <a:spLocks/>
          </p:cNvSpPr>
          <p:nvPr/>
        </p:nvSpPr>
        <p:spPr bwMode="auto">
          <a:xfrm>
            <a:off x="4787900" y="3071813"/>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60" name="Freeform 72"/>
          <p:cNvSpPr>
            <a:spLocks/>
          </p:cNvSpPr>
          <p:nvPr/>
        </p:nvSpPr>
        <p:spPr bwMode="auto">
          <a:xfrm>
            <a:off x="4584700" y="4872038"/>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61" name="Freeform 73"/>
          <p:cNvSpPr>
            <a:spLocks/>
          </p:cNvSpPr>
          <p:nvPr/>
        </p:nvSpPr>
        <p:spPr bwMode="auto">
          <a:xfrm>
            <a:off x="4584700" y="4872038"/>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8262" name="Line 74"/>
          <p:cNvSpPr>
            <a:spLocks noChangeShapeType="1"/>
          </p:cNvSpPr>
          <p:nvPr/>
        </p:nvSpPr>
        <p:spPr bwMode="auto">
          <a:xfrm>
            <a:off x="5143500" y="3079750"/>
            <a:ext cx="114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76203" name="Rectangle 75"/>
          <p:cNvSpPr>
            <a:spLocks noChangeArrowheads="1"/>
          </p:cNvSpPr>
          <p:nvPr/>
        </p:nvSpPr>
        <p:spPr bwMode="auto">
          <a:xfrm>
            <a:off x="228601" y="5307037"/>
            <a:ext cx="8382000" cy="1474763"/>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square" lIns="90487" tIns="44450" rIns="90487" bIns="44450">
            <a:spAutoFit/>
          </a:bodyPr>
          <a:lstStyle/>
          <a:p>
            <a:pPr>
              <a:defRPr/>
            </a:pPr>
            <a:r>
              <a:rPr lang="en-US" sz="1800" b="1" dirty="0">
                <a:effectLst>
                  <a:outerShdw blurRad="38100" dist="38100" dir="2700000" algn="tl">
                    <a:srgbClr val="FFFFFF"/>
                  </a:outerShdw>
                </a:effectLst>
                <a:latin typeface="Helvetica" pitchFamily="-128" charset="0"/>
                <a:ea typeface="ＭＳ Ｐゴシック" pitchFamily="-128" charset="-128"/>
              </a:rPr>
              <a:t>There are 10</a:t>
            </a:r>
            <a:r>
              <a:rPr lang="en-US" sz="1800" b="1" baseline="30000" dirty="0">
                <a:effectLst>
                  <a:outerShdw blurRad="38100" dist="38100" dir="2700000" algn="tl">
                    <a:srgbClr val="FFFFFF"/>
                  </a:outerShdw>
                </a:effectLst>
                <a:latin typeface="Helvetica" pitchFamily="-128" charset="0"/>
                <a:ea typeface="ＭＳ Ｐゴシック" pitchFamily="-128" charset="-128"/>
              </a:rPr>
              <a:t>14</a:t>
            </a:r>
            <a:r>
              <a:rPr lang="en-US" sz="1800" b="1" dirty="0">
                <a:effectLst>
                  <a:outerShdw blurRad="38100" dist="38100" dir="2700000" algn="tl">
                    <a:srgbClr val="FFFFFF"/>
                  </a:outerShdw>
                </a:effectLst>
                <a:latin typeface="Helvetica" pitchFamily="-128" charset="0"/>
                <a:ea typeface="ＭＳ Ｐゴシック" pitchFamily="-128" charset="-128"/>
              </a:rPr>
              <a:t>   possible paths! If we execute </a:t>
            </a:r>
            <a:r>
              <a:rPr lang="en-US" b="1" dirty="0">
                <a:effectLst>
                  <a:outerShdw blurRad="38100" dist="38100" dir="2700000" algn="tl">
                    <a:srgbClr val="FFFFFF"/>
                  </a:outerShdw>
                </a:effectLst>
                <a:latin typeface="Helvetica" pitchFamily="-128" charset="0"/>
                <a:ea typeface="ＭＳ Ｐゴシック" pitchFamily="-128" charset="-128"/>
              </a:rPr>
              <a:t>one test per millisecond, it would take 3,170 years to</a:t>
            </a:r>
          </a:p>
          <a:p>
            <a:pPr>
              <a:defRPr/>
            </a:pPr>
            <a:endParaRPr lang="en-US" b="1" dirty="0">
              <a:effectLst>
                <a:outerShdw blurRad="38100" dist="38100" dir="2700000" algn="tl">
                  <a:srgbClr val="FFFFFF"/>
                </a:outerShdw>
              </a:effectLst>
              <a:latin typeface="Helvetica" pitchFamily="-128" charset="0"/>
              <a:ea typeface="ＭＳ Ｐゴシック" pitchFamily="-128" charset="-128"/>
            </a:endParaRPr>
          </a:p>
          <a:p>
            <a:pPr>
              <a:defRPr/>
            </a:pPr>
            <a:endParaRPr lang="en-US" sz="1800" b="1" dirty="0">
              <a:effectLst>
                <a:outerShdw blurRad="38100" dist="38100" dir="2700000" algn="tl">
                  <a:srgbClr val="FFFFFF"/>
                </a:outerShdw>
              </a:effectLst>
              <a:latin typeface="Helvetica" pitchFamily="-128" charset="0"/>
              <a:ea typeface="ＭＳ Ｐゴシック" pitchFamily="-128" charset="-128"/>
            </a:endParaRPr>
          </a:p>
          <a:p>
            <a:pPr>
              <a:defRPr/>
            </a:pP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76205" name="Rectangle 77"/>
          <p:cNvSpPr>
            <a:spLocks noChangeArrowheads="1"/>
          </p:cNvSpPr>
          <p:nvPr/>
        </p:nvSpPr>
        <p:spPr bwMode="auto">
          <a:xfrm>
            <a:off x="2360613" y="5867400"/>
            <a:ext cx="22002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sz="1800" b="1" dirty="0">
                <a:effectLst>
                  <a:outerShdw blurRad="38100" dist="38100" dir="2700000" algn="tl">
                    <a:srgbClr val="FFFFFF"/>
                  </a:outerShdw>
                </a:effectLst>
                <a:latin typeface="Helvetica" pitchFamily="-128" charset="0"/>
                <a:ea typeface="ＭＳ Ｐゴシック" pitchFamily="-128" charset="-128"/>
              </a:rPr>
              <a:t>test this program!!</a:t>
            </a:r>
          </a:p>
        </p:txBody>
      </p:sp>
      <p:sp>
        <p:nvSpPr>
          <p:cNvPr id="8267" name="AutoShape 79"/>
          <p:cNvSpPr>
            <a:spLocks noChangeArrowheads="1"/>
          </p:cNvSpPr>
          <p:nvPr/>
        </p:nvSpPr>
        <p:spPr bwMode="auto">
          <a:xfrm>
            <a:off x="4851400" y="2028825"/>
            <a:ext cx="419100" cy="428625"/>
          </a:xfrm>
          <a:prstGeom prst="diamond">
            <a:avLst/>
          </a:prstGeom>
          <a:solidFill>
            <a:schemeClr val="tx2"/>
          </a:solidFill>
          <a:ln>
            <a:noFill/>
          </a:ln>
          <a:effectLst/>
          <a:extLs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68" name="AutoShape 80"/>
          <p:cNvSpPr>
            <a:spLocks noChangeArrowheads="1"/>
          </p:cNvSpPr>
          <p:nvPr/>
        </p:nvSpPr>
        <p:spPr bwMode="auto">
          <a:xfrm>
            <a:off x="3962400" y="2428875"/>
            <a:ext cx="419100" cy="428625"/>
          </a:xfrm>
          <a:prstGeom prst="diamond">
            <a:avLst/>
          </a:prstGeom>
          <a:solidFill>
            <a:schemeClr val="tx2"/>
          </a:solidFill>
          <a:ln>
            <a:noFill/>
          </a:ln>
          <a:effectLst/>
          <a:extLs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69" name="AutoShape 81"/>
          <p:cNvSpPr>
            <a:spLocks noChangeArrowheads="1"/>
          </p:cNvSpPr>
          <p:nvPr/>
        </p:nvSpPr>
        <p:spPr bwMode="auto">
          <a:xfrm>
            <a:off x="3187700" y="2843213"/>
            <a:ext cx="419100" cy="428625"/>
          </a:xfrm>
          <a:prstGeom prst="diamond">
            <a:avLst/>
          </a:prstGeom>
          <a:solidFill>
            <a:schemeClr val="tx2"/>
          </a:solidFill>
          <a:ln>
            <a:noFill/>
          </a:ln>
          <a:effectLst/>
          <a:extLs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70" name="AutoShape 82"/>
          <p:cNvSpPr>
            <a:spLocks noChangeArrowheads="1"/>
          </p:cNvSpPr>
          <p:nvPr/>
        </p:nvSpPr>
        <p:spPr bwMode="auto">
          <a:xfrm>
            <a:off x="4737100" y="2843213"/>
            <a:ext cx="419100" cy="428625"/>
          </a:xfrm>
          <a:prstGeom prst="diamond">
            <a:avLst/>
          </a:prstGeom>
          <a:solidFill>
            <a:schemeClr val="tx2"/>
          </a:solidFill>
          <a:ln>
            <a:noFill/>
          </a:ln>
          <a:effectLst/>
          <a:extLs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8271" name="AutoShape 83"/>
          <p:cNvSpPr>
            <a:spLocks noChangeArrowheads="1"/>
          </p:cNvSpPr>
          <p:nvPr/>
        </p:nvSpPr>
        <p:spPr bwMode="auto">
          <a:xfrm>
            <a:off x="4521200" y="4643438"/>
            <a:ext cx="419100" cy="428625"/>
          </a:xfrm>
          <a:prstGeom prst="diamond">
            <a:avLst/>
          </a:prstGeom>
          <a:solidFill>
            <a:schemeClr val="tx2"/>
          </a:solidFill>
          <a:ln>
            <a:noFill/>
          </a:ln>
          <a:effectLst/>
          <a:extLs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Tree>
    <p:extLst>
      <p:ext uri="{BB962C8B-B14F-4D97-AF65-F5344CB8AC3E}">
        <p14:creationId xmlns:p14="http://schemas.microsoft.com/office/powerpoint/2010/main" val="372850424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a:xfrm>
            <a:off x="1697038" y="1201738"/>
            <a:ext cx="5794375" cy="166687"/>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Selective Testing</a:t>
            </a:r>
          </a:p>
        </p:txBody>
      </p:sp>
      <p:sp>
        <p:nvSpPr>
          <p:cNvPr id="81" name="Slide Number Placeholder 4"/>
          <p:cNvSpPr>
            <a:spLocks noGrp="1"/>
          </p:cNvSpPr>
          <p:nvPr>
            <p:ph type="sldNum" sz="quarter" idx="12"/>
          </p:nvPr>
        </p:nvSpPr>
        <p:spPr>
          <a:prstGeom prst="rect">
            <a:avLst/>
          </a:prstGeom>
        </p:spPr>
        <p:txBody>
          <a:bodyPr/>
          <a:lstStyle/>
          <a:p>
            <a:pPr>
              <a:defRPr/>
            </a:pPr>
            <a:fld id="{59C56F23-1600-4CF0-90BD-2B19F335AA64}" type="slidenum">
              <a:rPr lang="en-US"/>
              <a:pPr>
                <a:defRPr/>
              </a:pPr>
              <a:t>5</a:t>
            </a:fld>
            <a:endParaRPr lang="en-US"/>
          </a:p>
        </p:txBody>
      </p:sp>
      <p:sp>
        <p:nvSpPr>
          <p:cNvPr id="80"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9221" name="Line 3"/>
          <p:cNvSpPr>
            <a:spLocks noChangeShapeType="1"/>
          </p:cNvSpPr>
          <p:nvPr/>
        </p:nvSpPr>
        <p:spPr bwMode="auto">
          <a:xfrm>
            <a:off x="3130550" y="4643438"/>
            <a:ext cx="0" cy="171450"/>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22" name="Line 4"/>
          <p:cNvSpPr>
            <a:spLocks noChangeShapeType="1"/>
          </p:cNvSpPr>
          <p:nvPr/>
        </p:nvSpPr>
        <p:spPr bwMode="auto">
          <a:xfrm>
            <a:off x="4854575" y="1954213"/>
            <a:ext cx="0" cy="261937"/>
          </a:xfrm>
          <a:prstGeom prst="line">
            <a:avLst/>
          </a:prstGeom>
          <a:noFill/>
          <a:ln w="254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23" name="Rectangle 5"/>
          <p:cNvSpPr>
            <a:spLocks noChangeArrowheads="1"/>
          </p:cNvSpPr>
          <p:nvPr/>
        </p:nvSpPr>
        <p:spPr bwMode="auto">
          <a:xfrm>
            <a:off x="4572000" y="2286000"/>
            <a:ext cx="546100" cy="257175"/>
          </a:xfrm>
          <a:prstGeom prst="rect">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nvGrpSpPr>
          <p:cNvPr id="9224" name="Group 6"/>
          <p:cNvGrpSpPr>
            <a:grpSpLocks/>
          </p:cNvGrpSpPr>
          <p:nvPr/>
        </p:nvGrpSpPr>
        <p:grpSpPr bwMode="auto">
          <a:xfrm>
            <a:off x="5130800" y="2357438"/>
            <a:ext cx="1524000" cy="73025"/>
            <a:chOff x="2976" y="1152"/>
            <a:chExt cx="960" cy="41"/>
          </a:xfrm>
        </p:grpSpPr>
        <p:sp>
          <p:nvSpPr>
            <p:cNvPr id="9296" name="Freeform 7"/>
            <p:cNvSpPr>
              <a:spLocks/>
            </p:cNvSpPr>
            <p:nvPr/>
          </p:nvSpPr>
          <p:spPr bwMode="auto">
            <a:xfrm>
              <a:off x="2976" y="1152"/>
              <a:ext cx="89" cy="41"/>
            </a:xfrm>
            <a:custGeom>
              <a:avLst/>
              <a:gdLst>
                <a:gd name="T0" fmla="*/ 0 w 89"/>
                <a:gd name="T1" fmla="*/ 20 h 41"/>
                <a:gd name="T2" fmla="*/ 88 w 89"/>
                <a:gd name="T3" fmla="*/ 0 h 41"/>
                <a:gd name="T4" fmla="*/ 88 w 89"/>
                <a:gd name="T5" fmla="*/ 20 h 41"/>
                <a:gd name="T6" fmla="*/ 88 w 89"/>
                <a:gd name="T7" fmla="*/ 40 h 41"/>
                <a:gd name="T8" fmla="*/ 0 w 89"/>
                <a:gd name="T9" fmla="*/ 2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9" h="41">
                  <a:moveTo>
                    <a:pt x="0" y="20"/>
                  </a:moveTo>
                  <a:lnTo>
                    <a:pt x="88" y="0"/>
                  </a:lnTo>
                  <a:lnTo>
                    <a:pt x="88" y="20"/>
                  </a:lnTo>
                  <a:lnTo>
                    <a:pt x="88" y="40"/>
                  </a:lnTo>
                  <a:lnTo>
                    <a:pt x="0" y="20"/>
                  </a:lnTo>
                </a:path>
              </a:pathLst>
            </a:custGeom>
            <a:solidFill>
              <a:srgbClr val="000000"/>
            </a:solidFill>
            <a:ln w="25400" cap="rnd" cmpd="sng">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97" name="Line 8"/>
            <p:cNvSpPr>
              <a:spLocks noChangeShapeType="1"/>
            </p:cNvSpPr>
            <p:nvPr/>
          </p:nvSpPr>
          <p:spPr bwMode="auto">
            <a:xfrm>
              <a:off x="3080" y="1180"/>
              <a:ext cx="8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grpSp>
      <p:sp>
        <p:nvSpPr>
          <p:cNvPr id="9225" name="Line 9"/>
          <p:cNvSpPr>
            <a:spLocks noChangeShapeType="1"/>
          </p:cNvSpPr>
          <p:nvPr/>
        </p:nvSpPr>
        <p:spPr bwMode="auto">
          <a:xfrm>
            <a:off x="4845050" y="2586038"/>
            <a:ext cx="0" cy="142875"/>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26" name="Freeform 10"/>
          <p:cNvSpPr>
            <a:spLocks/>
          </p:cNvSpPr>
          <p:nvPr/>
        </p:nvSpPr>
        <p:spPr bwMode="auto">
          <a:xfrm>
            <a:off x="4673600" y="2757488"/>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27" name="Freeform 11"/>
          <p:cNvSpPr>
            <a:spLocks/>
          </p:cNvSpPr>
          <p:nvPr/>
        </p:nvSpPr>
        <p:spPr bwMode="auto">
          <a:xfrm>
            <a:off x="4673600" y="2757488"/>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28" name="Line 12"/>
          <p:cNvSpPr>
            <a:spLocks noChangeShapeType="1"/>
          </p:cNvSpPr>
          <p:nvPr/>
        </p:nvSpPr>
        <p:spPr bwMode="auto">
          <a:xfrm flipH="1">
            <a:off x="3962400" y="2951163"/>
            <a:ext cx="673100" cy="0"/>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29" name="Freeform 13"/>
          <p:cNvSpPr>
            <a:spLocks/>
          </p:cNvSpPr>
          <p:nvPr/>
        </p:nvSpPr>
        <p:spPr bwMode="auto">
          <a:xfrm>
            <a:off x="3784600" y="3143250"/>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30" name="Freeform 14"/>
          <p:cNvSpPr>
            <a:spLocks/>
          </p:cNvSpPr>
          <p:nvPr/>
        </p:nvSpPr>
        <p:spPr bwMode="auto">
          <a:xfrm>
            <a:off x="3784600" y="3143250"/>
            <a:ext cx="344488" cy="187325"/>
          </a:xfrm>
          <a:custGeom>
            <a:avLst/>
            <a:gdLst>
              <a:gd name="T0" fmla="*/ 0 w 217"/>
              <a:gd name="T1" fmla="*/ 331013979 h 105"/>
              <a:gd name="T2" fmla="*/ 262096630 w 217"/>
              <a:gd name="T3" fmla="*/ 0 h 105"/>
              <a:gd name="T4" fmla="*/ 544354540 w 217"/>
              <a:gd name="T5" fmla="*/ 331013979 h 105"/>
              <a:gd name="T6" fmla="*/ 0 60000 65536"/>
              <a:gd name="T7" fmla="*/ 0 60000 65536"/>
              <a:gd name="T8" fmla="*/ 0 60000 65536"/>
            </a:gdLst>
            <a:ahLst/>
            <a:cxnLst>
              <a:cxn ang="T6">
                <a:pos x="T0" y="T1"/>
              </a:cxn>
              <a:cxn ang="T7">
                <a:pos x="T2" y="T3"/>
              </a:cxn>
              <a:cxn ang="T8">
                <a:pos x="T4" y="T5"/>
              </a:cxn>
            </a:cxnLst>
            <a:rect l="0" t="0" r="r" b="b"/>
            <a:pathLst>
              <a:path w="217" h="105">
                <a:moveTo>
                  <a:pt x="0" y="104"/>
                </a:moveTo>
                <a:lnTo>
                  <a:pt x="104" y="0"/>
                </a:lnTo>
                <a:lnTo>
                  <a:pt x="216" y="1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31" name="Line 15"/>
          <p:cNvSpPr>
            <a:spLocks noChangeShapeType="1"/>
          </p:cNvSpPr>
          <p:nvPr/>
        </p:nvSpPr>
        <p:spPr bwMode="auto">
          <a:xfrm flipH="1">
            <a:off x="3187700" y="3336925"/>
            <a:ext cx="596900" cy="0"/>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32" name="Line 16"/>
          <p:cNvSpPr>
            <a:spLocks noChangeShapeType="1"/>
          </p:cNvSpPr>
          <p:nvPr/>
        </p:nvSpPr>
        <p:spPr bwMode="auto">
          <a:xfrm>
            <a:off x="5029200" y="2951163"/>
            <a:ext cx="1003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33" name="Line 17"/>
          <p:cNvSpPr>
            <a:spLocks noChangeShapeType="1"/>
          </p:cNvSpPr>
          <p:nvPr/>
        </p:nvSpPr>
        <p:spPr bwMode="auto">
          <a:xfrm flipV="1">
            <a:off x="3956050" y="2943225"/>
            <a:ext cx="0" cy="200025"/>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34" name="Rectangle 18"/>
          <p:cNvSpPr>
            <a:spLocks noChangeArrowheads="1"/>
          </p:cNvSpPr>
          <p:nvPr/>
        </p:nvSpPr>
        <p:spPr bwMode="auto">
          <a:xfrm>
            <a:off x="5765800" y="3257550"/>
            <a:ext cx="546100" cy="257175"/>
          </a:xfrm>
          <a:prstGeom prst="rect">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35" name="Line 19"/>
          <p:cNvSpPr>
            <a:spLocks noChangeShapeType="1"/>
          </p:cNvSpPr>
          <p:nvPr/>
        </p:nvSpPr>
        <p:spPr bwMode="auto">
          <a:xfrm flipV="1">
            <a:off x="6051550" y="2943225"/>
            <a:ext cx="0" cy="30003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36" name="Line 20"/>
          <p:cNvSpPr>
            <a:spLocks noChangeShapeType="1"/>
          </p:cNvSpPr>
          <p:nvPr/>
        </p:nvSpPr>
        <p:spPr bwMode="auto">
          <a:xfrm>
            <a:off x="3194050" y="3357563"/>
            <a:ext cx="0" cy="171450"/>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37" name="Freeform 21"/>
          <p:cNvSpPr>
            <a:spLocks/>
          </p:cNvSpPr>
          <p:nvPr/>
        </p:nvSpPr>
        <p:spPr bwMode="auto">
          <a:xfrm>
            <a:off x="3009900" y="3557588"/>
            <a:ext cx="344488" cy="201612"/>
          </a:xfrm>
          <a:custGeom>
            <a:avLst/>
            <a:gdLst>
              <a:gd name="T0" fmla="*/ 0 w 217"/>
              <a:gd name="T1" fmla="*/ 356528520 h 113"/>
              <a:gd name="T2" fmla="*/ 28225791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12"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38" name="Freeform 22"/>
          <p:cNvSpPr>
            <a:spLocks/>
          </p:cNvSpPr>
          <p:nvPr/>
        </p:nvSpPr>
        <p:spPr bwMode="auto">
          <a:xfrm>
            <a:off x="3009900" y="3557588"/>
            <a:ext cx="522288" cy="201612"/>
          </a:xfrm>
          <a:custGeom>
            <a:avLst/>
            <a:gdLst>
              <a:gd name="T0" fmla="*/ 0 w 329"/>
              <a:gd name="T1" fmla="*/ 356528520 h 113"/>
              <a:gd name="T2" fmla="*/ 282257770 w 329"/>
              <a:gd name="T3" fmla="*/ 0 h 113"/>
              <a:gd name="T4" fmla="*/ 544354271 w 329"/>
              <a:gd name="T5" fmla="*/ 356528520 h 113"/>
              <a:gd name="T6" fmla="*/ 826612041 w 329"/>
              <a:gd name="T7" fmla="*/ 356528520 h 11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9" h="113">
                <a:moveTo>
                  <a:pt x="0" y="112"/>
                </a:moveTo>
                <a:lnTo>
                  <a:pt x="112" y="0"/>
                </a:lnTo>
                <a:lnTo>
                  <a:pt x="216" y="112"/>
                </a:lnTo>
                <a:lnTo>
                  <a:pt x="328"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39" name="Freeform 23"/>
          <p:cNvSpPr>
            <a:spLocks/>
          </p:cNvSpPr>
          <p:nvPr/>
        </p:nvSpPr>
        <p:spPr bwMode="auto">
          <a:xfrm>
            <a:off x="2755900" y="3757613"/>
            <a:ext cx="230188" cy="315912"/>
          </a:xfrm>
          <a:custGeom>
            <a:avLst/>
            <a:gdLst>
              <a:gd name="T0" fmla="*/ 362903288 w 145"/>
              <a:gd name="T1" fmla="*/ 0 h 177"/>
              <a:gd name="T2" fmla="*/ 0 w 145"/>
              <a:gd name="T3" fmla="*/ 0 h 177"/>
              <a:gd name="T4" fmla="*/ 0 w 145"/>
              <a:gd name="T5" fmla="*/ 560658129 h 177"/>
              <a:gd name="T6" fmla="*/ 0 60000 65536"/>
              <a:gd name="T7" fmla="*/ 0 60000 65536"/>
              <a:gd name="T8" fmla="*/ 0 60000 65536"/>
            </a:gdLst>
            <a:ahLst/>
            <a:cxnLst>
              <a:cxn ang="T6">
                <a:pos x="T0" y="T1"/>
              </a:cxn>
              <a:cxn ang="T7">
                <a:pos x="T2" y="T3"/>
              </a:cxn>
              <a:cxn ang="T8">
                <a:pos x="T4" y="T5"/>
              </a:cxn>
            </a:cxnLst>
            <a:rect l="0" t="0" r="r" b="b"/>
            <a:pathLst>
              <a:path w="145" h="177">
                <a:moveTo>
                  <a:pt x="144" y="0"/>
                </a:moveTo>
                <a:lnTo>
                  <a:pt x="0" y="0"/>
                </a:lnTo>
                <a:lnTo>
                  <a:pt x="0" y="176"/>
                </a:lnTo>
              </a:path>
            </a:pathLst>
          </a:custGeom>
          <a:noFill/>
          <a:ln w="508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40" name="Line 24"/>
          <p:cNvSpPr>
            <a:spLocks noChangeShapeType="1"/>
          </p:cNvSpPr>
          <p:nvPr/>
        </p:nvSpPr>
        <p:spPr bwMode="auto">
          <a:xfrm>
            <a:off x="3536950" y="3771900"/>
            <a:ext cx="0" cy="2857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41" name="Rectangle 25"/>
          <p:cNvSpPr>
            <a:spLocks noChangeArrowheads="1"/>
          </p:cNvSpPr>
          <p:nvPr/>
        </p:nvSpPr>
        <p:spPr bwMode="auto">
          <a:xfrm>
            <a:off x="3251200" y="4114800"/>
            <a:ext cx="546100" cy="271463"/>
          </a:xfrm>
          <a:prstGeom prst="rect">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42" name="Rectangle 26"/>
          <p:cNvSpPr>
            <a:spLocks noChangeArrowheads="1"/>
          </p:cNvSpPr>
          <p:nvPr/>
        </p:nvSpPr>
        <p:spPr bwMode="auto">
          <a:xfrm>
            <a:off x="2489200" y="4114800"/>
            <a:ext cx="533400" cy="271463"/>
          </a:xfrm>
          <a:prstGeom prst="rect">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43" name="Line 27"/>
          <p:cNvSpPr>
            <a:spLocks noChangeShapeType="1"/>
          </p:cNvSpPr>
          <p:nvPr/>
        </p:nvSpPr>
        <p:spPr bwMode="auto">
          <a:xfrm>
            <a:off x="2762250" y="4414838"/>
            <a:ext cx="0" cy="185737"/>
          </a:xfrm>
          <a:prstGeom prst="line">
            <a:avLst/>
          </a:prstGeom>
          <a:noFill/>
          <a:ln w="254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44" name="Line 28"/>
          <p:cNvSpPr>
            <a:spLocks noChangeShapeType="1"/>
          </p:cNvSpPr>
          <p:nvPr/>
        </p:nvSpPr>
        <p:spPr bwMode="auto">
          <a:xfrm>
            <a:off x="3536950" y="44148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45" name="Line 29"/>
          <p:cNvSpPr>
            <a:spLocks noChangeShapeType="1"/>
          </p:cNvSpPr>
          <p:nvPr/>
        </p:nvSpPr>
        <p:spPr bwMode="auto">
          <a:xfrm>
            <a:off x="4140200" y="3336925"/>
            <a:ext cx="5715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46" name="Freeform 30"/>
          <p:cNvSpPr>
            <a:spLocks/>
          </p:cNvSpPr>
          <p:nvPr/>
        </p:nvSpPr>
        <p:spPr bwMode="auto">
          <a:xfrm>
            <a:off x="4559300" y="3557588"/>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47" name="Freeform 31"/>
          <p:cNvSpPr>
            <a:spLocks/>
          </p:cNvSpPr>
          <p:nvPr/>
        </p:nvSpPr>
        <p:spPr bwMode="auto">
          <a:xfrm>
            <a:off x="4559300" y="3557588"/>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48" name="Freeform 32"/>
          <p:cNvSpPr>
            <a:spLocks/>
          </p:cNvSpPr>
          <p:nvPr/>
        </p:nvSpPr>
        <p:spPr bwMode="auto">
          <a:xfrm>
            <a:off x="4292600" y="3757613"/>
            <a:ext cx="230188" cy="315912"/>
          </a:xfrm>
          <a:custGeom>
            <a:avLst/>
            <a:gdLst>
              <a:gd name="T0" fmla="*/ 362903288 w 145"/>
              <a:gd name="T1" fmla="*/ 0 h 177"/>
              <a:gd name="T2" fmla="*/ 0 w 145"/>
              <a:gd name="T3" fmla="*/ 0 h 177"/>
              <a:gd name="T4" fmla="*/ 0 w 145"/>
              <a:gd name="T5" fmla="*/ 560658129 h 177"/>
              <a:gd name="T6" fmla="*/ 0 60000 65536"/>
              <a:gd name="T7" fmla="*/ 0 60000 65536"/>
              <a:gd name="T8" fmla="*/ 0 60000 65536"/>
            </a:gdLst>
            <a:ahLst/>
            <a:cxnLst>
              <a:cxn ang="T6">
                <a:pos x="T0" y="T1"/>
              </a:cxn>
              <a:cxn ang="T7">
                <a:pos x="T2" y="T3"/>
              </a:cxn>
              <a:cxn ang="T8">
                <a:pos x="T4" y="T5"/>
              </a:cxn>
            </a:cxnLst>
            <a:rect l="0" t="0" r="r" b="b"/>
            <a:pathLst>
              <a:path w="145" h="177">
                <a:moveTo>
                  <a:pt x="144" y="0"/>
                </a:moveTo>
                <a:lnTo>
                  <a:pt x="0" y="0"/>
                </a:lnTo>
                <a:lnTo>
                  <a:pt x="0" y="17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49" name="Line 33"/>
          <p:cNvSpPr>
            <a:spLocks noChangeShapeType="1"/>
          </p:cNvSpPr>
          <p:nvPr/>
        </p:nvSpPr>
        <p:spPr bwMode="auto">
          <a:xfrm>
            <a:off x="5073650" y="3771900"/>
            <a:ext cx="0" cy="2857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50" name="Rectangle 34"/>
          <p:cNvSpPr>
            <a:spLocks noChangeArrowheads="1"/>
          </p:cNvSpPr>
          <p:nvPr/>
        </p:nvSpPr>
        <p:spPr bwMode="auto">
          <a:xfrm>
            <a:off x="4800600" y="4114800"/>
            <a:ext cx="546100" cy="271463"/>
          </a:xfrm>
          <a:prstGeom prst="rect">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51" name="Rectangle 35"/>
          <p:cNvSpPr>
            <a:spLocks noChangeArrowheads="1"/>
          </p:cNvSpPr>
          <p:nvPr/>
        </p:nvSpPr>
        <p:spPr bwMode="auto">
          <a:xfrm>
            <a:off x="4025900" y="4114800"/>
            <a:ext cx="546100" cy="271463"/>
          </a:xfrm>
          <a:prstGeom prst="rect">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52" name="Line 36"/>
          <p:cNvSpPr>
            <a:spLocks noChangeShapeType="1"/>
          </p:cNvSpPr>
          <p:nvPr/>
        </p:nvSpPr>
        <p:spPr bwMode="auto">
          <a:xfrm>
            <a:off x="4298950" y="44148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53" name="Line 37"/>
          <p:cNvSpPr>
            <a:spLocks noChangeShapeType="1"/>
          </p:cNvSpPr>
          <p:nvPr/>
        </p:nvSpPr>
        <p:spPr bwMode="auto">
          <a:xfrm>
            <a:off x="5073650" y="4414838"/>
            <a:ext cx="0" cy="18573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54" name="Line 38"/>
          <p:cNvSpPr>
            <a:spLocks noChangeShapeType="1"/>
          </p:cNvSpPr>
          <p:nvPr/>
        </p:nvSpPr>
        <p:spPr bwMode="auto">
          <a:xfrm>
            <a:off x="4711700" y="4622800"/>
            <a:ext cx="3429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55" name="Line 39"/>
          <p:cNvSpPr>
            <a:spLocks noChangeShapeType="1"/>
          </p:cNvSpPr>
          <p:nvPr/>
        </p:nvSpPr>
        <p:spPr bwMode="auto">
          <a:xfrm>
            <a:off x="4730750" y="3343275"/>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56" name="Line 40"/>
          <p:cNvSpPr>
            <a:spLocks noChangeShapeType="1"/>
          </p:cNvSpPr>
          <p:nvPr/>
        </p:nvSpPr>
        <p:spPr bwMode="auto">
          <a:xfrm>
            <a:off x="4305300" y="4622800"/>
            <a:ext cx="3810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57" name="Oval 41"/>
          <p:cNvSpPr>
            <a:spLocks noChangeArrowheads="1"/>
          </p:cNvSpPr>
          <p:nvPr/>
        </p:nvSpPr>
        <p:spPr bwMode="auto">
          <a:xfrm>
            <a:off x="4648200" y="4600575"/>
            <a:ext cx="38100" cy="42863"/>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58" name="Oval 42"/>
          <p:cNvSpPr>
            <a:spLocks noChangeArrowheads="1"/>
          </p:cNvSpPr>
          <p:nvPr/>
        </p:nvSpPr>
        <p:spPr bwMode="auto">
          <a:xfrm>
            <a:off x="3111500" y="4600575"/>
            <a:ext cx="25400" cy="42863"/>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59" name="Line 43"/>
          <p:cNvSpPr>
            <a:spLocks noChangeShapeType="1"/>
          </p:cNvSpPr>
          <p:nvPr/>
        </p:nvSpPr>
        <p:spPr bwMode="auto">
          <a:xfrm>
            <a:off x="4679950" y="4629150"/>
            <a:ext cx="0" cy="2000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60" name="Line 44"/>
          <p:cNvSpPr>
            <a:spLocks noChangeShapeType="1"/>
          </p:cNvSpPr>
          <p:nvPr/>
        </p:nvSpPr>
        <p:spPr bwMode="auto">
          <a:xfrm flipH="1">
            <a:off x="4013200" y="4851400"/>
            <a:ext cx="622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61" name="Line 45"/>
          <p:cNvSpPr>
            <a:spLocks noChangeShapeType="1"/>
          </p:cNvSpPr>
          <p:nvPr/>
        </p:nvSpPr>
        <p:spPr bwMode="auto">
          <a:xfrm>
            <a:off x="3149600" y="4851400"/>
            <a:ext cx="812800" cy="0"/>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62" name="Oval 46"/>
          <p:cNvSpPr>
            <a:spLocks noChangeArrowheads="1"/>
          </p:cNvSpPr>
          <p:nvPr/>
        </p:nvSpPr>
        <p:spPr bwMode="auto">
          <a:xfrm>
            <a:off x="3962400" y="4829175"/>
            <a:ext cx="38100" cy="28575"/>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63" name="Freeform 47"/>
          <p:cNvSpPr>
            <a:spLocks/>
          </p:cNvSpPr>
          <p:nvPr/>
        </p:nvSpPr>
        <p:spPr bwMode="auto">
          <a:xfrm>
            <a:off x="3987800" y="4872038"/>
            <a:ext cx="534988" cy="230187"/>
          </a:xfrm>
          <a:custGeom>
            <a:avLst/>
            <a:gdLst>
              <a:gd name="T0" fmla="*/ 0 w 337"/>
              <a:gd name="T1" fmla="*/ 0 h 129"/>
              <a:gd name="T2" fmla="*/ 0 w 337"/>
              <a:gd name="T3" fmla="*/ 407561251 h 129"/>
              <a:gd name="T4" fmla="*/ 846773291 w 337"/>
              <a:gd name="T5" fmla="*/ 407561251 h 129"/>
              <a:gd name="T6" fmla="*/ 0 60000 65536"/>
              <a:gd name="T7" fmla="*/ 0 60000 65536"/>
              <a:gd name="T8" fmla="*/ 0 60000 65536"/>
            </a:gdLst>
            <a:ahLst/>
            <a:cxnLst>
              <a:cxn ang="T6">
                <a:pos x="T0" y="T1"/>
              </a:cxn>
              <a:cxn ang="T7">
                <a:pos x="T2" y="T3"/>
              </a:cxn>
              <a:cxn ang="T8">
                <a:pos x="T4" y="T5"/>
              </a:cxn>
            </a:cxnLst>
            <a:rect l="0" t="0" r="r" b="b"/>
            <a:pathLst>
              <a:path w="337" h="129">
                <a:moveTo>
                  <a:pt x="0" y="0"/>
                </a:moveTo>
                <a:lnTo>
                  <a:pt x="0" y="128"/>
                </a:lnTo>
                <a:lnTo>
                  <a:pt x="336" y="128"/>
                </a:lnTo>
              </a:path>
            </a:pathLst>
          </a:custGeom>
          <a:noFill/>
          <a:ln w="50800" cap="rnd" cmpd="sng">
            <a:solidFill>
              <a:schemeClr val="folHlink"/>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64" name="Oval 48"/>
          <p:cNvSpPr>
            <a:spLocks noChangeArrowheads="1"/>
          </p:cNvSpPr>
          <p:nvPr/>
        </p:nvSpPr>
        <p:spPr bwMode="auto">
          <a:xfrm>
            <a:off x="4508500" y="5086350"/>
            <a:ext cx="38100" cy="28575"/>
          </a:xfrm>
          <a:prstGeom prst="ellipse">
            <a:avLst/>
          </a:prstGeom>
          <a:solidFill>
            <a:srgbClr val="000000"/>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65" name="Line 49"/>
          <p:cNvSpPr>
            <a:spLocks noChangeShapeType="1"/>
          </p:cNvSpPr>
          <p:nvPr/>
        </p:nvSpPr>
        <p:spPr bwMode="auto">
          <a:xfrm>
            <a:off x="6051550" y="3543300"/>
            <a:ext cx="0" cy="15430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66" name="Line 50"/>
          <p:cNvSpPr>
            <a:spLocks noChangeShapeType="1"/>
          </p:cNvSpPr>
          <p:nvPr/>
        </p:nvSpPr>
        <p:spPr bwMode="auto">
          <a:xfrm>
            <a:off x="4572000" y="5108575"/>
            <a:ext cx="14605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67" name="Freeform 51"/>
          <p:cNvSpPr>
            <a:spLocks/>
          </p:cNvSpPr>
          <p:nvPr/>
        </p:nvSpPr>
        <p:spPr bwMode="auto">
          <a:xfrm>
            <a:off x="4356100" y="5357813"/>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68" name="Freeform 52"/>
          <p:cNvSpPr>
            <a:spLocks/>
          </p:cNvSpPr>
          <p:nvPr/>
        </p:nvSpPr>
        <p:spPr bwMode="auto">
          <a:xfrm>
            <a:off x="4356100" y="5357813"/>
            <a:ext cx="344488" cy="201612"/>
          </a:xfrm>
          <a:custGeom>
            <a:avLst/>
            <a:gdLst>
              <a:gd name="T0" fmla="*/ 0 w 217"/>
              <a:gd name="T1" fmla="*/ 356528520 h 113"/>
              <a:gd name="T2" fmla="*/ 262096630 w 217"/>
              <a:gd name="T3" fmla="*/ 0 h 113"/>
              <a:gd name="T4" fmla="*/ 544354540 w 217"/>
              <a:gd name="T5" fmla="*/ 356528520 h 113"/>
              <a:gd name="T6" fmla="*/ 0 60000 65536"/>
              <a:gd name="T7" fmla="*/ 0 60000 65536"/>
              <a:gd name="T8" fmla="*/ 0 60000 65536"/>
            </a:gdLst>
            <a:ahLst/>
            <a:cxnLst>
              <a:cxn ang="T6">
                <a:pos x="T0" y="T1"/>
              </a:cxn>
              <a:cxn ang="T7">
                <a:pos x="T2" y="T3"/>
              </a:cxn>
              <a:cxn ang="T8">
                <a:pos x="T4" y="T5"/>
              </a:cxn>
            </a:cxnLst>
            <a:rect l="0" t="0" r="r" b="b"/>
            <a:pathLst>
              <a:path w="217" h="113">
                <a:moveTo>
                  <a:pt x="0" y="112"/>
                </a:moveTo>
                <a:lnTo>
                  <a:pt x="104" y="0"/>
                </a:lnTo>
                <a:lnTo>
                  <a:pt x="216" y="112"/>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69" name="Line 53"/>
          <p:cNvSpPr>
            <a:spLocks noChangeShapeType="1"/>
          </p:cNvSpPr>
          <p:nvPr/>
        </p:nvSpPr>
        <p:spPr bwMode="auto">
          <a:xfrm flipV="1">
            <a:off x="4527550" y="5100638"/>
            <a:ext cx="0" cy="257175"/>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70" name="Freeform 54"/>
          <p:cNvSpPr>
            <a:spLocks/>
          </p:cNvSpPr>
          <p:nvPr/>
        </p:nvSpPr>
        <p:spPr bwMode="auto">
          <a:xfrm>
            <a:off x="4699000" y="2400300"/>
            <a:ext cx="1970088" cy="3159125"/>
          </a:xfrm>
          <a:custGeom>
            <a:avLst/>
            <a:gdLst>
              <a:gd name="T0" fmla="*/ 0 w 1241"/>
              <a:gd name="T1" fmla="*/ 2147483647 h 1769"/>
              <a:gd name="T2" fmla="*/ 2147483647 w 1241"/>
              <a:gd name="T3" fmla="*/ 2147483647 h 1769"/>
              <a:gd name="T4" fmla="*/ 2147483647 w 1241"/>
              <a:gd name="T5" fmla="*/ 0 h 1769"/>
              <a:gd name="T6" fmla="*/ 0 60000 65536"/>
              <a:gd name="T7" fmla="*/ 0 60000 65536"/>
              <a:gd name="T8" fmla="*/ 0 60000 65536"/>
            </a:gdLst>
            <a:ahLst/>
            <a:cxnLst>
              <a:cxn ang="T6">
                <a:pos x="T0" y="T1"/>
              </a:cxn>
              <a:cxn ang="T7">
                <a:pos x="T2" y="T3"/>
              </a:cxn>
              <a:cxn ang="T8">
                <a:pos x="T4" y="T5"/>
              </a:cxn>
            </a:cxnLst>
            <a:rect l="0" t="0" r="r" b="b"/>
            <a:pathLst>
              <a:path w="1241" h="1769">
                <a:moveTo>
                  <a:pt x="0" y="1768"/>
                </a:moveTo>
                <a:lnTo>
                  <a:pt x="1240" y="1768"/>
                </a:lnTo>
                <a:lnTo>
                  <a:pt x="124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grpSp>
        <p:nvGrpSpPr>
          <p:cNvPr id="9271" name="Group 55"/>
          <p:cNvGrpSpPr>
            <a:grpSpLocks/>
          </p:cNvGrpSpPr>
          <p:nvPr/>
        </p:nvGrpSpPr>
        <p:grpSpPr bwMode="auto">
          <a:xfrm>
            <a:off x="4483100" y="5757863"/>
            <a:ext cx="65088" cy="230187"/>
            <a:chOff x="2568" y="3056"/>
            <a:chExt cx="41" cy="129"/>
          </a:xfrm>
        </p:grpSpPr>
        <p:sp>
          <p:nvSpPr>
            <p:cNvPr id="9294" name="Freeform 56"/>
            <p:cNvSpPr>
              <a:spLocks/>
            </p:cNvSpPr>
            <p:nvPr/>
          </p:nvSpPr>
          <p:spPr bwMode="auto">
            <a:xfrm>
              <a:off x="2568" y="3096"/>
              <a:ext cx="41" cy="89"/>
            </a:xfrm>
            <a:custGeom>
              <a:avLst/>
              <a:gdLst>
                <a:gd name="T0" fmla="*/ 20 w 41"/>
                <a:gd name="T1" fmla="*/ 88 h 89"/>
                <a:gd name="T2" fmla="*/ 0 w 41"/>
                <a:gd name="T3" fmla="*/ 0 h 89"/>
                <a:gd name="T4" fmla="*/ 20 w 41"/>
                <a:gd name="T5" fmla="*/ 0 h 89"/>
                <a:gd name="T6" fmla="*/ 40 w 41"/>
                <a:gd name="T7" fmla="*/ 0 h 89"/>
                <a:gd name="T8" fmla="*/ 20 w 41"/>
                <a:gd name="T9" fmla="*/ 88 h 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 h="89">
                  <a:moveTo>
                    <a:pt x="20" y="88"/>
                  </a:moveTo>
                  <a:lnTo>
                    <a:pt x="0" y="0"/>
                  </a:lnTo>
                  <a:lnTo>
                    <a:pt x="20" y="0"/>
                  </a:lnTo>
                  <a:lnTo>
                    <a:pt x="40" y="0"/>
                  </a:lnTo>
                  <a:lnTo>
                    <a:pt x="20" y="88"/>
                  </a:lnTo>
                </a:path>
              </a:pathLst>
            </a:custGeom>
            <a:solidFill>
              <a:srgbClr val="000000"/>
            </a:solidFill>
            <a:ln w="25400" cap="rnd" cmpd="sng">
              <a:solidFill>
                <a:schemeClr val="tx1"/>
              </a:solidFill>
              <a:prstDash val="solid"/>
              <a:round/>
              <a:headEnd type="none" w="med" len="med"/>
              <a:tailEnd type="triangle" w="med" len="me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95" name="Line 57"/>
            <p:cNvSpPr>
              <a:spLocks noChangeShapeType="1"/>
            </p:cNvSpPr>
            <p:nvPr/>
          </p:nvSpPr>
          <p:spPr bwMode="auto">
            <a:xfrm>
              <a:off x="2596" y="3056"/>
              <a:ext cx="0" cy="3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grpSp>
      <p:sp>
        <p:nvSpPr>
          <p:cNvPr id="9272" name="Line 58"/>
          <p:cNvSpPr>
            <a:spLocks noChangeShapeType="1"/>
          </p:cNvSpPr>
          <p:nvPr/>
        </p:nvSpPr>
        <p:spPr bwMode="auto">
          <a:xfrm flipV="1">
            <a:off x="4527550" y="5743575"/>
            <a:ext cx="0" cy="128588"/>
          </a:xfrm>
          <a:prstGeom prst="line">
            <a:avLst/>
          </a:prstGeom>
          <a:noFill/>
          <a:ln w="508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77211" name="Rectangle 59"/>
          <p:cNvSpPr>
            <a:spLocks noChangeArrowheads="1"/>
          </p:cNvSpPr>
          <p:nvPr/>
        </p:nvSpPr>
        <p:spPr bwMode="auto">
          <a:xfrm>
            <a:off x="6710363" y="4160838"/>
            <a:ext cx="1258887" cy="3333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sz="1600" b="1">
                <a:effectLst>
                  <a:outerShdw blurRad="38100" dist="38100" dir="2700000" algn="tl">
                    <a:srgbClr val="FFFFFF"/>
                  </a:outerShdw>
                </a:effectLst>
                <a:latin typeface="Helvetica" pitchFamily="-128" charset="0"/>
                <a:ea typeface="ＭＳ Ｐゴシック" pitchFamily="-128" charset="-128"/>
              </a:rPr>
              <a:t>loop &lt; 20 X</a:t>
            </a:r>
          </a:p>
        </p:txBody>
      </p:sp>
      <p:sp>
        <p:nvSpPr>
          <p:cNvPr id="9274" name="Freeform 60"/>
          <p:cNvSpPr>
            <a:spLocks/>
          </p:cNvSpPr>
          <p:nvPr/>
        </p:nvSpPr>
        <p:spPr bwMode="auto">
          <a:xfrm>
            <a:off x="4673600" y="2943225"/>
            <a:ext cx="344488" cy="201613"/>
          </a:xfrm>
          <a:custGeom>
            <a:avLst/>
            <a:gdLst>
              <a:gd name="T0" fmla="*/ 0 w 217"/>
              <a:gd name="T1" fmla="*/ 0 h 113"/>
              <a:gd name="T2" fmla="*/ 262096630 w 217"/>
              <a:gd name="T3" fmla="*/ 356532072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75" name="Freeform 61"/>
          <p:cNvSpPr>
            <a:spLocks/>
          </p:cNvSpPr>
          <p:nvPr/>
        </p:nvSpPr>
        <p:spPr bwMode="auto">
          <a:xfrm>
            <a:off x="4673600" y="2943225"/>
            <a:ext cx="344488" cy="201613"/>
          </a:xfrm>
          <a:custGeom>
            <a:avLst/>
            <a:gdLst>
              <a:gd name="T0" fmla="*/ 0 w 217"/>
              <a:gd name="T1" fmla="*/ 0 h 113"/>
              <a:gd name="T2" fmla="*/ 262096630 w 217"/>
              <a:gd name="T3" fmla="*/ 356532072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76" name="Freeform 62"/>
          <p:cNvSpPr>
            <a:spLocks/>
          </p:cNvSpPr>
          <p:nvPr/>
        </p:nvSpPr>
        <p:spPr bwMode="auto">
          <a:xfrm>
            <a:off x="3784600" y="3328988"/>
            <a:ext cx="344488" cy="201612"/>
          </a:xfrm>
          <a:custGeom>
            <a:avLst/>
            <a:gdLst>
              <a:gd name="T0" fmla="*/ 0 w 217"/>
              <a:gd name="T1" fmla="*/ 0 h 113"/>
              <a:gd name="T2" fmla="*/ 262096630 w 217"/>
              <a:gd name="T3" fmla="*/ 356528520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77" name="Freeform 63"/>
          <p:cNvSpPr>
            <a:spLocks/>
          </p:cNvSpPr>
          <p:nvPr/>
        </p:nvSpPr>
        <p:spPr bwMode="auto">
          <a:xfrm>
            <a:off x="3784600" y="3328988"/>
            <a:ext cx="344488" cy="201612"/>
          </a:xfrm>
          <a:custGeom>
            <a:avLst/>
            <a:gdLst>
              <a:gd name="T0" fmla="*/ 0 w 217"/>
              <a:gd name="T1" fmla="*/ 0 h 113"/>
              <a:gd name="T2" fmla="*/ 262096630 w 217"/>
              <a:gd name="T3" fmla="*/ 356528520 h 113"/>
              <a:gd name="T4" fmla="*/ 544354540 w 217"/>
              <a:gd name="T5" fmla="*/ 0 h 113"/>
              <a:gd name="T6" fmla="*/ 0 60000 65536"/>
              <a:gd name="T7" fmla="*/ 0 60000 65536"/>
              <a:gd name="T8" fmla="*/ 0 60000 65536"/>
            </a:gdLst>
            <a:ahLst/>
            <a:cxnLst>
              <a:cxn ang="T6">
                <a:pos x="T0" y="T1"/>
              </a:cxn>
              <a:cxn ang="T7">
                <a:pos x="T2" y="T3"/>
              </a:cxn>
              <a:cxn ang="T8">
                <a:pos x="T4" y="T5"/>
              </a:cxn>
            </a:cxnLst>
            <a:rect l="0" t="0" r="r" b="b"/>
            <a:pathLst>
              <a:path w="217" h="113">
                <a:moveTo>
                  <a:pt x="0" y="0"/>
                </a:moveTo>
                <a:lnTo>
                  <a:pt x="104" y="112"/>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78" name="Freeform 64"/>
          <p:cNvSpPr>
            <a:spLocks/>
          </p:cNvSpPr>
          <p:nvPr/>
        </p:nvSpPr>
        <p:spPr bwMode="auto">
          <a:xfrm>
            <a:off x="3009900" y="3757613"/>
            <a:ext cx="344488" cy="187325"/>
          </a:xfrm>
          <a:custGeom>
            <a:avLst/>
            <a:gdLst>
              <a:gd name="T0" fmla="*/ 0 w 217"/>
              <a:gd name="T1" fmla="*/ 0 h 105"/>
              <a:gd name="T2" fmla="*/ 28225791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12"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79" name="Freeform 65"/>
          <p:cNvSpPr>
            <a:spLocks/>
          </p:cNvSpPr>
          <p:nvPr/>
        </p:nvSpPr>
        <p:spPr bwMode="auto">
          <a:xfrm>
            <a:off x="3009900" y="3757613"/>
            <a:ext cx="344488" cy="187325"/>
          </a:xfrm>
          <a:custGeom>
            <a:avLst/>
            <a:gdLst>
              <a:gd name="T0" fmla="*/ 0 w 217"/>
              <a:gd name="T1" fmla="*/ 0 h 105"/>
              <a:gd name="T2" fmla="*/ 28225791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12"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80" name="Freeform 66"/>
          <p:cNvSpPr>
            <a:spLocks/>
          </p:cNvSpPr>
          <p:nvPr/>
        </p:nvSpPr>
        <p:spPr bwMode="auto">
          <a:xfrm>
            <a:off x="4559300" y="3757613"/>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81" name="Freeform 67"/>
          <p:cNvSpPr>
            <a:spLocks/>
          </p:cNvSpPr>
          <p:nvPr/>
        </p:nvSpPr>
        <p:spPr bwMode="auto">
          <a:xfrm>
            <a:off x="4559300" y="3757613"/>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82" name="Freeform 68"/>
          <p:cNvSpPr>
            <a:spLocks/>
          </p:cNvSpPr>
          <p:nvPr/>
        </p:nvSpPr>
        <p:spPr bwMode="auto">
          <a:xfrm>
            <a:off x="4356100" y="5557838"/>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83" name="Freeform 69"/>
          <p:cNvSpPr>
            <a:spLocks/>
          </p:cNvSpPr>
          <p:nvPr/>
        </p:nvSpPr>
        <p:spPr bwMode="auto">
          <a:xfrm>
            <a:off x="4356100" y="5557838"/>
            <a:ext cx="344488" cy="187325"/>
          </a:xfrm>
          <a:custGeom>
            <a:avLst/>
            <a:gdLst>
              <a:gd name="T0" fmla="*/ 0 w 217"/>
              <a:gd name="T1" fmla="*/ 0 h 105"/>
              <a:gd name="T2" fmla="*/ 262096630 w 217"/>
              <a:gd name="T3" fmla="*/ 331013979 h 105"/>
              <a:gd name="T4" fmla="*/ 544354540 w 217"/>
              <a:gd name="T5" fmla="*/ 0 h 105"/>
              <a:gd name="T6" fmla="*/ 0 60000 65536"/>
              <a:gd name="T7" fmla="*/ 0 60000 65536"/>
              <a:gd name="T8" fmla="*/ 0 60000 65536"/>
            </a:gdLst>
            <a:ahLst/>
            <a:cxnLst>
              <a:cxn ang="T6">
                <a:pos x="T0" y="T1"/>
              </a:cxn>
              <a:cxn ang="T7">
                <a:pos x="T2" y="T3"/>
              </a:cxn>
              <a:cxn ang="T8">
                <a:pos x="T4" y="T5"/>
              </a:cxn>
            </a:cxnLst>
            <a:rect l="0" t="0" r="r" b="b"/>
            <a:pathLst>
              <a:path w="217" h="105">
                <a:moveTo>
                  <a:pt x="0" y="0"/>
                </a:moveTo>
                <a:lnTo>
                  <a:pt x="104" y="104"/>
                </a:lnTo>
                <a:lnTo>
                  <a:pt x="216"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a:lstStyle/>
          <a:p>
            <a:endParaRPr lang="x-none"/>
          </a:p>
        </p:txBody>
      </p:sp>
      <p:sp>
        <p:nvSpPr>
          <p:cNvPr id="9284" name="Line 70"/>
          <p:cNvSpPr>
            <a:spLocks noChangeShapeType="1"/>
          </p:cNvSpPr>
          <p:nvPr/>
        </p:nvSpPr>
        <p:spPr bwMode="auto">
          <a:xfrm>
            <a:off x="4914900" y="3765550"/>
            <a:ext cx="114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85" name="AutoShape 71"/>
          <p:cNvSpPr>
            <a:spLocks noChangeArrowheads="1"/>
          </p:cNvSpPr>
          <p:nvPr/>
        </p:nvSpPr>
        <p:spPr bwMode="auto">
          <a:xfrm>
            <a:off x="4622800" y="2714625"/>
            <a:ext cx="419100" cy="428625"/>
          </a:xfrm>
          <a:prstGeom prst="diamond">
            <a:avLst/>
          </a:prstGeom>
          <a:solidFill>
            <a:schemeClr val="tx2"/>
          </a:solidFill>
          <a:ln w="25400">
            <a:solidFill>
              <a:schemeClr val="bg2"/>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86" name="AutoShape 72"/>
          <p:cNvSpPr>
            <a:spLocks noChangeArrowheads="1"/>
          </p:cNvSpPr>
          <p:nvPr/>
        </p:nvSpPr>
        <p:spPr bwMode="auto">
          <a:xfrm>
            <a:off x="3733800" y="3114675"/>
            <a:ext cx="419100" cy="428625"/>
          </a:xfrm>
          <a:prstGeom prst="diamond">
            <a:avLst/>
          </a:prstGeom>
          <a:solidFill>
            <a:schemeClr val="tx2"/>
          </a:solidFill>
          <a:ln w="25400">
            <a:solidFill>
              <a:schemeClr val="bg2"/>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87" name="AutoShape 73"/>
          <p:cNvSpPr>
            <a:spLocks noChangeArrowheads="1"/>
          </p:cNvSpPr>
          <p:nvPr/>
        </p:nvSpPr>
        <p:spPr bwMode="auto">
          <a:xfrm>
            <a:off x="2959100" y="3529013"/>
            <a:ext cx="419100" cy="428625"/>
          </a:xfrm>
          <a:prstGeom prst="diamond">
            <a:avLst/>
          </a:prstGeom>
          <a:solidFill>
            <a:schemeClr val="tx2"/>
          </a:solidFill>
          <a:ln w="25400">
            <a:solidFill>
              <a:schemeClr val="bg2"/>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88" name="AutoShape 74"/>
          <p:cNvSpPr>
            <a:spLocks noChangeArrowheads="1"/>
          </p:cNvSpPr>
          <p:nvPr/>
        </p:nvSpPr>
        <p:spPr bwMode="auto">
          <a:xfrm>
            <a:off x="4508500" y="3529013"/>
            <a:ext cx="419100" cy="428625"/>
          </a:xfrm>
          <a:prstGeom prst="diamond">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89" name="AutoShape 75"/>
          <p:cNvSpPr>
            <a:spLocks noChangeArrowheads="1"/>
          </p:cNvSpPr>
          <p:nvPr/>
        </p:nvSpPr>
        <p:spPr bwMode="auto">
          <a:xfrm>
            <a:off x="4292600" y="5329238"/>
            <a:ext cx="419100" cy="428625"/>
          </a:xfrm>
          <a:prstGeom prst="diamond">
            <a:avLst/>
          </a:prstGeom>
          <a:solidFill>
            <a:schemeClr val="tx2"/>
          </a:solidFill>
          <a:ln w="25400">
            <a:solidFill>
              <a:schemeClr val="bg2"/>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9290" name="Line 76"/>
          <p:cNvSpPr>
            <a:spLocks noChangeShapeType="1"/>
          </p:cNvSpPr>
          <p:nvPr/>
        </p:nvSpPr>
        <p:spPr bwMode="auto">
          <a:xfrm>
            <a:off x="2781300" y="4629150"/>
            <a:ext cx="304800" cy="0"/>
          </a:xfrm>
          <a:prstGeom prst="line">
            <a:avLst/>
          </a:prstGeom>
          <a:noFill/>
          <a:ln w="50800">
            <a:solidFill>
              <a:schemeClr val="folHlink"/>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9291" name="Line 77"/>
          <p:cNvSpPr>
            <a:spLocks noChangeShapeType="1"/>
          </p:cNvSpPr>
          <p:nvPr/>
        </p:nvSpPr>
        <p:spPr bwMode="auto">
          <a:xfrm>
            <a:off x="3175000" y="4629150"/>
            <a:ext cx="3302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77230" name="Rectangle 78"/>
          <p:cNvSpPr>
            <a:spLocks noChangeArrowheads="1"/>
          </p:cNvSpPr>
          <p:nvPr/>
        </p:nvSpPr>
        <p:spPr bwMode="auto">
          <a:xfrm>
            <a:off x="1930400" y="2281238"/>
            <a:ext cx="1831975" cy="39370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sz="2000" b="1">
                <a:solidFill>
                  <a:schemeClr val="folHlink"/>
                </a:solidFill>
                <a:latin typeface="Helvetica" pitchFamily="-128" charset="0"/>
                <a:ea typeface="ＭＳ Ｐゴシック" pitchFamily="-128" charset="-128"/>
              </a:rPr>
              <a:t>Selected path</a:t>
            </a:r>
            <a:endParaRPr lang="en-US" sz="20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9293" name="Line 79"/>
          <p:cNvSpPr>
            <a:spLocks noChangeShapeType="1"/>
          </p:cNvSpPr>
          <p:nvPr/>
        </p:nvSpPr>
        <p:spPr bwMode="auto">
          <a:xfrm>
            <a:off x="2859088" y="2647950"/>
            <a:ext cx="568325" cy="5842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Tree>
    <p:extLst>
      <p:ext uri="{BB962C8B-B14F-4D97-AF65-F5344CB8AC3E}">
        <p14:creationId xmlns:p14="http://schemas.microsoft.com/office/powerpoint/2010/main" val="283727667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85800"/>
            <a:ext cx="8229600" cy="609600"/>
          </a:xfrm>
        </p:spPr>
        <p:txBody>
          <a:bodyPr>
            <a:normAutofit/>
          </a:bodyPr>
          <a:lstStyle/>
          <a:p>
            <a:r>
              <a:rPr lang="en-US" sz="3200" b="1" kern="10" dirty="0">
                <a:ln w="12700">
                  <a:noFill/>
                  <a:round/>
                  <a:headEnd/>
                  <a:tailEnd/>
                </a:ln>
                <a:solidFill>
                  <a:srgbClr val="A04DA3"/>
                </a:solidFill>
                <a:latin typeface="+mn-lt"/>
                <a:ea typeface="Arial Black"/>
                <a:cs typeface="Arial Black"/>
              </a:rPr>
              <a:t>Classification of Software Testing</a:t>
            </a:r>
            <a:endParaRPr lang="en-US" sz="3200" b="1" dirty="0">
              <a:latin typeface="+mn-lt"/>
            </a:endParaRPr>
          </a:p>
        </p:txBody>
      </p:sp>
      <p:sp>
        <p:nvSpPr>
          <p:cNvPr id="11265" name="Rectangle 2"/>
          <p:cNvSpPr>
            <a:spLocks noGrp="1" noChangeArrowheads="1"/>
          </p:cNvSpPr>
          <p:nvPr>
            <p:ph idx="1"/>
          </p:nvPr>
        </p:nvSpPr>
        <p:spPr bwMode="auto">
          <a:xfrm>
            <a:off x="228600" y="1447800"/>
            <a:ext cx="8686800" cy="4800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Autofit/>
          </a:bodyPr>
          <a:lstStyle/>
          <a:p>
            <a:pPr marL="0" indent="0" rtl="0">
              <a:buNone/>
            </a:pPr>
            <a:r>
              <a:rPr lang="en-US" sz="2400" b="1" dirty="0">
                <a:solidFill>
                  <a:schemeClr val="accent2"/>
                </a:solidFill>
                <a:latin typeface="+mn-lt"/>
                <a:ea typeface="ＭＳ Ｐゴシック" charset="0"/>
              </a:rPr>
              <a:t>Black box (functional) testing</a:t>
            </a:r>
          </a:p>
          <a:p>
            <a:pPr marL="902208" lvl="1" indent="-609600" rtl="0">
              <a:buFont typeface="Wingdings" charset="2"/>
              <a:buChar char="§"/>
            </a:pPr>
            <a:r>
              <a:rPr lang="en-US" sz="2400" dirty="0">
                <a:solidFill>
                  <a:schemeClr val="tx1">
                    <a:lumMod val="65000"/>
                    <a:lumOff val="35000"/>
                  </a:schemeClr>
                </a:solidFill>
                <a:ea typeface="ＭＳ Ｐゴシック" charset="0"/>
              </a:rPr>
              <a:t>Testing that ignores the internal mechanism of the  system or component and focuses solely on the outputs in response to selected inputs and execution conditions</a:t>
            </a:r>
          </a:p>
          <a:p>
            <a:pPr marL="902208" lvl="1" indent="-609600" rtl="0">
              <a:buFont typeface="Wingdings" charset="2"/>
              <a:buChar char="§"/>
            </a:pPr>
            <a:r>
              <a:rPr lang="en-US" sz="2400" dirty="0">
                <a:solidFill>
                  <a:schemeClr val="tx1">
                    <a:lumMod val="65000"/>
                    <a:lumOff val="35000"/>
                  </a:schemeClr>
                </a:solidFill>
                <a:ea typeface="ＭＳ Ｐゴシック" charset="0"/>
              </a:rPr>
              <a:t>Testing conducted to evaluate the compliance of a system or component with specified functional requirements</a:t>
            </a:r>
          </a:p>
          <a:p>
            <a:pPr marL="902208" lvl="1" indent="-609600" rtl="0">
              <a:buFont typeface="Wingdings" charset="2"/>
              <a:buChar char="§"/>
            </a:pPr>
            <a:endParaRPr lang="en-US" sz="2400" i="1" dirty="0">
              <a:ea typeface="ＭＳ Ｐゴシック" charset="0"/>
            </a:endParaRPr>
          </a:p>
          <a:p>
            <a:pPr marL="0" indent="0" rtl="0">
              <a:buNone/>
            </a:pPr>
            <a:r>
              <a:rPr lang="en-US" sz="2400" b="1" dirty="0">
                <a:solidFill>
                  <a:schemeClr val="accent2"/>
                </a:solidFill>
                <a:latin typeface="+mn-lt"/>
                <a:ea typeface="ＭＳ Ｐゴシック" charset="0"/>
              </a:rPr>
              <a:t>White box (structural) testing</a:t>
            </a:r>
          </a:p>
          <a:p>
            <a:pPr marL="806958" lvl="1" indent="-514350" rtl="0">
              <a:buFont typeface="Wingdings" charset="2"/>
              <a:buChar char="§"/>
            </a:pPr>
            <a:r>
              <a:rPr lang="en-US" sz="2400" dirty="0">
                <a:solidFill>
                  <a:srgbClr val="595959"/>
                </a:solidFill>
                <a:ea typeface="ＭＳ Ｐゴシック" charset="0"/>
              </a:rPr>
              <a:t>Testing that takes into account the internal mechanism of a system or component</a:t>
            </a:r>
          </a:p>
          <a:p>
            <a:pPr marL="806958" lvl="1" indent="-514350" rtl="0">
              <a:buFont typeface="Wingdings" charset="2"/>
              <a:buChar char="§"/>
            </a:pPr>
            <a:r>
              <a:rPr lang="en-US" sz="2400" dirty="0">
                <a:solidFill>
                  <a:srgbClr val="595959"/>
                </a:solidFill>
                <a:ea typeface="ＭＳ Ｐゴシック" charset="0"/>
              </a:rPr>
              <a:t>Glass testing or Open box testing</a:t>
            </a:r>
            <a:endParaRPr lang="en-US" sz="2400" b="1" dirty="0">
              <a:solidFill>
                <a:schemeClr val="accent2"/>
              </a:solidFill>
              <a:latin typeface="+mn-lt"/>
              <a:ea typeface="ＭＳ Ｐゴシック" charset="0"/>
            </a:endParaRPr>
          </a:p>
          <a:p>
            <a:pPr marL="806958" lvl="1" indent="-514350" rtl="0">
              <a:buFont typeface="Wingdings" charset="2"/>
              <a:buChar char="§"/>
            </a:pPr>
            <a:endParaRPr lang="en-US" sz="2400" dirty="0">
              <a:solidFill>
                <a:srgbClr val="595959"/>
              </a:solidFill>
              <a:ea typeface="ＭＳ Ｐゴシック" charset="0"/>
            </a:endParaRPr>
          </a:p>
        </p:txBody>
      </p:sp>
    </p:spTree>
    <p:extLst>
      <p:ext uri="{BB962C8B-B14F-4D97-AF65-F5344CB8AC3E}">
        <p14:creationId xmlns:p14="http://schemas.microsoft.com/office/powerpoint/2010/main" val="1836210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838200"/>
            <a:ext cx="8229600" cy="1066800"/>
          </a:xfrm>
        </p:spPr>
        <p:txBody>
          <a:bodyPr>
            <a:normAutofit/>
          </a:bodyPr>
          <a:lstStyle/>
          <a:p>
            <a:r>
              <a:rPr lang="en-US" sz="3200" b="1" kern="10" dirty="0">
                <a:ln w="12700">
                  <a:noFill/>
                  <a:round/>
                  <a:headEnd/>
                  <a:tailEnd/>
                </a:ln>
                <a:solidFill>
                  <a:srgbClr val="A04DA3"/>
                </a:solidFill>
                <a:latin typeface="+mn-lt"/>
                <a:ea typeface="Arial Black"/>
                <a:cs typeface="Arial Black"/>
              </a:rPr>
              <a:t>Classification of Software Testing</a:t>
            </a:r>
            <a:endParaRPr lang="en-US" sz="3200" b="1" dirty="0">
              <a:latin typeface="+mn-lt"/>
            </a:endParaRPr>
          </a:p>
        </p:txBody>
      </p:sp>
      <p:sp>
        <p:nvSpPr>
          <p:cNvPr id="11265" name="Rectangle 2"/>
          <p:cNvSpPr>
            <a:spLocks noGrp="1" noChangeArrowheads="1"/>
          </p:cNvSpPr>
          <p:nvPr>
            <p:ph idx="1"/>
          </p:nvPr>
        </p:nvSpPr>
        <p:spPr bwMode="auto">
          <a:xfrm>
            <a:off x="304800" y="1828800"/>
            <a:ext cx="8229600" cy="4325112"/>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rmAutofit/>
          </a:bodyPr>
          <a:lstStyle/>
          <a:p>
            <a:pPr marL="0" indent="0" rtl="0">
              <a:buNone/>
            </a:pPr>
            <a:r>
              <a:rPr lang="en-US" sz="2400" b="1" dirty="0">
                <a:solidFill>
                  <a:schemeClr val="accent2"/>
                </a:solidFill>
                <a:latin typeface="+mn-lt"/>
                <a:ea typeface="ＭＳ Ｐゴシック" charset="0"/>
              </a:rPr>
              <a:t>Grey box testing</a:t>
            </a:r>
            <a:endParaRPr lang="en-US" sz="2400" dirty="0">
              <a:solidFill>
                <a:schemeClr val="tx1">
                  <a:lumMod val="65000"/>
                  <a:lumOff val="35000"/>
                </a:schemeClr>
              </a:solidFill>
              <a:latin typeface="+mn-lt"/>
              <a:ea typeface="ＭＳ Ｐゴシック" charset="0"/>
              <a:cs typeface="+mn-cs"/>
            </a:endParaRPr>
          </a:p>
          <a:p>
            <a:pPr rtl="0">
              <a:buClr>
                <a:schemeClr val="accent2"/>
              </a:buClr>
              <a:buFont typeface="Wingdings" charset="2"/>
              <a:buChar char="§"/>
            </a:pPr>
            <a:r>
              <a:rPr lang="en-US" sz="2400" dirty="0">
                <a:solidFill>
                  <a:schemeClr val="tx1">
                    <a:lumMod val="65000"/>
                    <a:lumOff val="35000"/>
                  </a:schemeClr>
                </a:solidFill>
                <a:latin typeface="+mn-lt"/>
                <a:ea typeface="ＭＳ Ｐゴシック" charset="0"/>
                <a:cs typeface="+mn-cs"/>
              </a:rPr>
              <a:t>Test the application with limited knowledge of the internal workings of an application. In software testing, the term the more you know the better carries a lot of weight when testing an application.</a:t>
            </a:r>
          </a:p>
          <a:p>
            <a:pPr rtl="0">
              <a:buClr>
                <a:schemeClr val="accent2"/>
              </a:buClr>
              <a:buFont typeface="Wingdings" charset="2"/>
              <a:buChar char="§"/>
            </a:pPr>
            <a:r>
              <a:rPr lang="en-US" sz="2400" dirty="0">
                <a:solidFill>
                  <a:schemeClr val="tx1">
                    <a:lumMod val="65000"/>
                    <a:lumOff val="35000"/>
                  </a:schemeClr>
                </a:solidFill>
                <a:latin typeface="+mn-lt"/>
                <a:ea typeface="ＭＳ Ｐゴシック" charset="0"/>
                <a:cs typeface="+mn-cs"/>
              </a:rPr>
              <a:t>Unlike black box testing, where the tester only tests the application's user interface, in grey box testing, the tester has access to design documents and the database. Having this knowledge, the tester is able to better prepare test data and test scenarios when making the test plan.</a:t>
            </a:r>
          </a:p>
          <a:p>
            <a:pPr marL="806958" lvl="1" indent="-514350" rtl="0">
              <a:buFont typeface="Wingdings" charset="2"/>
              <a:buChar char="§"/>
            </a:pPr>
            <a:endParaRPr lang="en-US" sz="2400" dirty="0">
              <a:solidFill>
                <a:srgbClr val="595959"/>
              </a:solidFill>
              <a:ea typeface="ＭＳ Ｐゴシック" charset="0"/>
            </a:endParaRPr>
          </a:p>
        </p:txBody>
      </p:sp>
    </p:spTree>
    <p:extLst>
      <p:ext uri="{BB962C8B-B14F-4D97-AF65-F5344CB8AC3E}">
        <p14:creationId xmlns:p14="http://schemas.microsoft.com/office/powerpoint/2010/main" val="2315469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685800"/>
          </a:xfrm>
        </p:spPr>
        <p:txBody>
          <a:bodyPr>
            <a:normAutofit/>
          </a:bodyPr>
          <a:lstStyle/>
          <a:p>
            <a:r>
              <a:rPr lang="en-US" sz="3200" b="1" kern="10" dirty="0">
                <a:ln w="12700">
                  <a:noFill/>
                  <a:round/>
                  <a:headEnd/>
                  <a:tailEnd/>
                </a:ln>
                <a:solidFill>
                  <a:srgbClr val="A04DA3"/>
                </a:solidFill>
                <a:latin typeface="+mn-lt"/>
                <a:ea typeface="Arial Black"/>
                <a:cs typeface="Arial Black"/>
              </a:rPr>
              <a:t>Black box vs. Grey box vs. White box</a:t>
            </a:r>
            <a:endParaRPr lang="en-US" sz="3200" dirty="0">
              <a:latin typeface="+mn-lt"/>
            </a:endParaRPr>
          </a:p>
        </p:txBody>
      </p:sp>
      <p:pic>
        <p:nvPicPr>
          <p:cNvPr id="5" name="Content Placeholder 4" descr="Screen Shot 2014-10-18 at 7.24.28 PM.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62000" y="1371600"/>
            <a:ext cx="7721936" cy="5372955"/>
          </a:xfrm>
        </p:spPr>
      </p:pic>
    </p:spTree>
    <p:extLst>
      <p:ext uri="{BB962C8B-B14F-4D97-AF65-F5344CB8AC3E}">
        <p14:creationId xmlns:p14="http://schemas.microsoft.com/office/powerpoint/2010/main" val="2217933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a:xfrm>
            <a:off x="1295400" y="1066800"/>
            <a:ext cx="4276725" cy="660400"/>
          </a:xfrm>
          <a:noFill/>
          <a:extLst>
            <a:ext uri="{91240B29-F687-4f45-9708-019B960494DF}">
              <a14:hiddenLine xmlns:a14="http://schemas.microsoft.com/office/drawing/2010/main" xmlns="" w="12700">
                <a:solidFill>
                  <a:schemeClr val="tx1"/>
                </a:solidFill>
                <a:miter lim="800000"/>
                <a:headEnd/>
                <a:tailEnd/>
              </a14:hiddenLine>
            </a:ext>
          </a:extLst>
        </p:spPr>
        <p:txBody>
          <a:bodyPr wrap="none" lIns="63500" tIns="25400" rIns="63500" bIns="25400" anchor="t">
            <a:spAutoFit/>
          </a:bodyPr>
          <a:lstStyle/>
          <a:p>
            <a:pPr eaLnBrk="1" hangingPunct="1"/>
            <a:r>
              <a:rPr lang="en-US" altLang="x-none"/>
              <a:t>White-Box Testing</a:t>
            </a:r>
          </a:p>
        </p:txBody>
      </p:sp>
      <p:sp>
        <p:nvSpPr>
          <p:cNvPr id="36" name="Slide Number Placeholder 4"/>
          <p:cNvSpPr>
            <a:spLocks noGrp="1"/>
          </p:cNvSpPr>
          <p:nvPr>
            <p:ph type="sldNum" sz="quarter" idx="12"/>
          </p:nvPr>
        </p:nvSpPr>
        <p:spPr>
          <a:prstGeom prst="rect">
            <a:avLst/>
          </a:prstGeom>
        </p:spPr>
        <p:txBody>
          <a:bodyPr/>
          <a:lstStyle/>
          <a:p>
            <a:pPr>
              <a:defRPr/>
            </a:pPr>
            <a:fld id="{F7D14319-43F3-46F4-8EE7-3CB9A3B7CC81}" type="slidenum">
              <a:rPr lang="en-US"/>
              <a:pPr>
                <a:defRPr/>
              </a:pPr>
              <a:t>9</a:t>
            </a:fld>
            <a:endParaRPr lang="en-US"/>
          </a:p>
        </p:txBody>
      </p:sp>
      <p:sp>
        <p:nvSpPr>
          <p:cNvPr id="35"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1269" name="Oval 3"/>
          <p:cNvSpPr>
            <a:spLocks noChangeArrowheads="1"/>
          </p:cNvSpPr>
          <p:nvPr/>
        </p:nvSpPr>
        <p:spPr bwMode="auto">
          <a:xfrm>
            <a:off x="5300663" y="2413000"/>
            <a:ext cx="63500" cy="114300"/>
          </a:xfrm>
          <a:prstGeom prst="ellipse">
            <a:avLst/>
          </a:prstGeom>
          <a:solidFill>
            <a:srgbClr val="FFFFFF"/>
          </a:solidFill>
          <a:ln w="25400">
            <a:solidFill>
              <a:schemeClr val="tx1"/>
            </a:solidFill>
            <a:round/>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0" name="Oval 4"/>
          <p:cNvSpPr>
            <a:spLocks noChangeArrowheads="1"/>
          </p:cNvSpPr>
          <p:nvPr/>
        </p:nvSpPr>
        <p:spPr bwMode="auto">
          <a:xfrm>
            <a:off x="5287963" y="2398713"/>
            <a:ext cx="88900" cy="14287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1" name="Line 5"/>
          <p:cNvSpPr>
            <a:spLocks noChangeShapeType="1"/>
          </p:cNvSpPr>
          <p:nvPr/>
        </p:nvSpPr>
        <p:spPr bwMode="auto">
          <a:xfrm>
            <a:off x="5338763" y="2555875"/>
            <a:ext cx="0" cy="8572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72" name="Rectangle 6"/>
          <p:cNvSpPr>
            <a:spLocks noChangeArrowheads="1"/>
          </p:cNvSpPr>
          <p:nvPr/>
        </p:nvSpPr>
        <p:spPr bwMode="auto">
          <a:xfrm>
            <a:off x="5160963" y="2698750"/>
            <a:ext cx="355600" cy="200025"/>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3" name="Rectangle 7"/>
          <p:cNvSpPr>
            <a:spLocks noChangeArrowheads="1"/>
          </p:cNvSpPr>
          <p:nvPr/>
        </p:nvSpPr>
        <p:spPr bwMode="auto">
          <a:xfrm>
            <a:off x="5148263" y="2684463"/>
            <a:ext cx="381000" cy="2286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4" name="Line 8"/>
          <p:cNvSpPr>
            <a:spLocks noChangeShapeType="1"/>
          </p:cNvSpPr>
          <p:nvPr/>
        </p:nvSpPr>
        <p:spPr bwMode="auto">
          <a:xfrm>
            <a:off x="5338763" y="2927350"/>
            <a:ext cx="0" cy="7143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75" name="Line 9"/>
          <p:cNvSpPr>
            <a:spLocks noChangeShapeType="1"/>
          </p:cNvSpPr>
          <p:nvPr/>
        </p:nvSpPr>
        <p:spPr bwMode="auto">
          <a:xfrm flipH="1">
            <a:off x="4767263" y="3113088"/>
            <a:ext cx="3556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76" name="Rectangle 10"/>
          <p:cNvSpPr>
            <a:spLocks noChangeArrowheads="1"/>
          </p:cNvSpPr>
          <p:nvPr/>
        </p:nvSpPr>
        <p:spPr bwMode="auto">
          <a:xfrm>
            <a:off x="4602163" y="3313113"/>
            <a:ext cx="355600" cy="200025"/>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7" name="Rectangle 11"/>
          <p:cNvSpPr>
            <a:spLocks noChangeArrowheads="1"/>
          </p:cNvSpPr>
          <p:nvPr/>
        </p:nvSpPr>
        <p:spPr bwMode="auto">
          <a:xfrm>
            <a:off x="4589463" y="3298825"/>
            <a:ext cx="381000" cy="2286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8" name="Rectangle 12"/>
          <p:cNvSpPr>
            <a:spLocks noChangeArrowheads="1"/>
          </p:cNvSpPr>
          <p:nvPr/>
        </p:nvSpPr>
        <p:spPr bwMode="auto">
          <a:xfrm>
            <a:off x="5719763" y="3341688"/>
            <a:ext cx="355600" cy="200025"/>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79" name="Rectangle 13"/>
          <p:cNvSpPr>
            <a:spLocks noChangeArrowheads="1"/>
          </p:cNvSpPr>
          <p:nvPr/>
        </p:nvSpPr>
        <p:spPr bwMode="auto">
          <a:xfrm>
            <a:off x="5707063" y="3327400"/>
            <a:ext cx="381000" cy="2286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80" name="Line 14"/>
          <p:cNvSpPr>
            <a:spLocks noChangeShapeType="1"/>
          </p:cNvSpPr>
          <p:nvPr/>
        </p:nvSpPr>
        <p:spPr bwMode="auto">
          <a:xfrm>
            <a:off x="4779963" y="3113088"/>
            <a:ext cx="0" cy="1714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1" name="Line 15"/>
          <p:cNvSpPr>
            <a:spLocks noChangeShapeType="1"/>
          </p:cNvSpPr>
          <p:nvPr/>
        </p:nvSpPr>
        <p:spPr bwMode="auto">
          <a:xfrm flipH="1">
            <a:off x="5541963" y="3113088"/>
            <a:ext cx="3556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2" name="Line 16"/>
          <p:cNvSpPr>
            <a:spLocks noChangeShapeType="1"/>
          </p:cNvSpPr>
          <p:nvPr/>
        </p:nvSpPr>
        <p:spPr bwMode="auto">
          <a:xfrm>
            <a:off x="5897563" y="3113088"/>
            <a:ext cx="0" cy="1714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3" name="Line 17"/>
          <p:cNvSpPr>
            <a:spLocks noChangeShapeType="1"/>
          </p:cNvSpPr>
          <p:nvPr/>
        </p:nvSpPr>
        <p:spPr bwMode="auto">
          <a:xfrm>
            <a:off x="4779963" y="3541713"/>
            <a:ext cx="0" cy="1143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4" name="Line 18"/>
          <p:cNvSpPr>
            <a:spLocks noChangeShapeType="1"/>
          </p:cNvSpPr>
          <p:nvPr/>
        </p:nvSpPr>
        <p:spPr bwMode="auto">
          <a:xfrm>
            <a:off x="5897563" y="3570288"/>
            <a:ext cx="0" cy="1143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5" name="Line 19"/>
          <p:cNvSpPr>
            <a:spLocks noChangeShapeType="1"/>
          </p:cNvSpPr>
          <p:nvPr/>
        </p:nvSpPr>
        <p:spPr bwMode="auto">
          <a:xfrm>
            <a:off x="4779963" y="3698875"/>
            <a:ext cx="11049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6" name="Line 20"/>
          <p:cNvSpPr>
            <a:spLocks noChangeShapeType="1"/>
          </p:cNvSpPr>
          <p:nvPr/>
        </p:nvSpPr>
        <p:spPr bwMode="auto">
          <a:xfrm>
            <a:off x="5338763" y="3698875"/>
            <a:ext cx="0" cy="17145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87" name="Rectangle 21"/>
          <p:cNvSpPr>
            <a:spLocks noChangeArrowheads="1"/>
          </p:cNvSpPr>
          <p:nvPr/>
        </p:nvSpPr>
        <p:spPr bwMode="auto">
          <a:xfrm>
            <a:off x="5160963" y="3927475"/>
            <a:ext cx="355600" cy="200025"/>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88" name="Rectangle 22"/>
          <p:cNvSpPr>
            <a:spLocks noChangeArrowheads="1"/>
          </p:cNvSpPr>
          <p:nvPr/>
        </p:nvSpPr>
        <p:spPr bwMode="auto">
          <a:xfrm>
            <a:off x="5148263" y="3913188"/>
            <a:ext cx="381000" cy="2286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89" name="Line 23"/>
          <p:cNvSpPr>
            <a:spLocks noChangeShapeType="1"/>
          </p:cNvSpPr>
          <p:nvPr/>
        </p:nvSpPr>
        <p:spPr bwMode="auto">
          <a:xfrm>
            <a:off x="5338763" y="4156075"/>
            <a:ext cx="0" cy="2143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90" name="Line 24"/>
          <p:cNvSpPr>
            <a:spLocks noChangeShapeType="1"/>
          </p:cNvSpPr>
          <p:nvPr/>
        </p:nvSpPr>
        <p:spPr bwMode="auto">
          <a:xfrm>
            <a:off x="5338763" y="4498975"/>
            <a:ext cx="0" cy="7143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91" name="Line 25"/>
          <p:cNvSpPr>
            <a:spLocks noChangeShapeType="1"/>
          </p:cNvSpPr>
          <p:nvPr/>
        </p:nvSpPr>
        <p:spPr bwMode="auto">
          <a:xfrm>
            <a:off x="5338763" y="2613025"/>
            <a:ext cx="8636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92" name="Line 26"/>
          <p:cNvSpPr>
            <a:spLocks noChangeShapeType="1"/>
          </p:cNvSpPr>
          <p:nvPr/>
        </p:nvSpPr>
        <p:spPr bwMode="auto">
          <a:xfrm>
            <a:off x="5338763" y="4556125"/>
            <a:ext cx="8636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1293" name="Line 27"/>
          <p:cNvSpPr>
            <a:spLocks noChangeShapeType="1"/>
          </p:cNvSpPr>
          <p:nvPr/>
        </p:nvSpPr>
        <p:spPr bwMode="auto">
          <a:xfrm>
            <a:off x="6215063" y="2613025"/>
            <a:ext cx="0" cy="19288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sp>
        <p:nvSpPr>
          <p:cNvPr id="179228" name="Rectangle 28"/>
          <p:cNvSpPr>
            <a:spLocks noChangeArrowheads="1"/>
          </p:cNvSpPr>
          <p:nvPr/>
        </p:nvSpPr>
        <p:spPr bwMode="auto">
          <a:xfrm>
            <a:off x="2428875" y="5097463"/>
            <a:ext cx="4668838"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 our goal is to ensure that all </a:t>
            </a:r>
          </a:p>
        </p:txBody>
      </p:sp>
      <p:sp>
        <p:nvSpPr>
          <p:cNvPr id="179229" name="Rectangle 29"/>
          <p:cNvSpPr>
            <a:spLocks noChangeArrowheads="1"/>
          </p:cNvSpPr>
          <p:nvPr/>
        </p:nvSpPr>
        <p:spPr bwMode="auto">
          <a:xfrm>
            <a:off x="2428875" y="5454650"/>
            <a:ext cx="4906963"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statements and conditions have </a:t>
            </a:r>
          </a:p>
        </p:txBody>
      </p:sp>
      <p:sp>
        <p:nvSpPr>
          <p:cNvPr id="179230" name="Rectangle 30"/>
          <p:cNvSpPr>
            <a:spLocks noChangeArrowheads="1"/>
          </p:cNvSpPr>
          <p:nvPr/>
        </p:nvSpPr>
        <p:spPr bwMode="auto">
          <a:xfrm>
            <a:off x="2387600" y="5811838"/>
            <a:ext cx="4568825"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been executed at least once ...</a:t>
            </a:r>
          </a:p>
        </p:txBody>
      </p:sp>
      <p:sp>
        <p:nvSpPr>
          <p:cNvPr id="11297" name="AutoShape 31"/>
          <p:cNvSpPr>
            <a:spLocks noChangeArrowheads="1"/>
          </p:cNvSpPr>
          <p:nvPr/>
        </p:nvSpPr>
        <p:spPr bwMode="auto">
          <a:xfrm>
            <a:off x="5110163" y="2984500"/>
            <a:ext cx="444500" cy="271463"/>
          </a:xfrm>
          <a:prstGeom prst="diamond">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98" name="AutoShape 32"/>
          <p:cNvSpPr>
            <a:spLocks noChangeArrowheads="1"/>
          </p:cNvSpPr>
          <p:nvPr/>
        </p:nvSpPr>
        <p:spPr bwMode="auto">
          <a:xfrm>
            <a:off x="5110163" y="4398963"/>
            <a:ext cx="444500" cy="271462"/>
          </a:xfrm>
          <a:prstGeom prst="diamond">
            <a:avLst/>
          </a:prstGeom>
          <a:solidFill>
            <a:schemeClr val="tx2"/>
          </a:solidFill>
          <a:ln w="25400">
            <a:solidFill>
              <a:schemeClr val="tx1"/>
            </a:solidFill>
            <a:miter lim="800000"/>
            <a:headEnd/>
            <a:tailEnd/>
          </a:ln>
          <a:effectLst/>
          <a:extLs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1299" name="Line 33"/>
          <p:cNvSpPr>
            <a:spLocks noChangeShapeType="1"/>
          </p:cNvSpPr>
          <p:nvPr/>
        </p:nvSpPr>
        <p:spPr bwMode="auto">
          <a:xfrm>
            <a:off x="5338763" y="4713288"/>
            <a:ext cx="0" cy="35718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107763" dir="2700000" algn="ctr" rotWithShape="0">
                    <a:schemeClr val="bg2"/>
                  </a:outerShdw>
                </a:effectLst>
              </a14:hiddenEffects>
            </a:ext>
          </a:extLst>
        </p:spPr>
        <p:txBody>
          <a:bodyPr wrap="none" anchor="ctr"/>
          <a:lstStyle/>
          <a:p>
            <a:endParaRPr lang="x-none"/>
          </a:p>
        </p:txBody>
      </p:sp>
      <p:pic>
        <p:nvPicPr>
          <p:cNvPr id="11300"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600" y="1828800"/>
            <a:ext cx="2068513" cy="281940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folHlink"/>
                </a:solidFill>
                <a:miter lim="800000"/>
                <a:headEnd/>
                <a:tailEnd/>
              </a14:hiddenLine>
            </a:ext>
            <a:ext uri="{AF507438-7753-43e0-B8FC-AC1667EBCBE1}">
              <a14:hiddenEffects xmlns:a14="http://schemas.microsoft.com/office/drawing/2010/main" xmlns="">
                <a:effectLst>
                  <a:outerShdw dist="107763" dir="2700000" algn="ctr" rotWithShape="0">
                    <a:schemeClr val="bg2"/>
                  </a:outerShdw>
                </a:effectLst>
              </a14:hiddenEffects>
            </a:ext>
          </a:extLst>
        </p:spPr>
      </p:pic>
    </p:spTree>
    <p:extLst>
      <p:ext uri="{BB962C8B-B14F-4D97-AF65-F5344CB8AC3E}">
        <p14:creationId xmlns:p14="http://schemas.microsoft.com/office/powerpoint/2010/main" val="58753642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1295400" y="1066800"/>
            <a:ext cx="2921000" cy="660400"/>
          </a:xfrm>
          <a:noFill/>
          <a:extLst>
            <a:ext uri="{91240B29-F687-4f45-9708-019B960494DF}">
              <a14:hiddenLine xmlns:a14="http://schemas.microsoft.com/office/drawing/2010/main" xmlns="" w="12700">
                <a:solidFill>
                  <a:schemeClr val="tx1"/>
                </a:solidFill>
                <a:miter lim="800000"/>
                <a:headEnd/>
                <a:tailEnd/>
              </a14:hiddenLine>
            </a:ext>
          </a:extLst>
        </p:spPr>
        <p:txBody>
          <a:bodyPr wrap="none" lIns="63500" tIns="25400" rIns="63500" bIns="25400" anchor="t">
            <a:spAutoFit/>
          </a:bodyPr>
          <a:lstStyle/>
          <a:p>
            <a:pPr eaLnBrk="1" hangingPunct="1"/>
            <a:r>
              <a:rPr lang="en-US" altLang="x-none"/>
              <a:t>Why Cover?</a:t>
            </a:r>
          </a:p>
        </p:txBody>
      </p:sp>
      <p:sp>
        <p:nvSpPr>
          <p:cNvPr id="26" name="Slide Number Placeholder 4"/>
          <p:cNvSpPr>
            <a:spLocks noGrp="1"/>
          </p:cNvSpPr>
          <p:nvPr>
            <p:ph type="sldNum" sz="quarter" idx="12"/>
          </p:nvPr>
        </p:nvSpPr>
        <p:spPr>
          <a:prstGeom prst="rect">
            <a:avLst/>
          </a:prstGeom>
        </p:spPr>
        <p:txBody>
          <a:bodyPr/>
          <a:lstStyle/>
          <a:p>
            <a:pPr>
              <a:defRPr/>
            </a:pPr>
            <a:fld id="{D7F84AF2-93B6-49D7-8596-4D5EBE550991}" type="slidenum">
              <a:rPr lang="en-US"/>
              <a:pPr>
                <a:defRPr/>
              </a:pPr>
              <a:t>10</a:t>
            </a:fld>
            <a:endParaRPr lang="en-US"/>
          </a:p>
        </p:txBody>
      </p:sp>
      <p:sp>
        <p:nvSpPr>
          <p:cNvPr id="25"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80227" name="Rectangle 3"/>
          <p:cNvSpPr>
            <a:spLocks noChangeArrowheads="1"/>
          </p:cNvSpPr>
          <p:nvPr/>
        </p:nvSpPr>
        <p:spPr bwMode="auto">
          <a:xfrm>
            <a:off x="2438400" y="1905000"/>
            <a:ext cx="5741988"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dirty="0">
                <a:effectLst>
                  <a:outerShdw blurRad="38100" dist="38100" dir="2700000" algn="tl">
                    <a:srgbClr val="FFFFFF"/>
                  </a:outerShdw>
                </a:effectLst>
                <a:latin typeface="Helvetica" pitchFamily="-128" charset="0"/>
                <a:ea typeface="ＭＳ Ｐゴシック" pitchFamily="-128" charset="-128"/>
              </a:rPr>
              <a:t>logic errors and incorrect assumptions </a:t>
            </a: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80228" name="Rectangle 4"/>
          <p:cNvSpPr>
            <a:spLocks noChangeArrowheads="1"/>
          </p:cNvSpPr>
          <p:nvPr/>
        </p:nvSpPr>
        <p:spPr bwMode="auto">
          <a:xfrm>
            <a:off x="2438400" y="2262189"/>
            <a:ext cx="5424488" cy="328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dirty="0">
                <a:effectLst>
                  <a:outerShdw blurRad="38100" dist="38100" dir="2700000" algn="tl">
                    <a:srgbClr val="FFFFFF"/>
                  </a:outerShdw>
                </a:effectLst>
                <a:latin typeface="Helvetica" pitchFamily="-128" charset="0"/>
                <a:ea typeface="ＭＳ Ｐゴシック" pitchFamily="-128" charset="-128"/>
              </a:rPr>
              <a:t>are inversely proportional to a path's </a:t>
            </a: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80229" name="Rectangle 5"/>
          <p:cNvSpPr>
            <a:spLocks noChangeArrowheads="1"/>
          </p:cNvSpPr>
          <p:nvPr/>
        </p:nvSpPr>
        <p:spPr bwMode="auto">
          <a:xfrm>
            <a:off x="2438400" y="2617788"/>
            <a:ext cx="3065463" cy="328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execution probability</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0230" name="Rectangle 6"/>
          <p:cNvSpPr>
            <a:spLocks noChangeArrowheads="1"/>
          </p:cNvSpPr>
          <p:nvPr/>
        </p:nvSpPr>
        <p:spPr bwMode="auto">
          <a:xfrm>
            <a:off x="2233613" y="2568575"/>
            <a:ext cx="0" cy="24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0231" name="Rectangle 7"/>
          <p:cNvSpPr>
            <a:spLocks noChangeArrowheads="1"/>
          </p:cNvSpPr>
          <p:nvPr/>
        </p:nvSpPr>
        <p:spPr bwMode="auto">
          <a:xfrm>
            <a:off x="2438400" y="3330575"/>
            <a:ext cx="1404938"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dirty="0">
                <a:effectLst>
                  <a:outerShdw blurRad="38100" dist="38100" dir="2700000" algn="tl">
                    <a:srgbClr val="FFFFFF"/>
                  </a:outerShdw>
                </a:effectLst>
                <a:latin typeface="Helvetica" pitchFamily="-128" charset="0"/>
                <a:ea typeface="ＭＳ Ｐゴシック" pitchFamily="-128" charset="-128"/>
              </a:rPr>
              <a:t>we often  </a:t>
            </a: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80232" name="Rectangle 8"/>
          <p:cNvSpPr>
            <a:spLocks noChangeArrowheads="1"/>
          </p:cNvSpPr>
          <p:nvPr/>
        </p:nvSpPr>
        <p:spPr bwMode="auto">
          <a:xfrm>
            <a:off x="3462337" y="3352800"/>
            <a:ext cx="1033463"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u="sng" dirty="0">
                <a:effectLst>
                  <a:outerShdw blurRad="38100" dist="38100" dir="2700000" algn="tl">
                    <a:srgbClr val="FFFFFF"/>
                  </a:outerShdw>
                </a:effectLst>
                <a:latin typeface="Helvetica" pitchFamily="-128" charset="0"/>
                <a:ea typeface="ＭＳ Ｐゴシック" pitchFamily="-128" charset="-128"/>
              </a:rPr>
              <a:t>believe</a:t>
            </a: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80233" name="Rectangle 9"/>
          <p:cNvSpPr>
            <a:spLocks noChangeArrowheads="1"/>
          </p:cNvSpPr>
          <p:nvPr/>
        </p:nvSpPr>
        <p:spPr bwMode="auto">
          <a:xfrm>
            <a:off x="4267200" y="3348038"/>
            <a:ext cx="2608263"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dirty="0">
                <a:effectLst>
                  <a:outerShdw blurRad="38100" dist="38100" dir="2700000" algn="tl">
                    <a:srgbClr val="FFFFFF"/>
                  </a:outerShdw>
                </a:effectLst>
                <a:latin typeface="Helvetica" pitchFamily="-128" charset="0"/>
                <a:ea typeface="ＭＳ Ｐゴシック" pitchFamily="-128" charset="-128"/>
              </a:rPr>
              <a:t> that a path is not </a:t>
            </a: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80234" name="Rectangle 10"/>
          <p:cNvSpPr>
            <a:spLocks noChangeArrowheads="1"/>
          </p:cNvSpPr>
          <p:nvPr/>
        </p:nvSpPr>
        <p:spPr bwMode="auto">
          <a:xfrm>
            <a:off x="2438400" y="3686175"/>
            <a:ext cx="5640388"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likely to be executed;  in fact, reality is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0235" name="Rectangle 11"/>
          <p:cNvSpPr>
            <a:spLocks noChangeArrowheads="1"/>
          </p:cNvSpPr>
          <p:nvPr/>
        </p:nvSpPr>
        <p:spPr bwMode="auto">
          <a:xfrm>
            <a:off x="2438400" y="4041775"/>
            <a:ext cx="3200400"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dirty="0">
                <a:effectLst>
                  <a:outerShdw blurRad="38100" dist="38100" dir="2700000" algn="tl">
                    <a:srgbClr val="FFFFFF"/>
                  </a:outerShdw>
                </a:effectLst>
                <a:latin typeface="Helvetica" pitchFamily="-128" charset="0"/>
                <a:ea typeface="ＭＳ Ｐゴシック" pitchFamily="-128" charset="-128"/>
              </a:rPr>
              <a:t>often counter intuitive</a:t>
            </a:r>
            <a:endParaRPr lang="en-US" sz="1800" b="1" dirty="0">
              <a:effectLst>
                <a:outerShdw blurRad="38100" dist="38100" dir="2700000" algn="tl">
                  <a:srgbClr val="FFFFFF"/>
                </a:outerShdw>
              </a:effectLst>
              <a:latin typeface="Helvetica" pitchFamily="-128" charset="0"/>
              <a:ea typeface="ＭＳ Ｐゴシック" pitchFamily="-128" charset="-128"/>
            </a:endParaRPr>
          </a:p>
        </p:txBody>
      </p:sp>
      <p:sp>
        <p:nvSpPr>
          <p:cNvPr id="180236" name="Rectangle 12"/>
          <p:cNvSpPr>
            <a:spLocks noChangeArrowheads="1"/>
          </p:cNvSpPr>
          <p:nvPr/>
        </p:nvSpPr>
        <p:spPr bwMode="auto">
          <a:xfrm>
            <a:off x="2233613" y="3990975"/>
            <a:ext cx="0" cy="24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0237" name="Rectangle 13"/>
          <p:cNvSpPr>
            <a:spLocks noChangeArrowheads="1"/>
          </p:cNvSpPr>
          <p:nvPr/>
        </p:nvSpPr>
        <p:spPr bwMode="auto">
          <a:xfrm>
            <a:off x="2438400" y="4752975"/>
            <a:ext cx="5492750"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typographical errors are random;  it's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0238" name="Rectangle 14"/>
          <p:cNvSpPr>
            <a:spLocks noChangeArrowheads="1"/>
          </p:cNvSpPr>
          <p:nvPr/>
        </p:nvSpPr>
        <p:spPr bwMode="auto">
          <a:xfrm>
            <a:off x="2438400" y="5108575"/>
            <a:ext cx="5487988"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likely that untested paths will contain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0239" name="Rectangle 15"/>
          <p:cNvSpPr>
            <a:spLocks noChangeArrowheads="1"/>
          </p:cNvSpPr>
          <p:nvPr/>
        </p:nvSpPr>
        <p:spPr bwMode="auto">
          <a:xfrm>
            <a:off x="2438400" y="5464175"/>
            <a:ext cx="881063"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some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grpSp>
        <p:nvGrpSpPr>
          <p:cNvPr id="12306" name="Group 16"/>
          <p:cNvGrpSpPr>
            <a:grpSpLocks/>
          </p:cNvGrpSpPr>
          <p:nvPr/>
        </p:nvGrpSpPr>
        <p:grpSpPr bwMode="auto">
          <a:xfrm>
            <a:off x="1919288" y="4765675"/>
            <a:ext cx="241300" cy="271463"/>
            <a:chOff x="1080" y="2442"/>
            <a:chExt cx="152" cy="152"/>
          </a:xfrm>
        </p:grpSpPr>
        <p:sp>
          <p:nvSpPr>
            <p:cNvPr id="12313" name="Rectangle 17"/>
            <p:cNvSpPr>
              <a:spLocks noChangeArrowheads="1"/>
            </p:cNvSpPr>
            <p:nvPr/>
          </p:nvSpPr>
          <p:spPr bwMode="auto">
            <a:xfrm>
              <a:off x="1096" y="2458"/>
              <a:ext cx="136" cy="136"/>
            </a:xfrm>
            <a:prstGeom prst="rect">
              <a:avLst/>
            </a:prstGeom>
            <a:solidFill>
              <a:schemeClr val="folHlink"/>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2314" name="Rectangle 18"/>
            <p:cNvSpPr>
              <a:spLocks noChangeArrowheads="1"/>
            </p:cNvSpPr>
            <p:nvPr/>
          </p:nvSpPr>
          <p:spPr bwMode="auto">
            <a:xfrm>
              <a:off x="1080" y="2442"/>
              <a:ext cx="128" cy="136"/>
            </a:xfrm>
            <a:prstGeom prst="rect">
              <a:avLst/>
            </a:prstGeom>
            <a:solidFill>
              <a:schemeClr val="folHlink"/>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grpSp>
        <p:nvGrpSpPr>
          <p:cNvPr id="12307" name="Group 19"/>
          <p:cNvGrpSpPr>
            <a:grpSpLocks/>
          </p:cNvGrpSpPr>
          <p:nvPr/>
        </p:nvGrpSpPr>
        <p:grpSpPr bwMode="auto">
          <a:xfrm>
            <a:off x="1919288" y="3328988"/>
            <a:ext cx="241300" cy="269875"/>
            <a:chOff x="1080" y="1637"/>
            <a:chExt cx="152" cy="151"/>
          </a:xfrm>
        </p:grpSpPr>
        <p:sp>
          <p:nvSpPr>
            <p:cNvPr id="12311" name="Rectangle 20"/>
            <p:cNvSpPr>
              <a:spLocks noChangeArrowheads="1"/>
            </p:cNvSpPr>
            <p:nvPr/>
          </p:nvSpPr>
          <p:spPr bwMode="auto">
            <a:xfrm>
              <a:off x="1096" y="1653"/>
              <a:ext cx="136" cy="135"/>
            </a:xfrm>
            <a:prstGeom prst="rect">
              <a:avLst/>
            </a:prstGeom>
            <a:solidFill>
              <a:schemeClr val="folHlink"/>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2312" name="Rectangle 21"/>
            <p:cNvSpPr>
              <a:spLocks noChangeArrowheads="1"/>
            </p:cNvSpPr>
            <p:nvPr/>
          </p:nvSpPr>
          <p:spPr bwMode="auto">
            <a:xfrm>
              <a:off x="1080" y="1637"/>
              <a:ext cx="128" cy="136"/>
            </a:xfrm>
            <a:prstGeom prst="rect">
              <a:avLst/>
            </a:prstGeom>
            <a:solidFill>
              <a:schemeClr val="folHlink"/>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grpSp>
        <p:nvGrpSpPr>
          <p:cNvPr id="12308" name="Group 22"/>
          <p:cNvGrpSpPr>
            <a:grpSpLocks/>
          </p:cNvGrpSpPr>
          <p:nvPr/>
        </p:nvGrpSpPr>
        <p:grpSpPr bwMode="auto">
          <a:xfrm>
            <a:off x="1919288" y="1890713"/>
            <a:ext cx="241300" cy="269875"/>
            <a:chOff x="1080" y="832"/>
            <a:chExt cx="152" cy="151"/>
          </a:xfrm>
        </p:grpSpPr>
        <p:sp>
          <p:nvSpPr>
            <p:cNvPr id="12309" name="Rectangle 23"/>
            <p:cNvSpPr>
              <a:spLocks noChangeArrowheads="1"/>
            </p:cNvSpPr>
            <p:nvPr/>
          </p:nvSpPr>
          <p:spPr bwMode="auto">
            <a:xfrm>
              <a:off x="1096" y="848"/>
              <a:ext cx="136" cy="135"/>
            </a:xfrm>
            <a:prstGeom prst="rect">
              <a:avLst/>
            </a:prstGeom>
            <a:solidFill>
              <a:schemeClr val="folHlink"/>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2310" name="Rectangle 24"/>
            <p:cNvSpPr>
              <a:spLocks noChangeArrowheads="1"/>
            </p:cNvSpPr>
            <p:nvPr/>
          </p:nvSpPr>
          <p:spPr bwMode="auto">
            <a:xfrm>
              <a:off x="1080" y="832"/>
              <a:ext cx="128" cy="127"/>
            </a:xfrm>
            <a:prstGeom prst="rect">
              <a:avLst/>
            </a:prstGeom>
            <a:solidFill>
              <a:schemeClr val="folHlink"/>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spTree>
    <p:extLst>
      <p:ext uri="{BB962C8B-B14F-4D97-AF65-F5344CB8AC3E}">
        <p14:creationId xmlns:p14="http://schemas.microsoft.com/office/powerpoint/2010/main" val="331042021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219200"/>
          </a:xfrm>
        </p:spPr>
        <p:txBody>
          <a:bodyPr>
            <a:normAutofit fontScale="90000"/>
          </a:bodyPr>
          <a:lstStyle/>
          <a:p>
            <a:r>
              <a:rPr lang="en-US" sz="3600" b="1" kern="10" dirty="0">
                <a:ln w="12700">
                  <a:noFill/>
                  <a:round/>
                  <a:headEnd/>
                  <a:tailEnd/>
                </a:ln>
                <a:solidFill>
                  <a:srgbClr val="A04DA3"/>
                </a:solidFill>
                <a:latin typeface="+mn-lt"/>
                <a:ea typeface="Arial Black"/>
                <a:cs typeface="Arial Black"/>
              </a:rPr>
              <a:t>1. Data processing and calculation correctness tests </a:t>
            </a:r>
            <a:br>
              <a:rPr lang="en-US" sz="3600" b="1" dirty="0">
                <a:solidFill>
                  <a:schemeClr val="accent2"/>
                </a:solidFill>
                <a:ea typeface="ＭＳ Ｐゴシック" charset="0"/>
              </a:rPr>
            </a:br>
            <a:endParaRPr lang="en-US" sz="3600" b="1" kern="10" dirty="0">
              <a:ln w="12700">
                <a:noFill/>
                <a:round/>
                <a:headEnd/>
                <a:tailEnd/>
              </a:ln>
              <a:solidFill>
                <a:srgbClr val="A04DA3"/>
              </a:solidFill>
              <a:latin typeface="+mn-lt"/>
              <a:ea typeface="Arial Black"/>
              <a:cs typeface="Arial Black"/>
            </a:endParaRPr>
          </a:p>
        </p:txBody>
      </p:sp>
      <p:sp>
        <p:nvSpPr>
          <p:cNvPr id="11265" name="Rectangle 2"/>
          <p:cNvSpPr>
            <a:spLocks noGrp="1" noChangeArrowheads="1"/>
          </p:cNvSpPr>
          <p:nvPr>
            <p:ph idx="1"/>
          </p:nvPr>
        </p:nvSpPr>
        <p:spPr bwMode="auto">
          <a:xfrm>
            <a:off x="304800" y="1905000"/>
            <a:ext cx="8534400" cy="4669536"/>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rmAutofit/>
          </a:bodyPr>
          <a:lstStyle/>
          <a:p>
            <a:pPr marL="0" lvl="1" indent="0" rtl="0">
              <a:buClrTx/>
              <a:buNone/>
            </a:pPr>
            <a:r>
              <a:rPr lang="en-US" sz="2400" dirty="0">
                <a:solidFill>
                  <a:schemeClr val="tx1">
                    <a:lumMod val="65000"/>
                    <a:lumOff val="35000"/>
                  </a:schemeClr>
                </a:solidFill>
              </a:rPr>
              <a:t>Every computational operation in the sequence of operations created by each test case (“path”) must be examined. This helps to decide whether the processing operations and their sequences were programmed correctly for the path in question, but not for other paths. </a:t>
            </a:r>
          </a:p>
          <a:p>
            <a:pPr marL="571500" indent="-571500" rtl="0">
              <a:buClrTx/>
              <a:buFont typeface="Wingdings" charset="2"/>
              <a:buChar char="v"/>
            </a:pPr>
            <a:endParaRPr lang="en-US" sz="2400" b="1" dirty="0">
              <a:solidFill>
                <a:schemeClr val="accent2"/>
              </a:solidFill>
              <a:latin typeface="+mn-lt"/>
              <a:ea typeface="ＭＳ Ｐゴシック" charset="0"/>
            </a:endParaRPr>
          </a:p>
          <a:p>
            <a:pPr marL="571500" indent="-571500" rtl="0">
              <a:buClrTx/>
              <a:buFont typeface="Wingdings" charset="2"/>
              <a:buChar char="v"/>
            </a:pPr>
            <a:r>
              <a:rPr lang="en-US" sz="2400" b="1" dirty="0">
                <a:solidFill>
                  <a:schemeClr val="accent2"/>
                </a:solidFill>
                <a:latin typeface="+mn-lt"/>
                <a:ea typeface="ＭＳ Ｐゴシック" charset="0"/>
              </a:rPr>
              <a:t>How to cover all test cases ?</a:t>
            </a:r>
          </a:p>
          <a:p>
            <a:pPr lvl="1" rtl="0">
              <a:lnSpc>
                <a:spcPct val="90000"/>
              </a:lnSpc>
            </a:pPr>
            <a:r>
              <a:rPr lang="en-US" sz="2400" b="1" dirty="0">
                <a:solidFill>
                  <a:schemeClr val="accent4"/>
                </a:solidFill>
                <a:ea typeface="ＭＳ Ｐゴシック" charset="0"/>
              </a:rPr>
              <a:t>Path coverage -</a:t>
            </a:r>
            <a:r>
              <a:rPr lang="en-US" sz="2400" b="1" dirty="0">
                <a:solidFill>
                  <a:srgbClr val="595959"/>
                </a:solidFill>
                <a:ea typeface="ＭＳ Ｐゴシック" charset="0"/>
              </a:rPr>
              <a:t> </a:t>
            </a:r>
            <a:r>
              <a:rPr lang="en-US" sz="2400" dirty="0">
                <a:solidFill>
                  <a:srgbClr val="595959"/>
                </a:solidFill>
                <a:ea typeface="ＭＳ Ｐゴシック" charset="0"/>
              </a:rPr>
              <a:t>measured by the percentage of all possible program paths included in  planned testing.</a:t>
            </a:r>
          </a:p>
          <a:p>
            <a:pPr lvl="1" rtl="0">
              <a:lnSpc>
                <a:spcPct val="90000"/>
              </a:lnSpc>
            </a:pPr>
            <a:endParaRPr lang="en-US" sz="2400" dirty="0">
              <a:solidFill>
                <a:srgbClr val="595959"/>
              </a:solidFill>
              <a:ea typeface="ＭＳ Ｐゴシック" charset="0"/>
            </a:endParaRPr>
          </a:p>
          <a:p>
            <a:pPr lvl="1" rtl="0">
              <a:lnSpc>
                <a:spcPct val="90000"/>
              </a:lnSpc>
            </a:pPr>
            <a:r>
              <a:rPr lang="en-US" sz="2400" b="1" dirty="0">
                <a:solidFill>
                  <a:srgbClr val="C4652D"/>
                </a:solidFill>
                <a:ea typeface="ＭＳ Ｐゴシック" charset="0"/>
              </a:rPr>
              <a:t>Line coverage – </a:t>
            </a:r>
            <a:r>
              <a:rPr lang="en-US" sz="2400" dirty="0">
                <a:solidFill>
                  <a:srgbClr val="595959"/>
                </a:solidFill>
                <a:ea typeface="ＭＳ Ｐゴシック" charset="0"/>
              </a:rPr>
              <a:t>measured by the percentage of program code lines included in planned testing.</a:t>
            </a:r>
          </a:p>
        </p:txBody>
      </p:sp>
    </p:spTree>
    <p:extLst>
      <p:ext uri="{BB962C8B-B14F-4D97-AF65-F5344CB8AC3E}">
        <p14:creationId xmlns:p14="http://schemas.microsoft.com/office/powerpoint/2010/main" val="3565054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914400"/>
            <a:ext cx="8610600" cy="533400"/>
          </a:xfrm>
        </p:spPr>
        <p:txBody>
          <a:bodyPr>
            <a:noAutofit/>
          </a:bodyPr>
          <a:lstStyle/>
          <a:p>
            <a:r>
              <a:rPr lang="en-US" sz="2800" b="1" kern="10" dirty="0">
                <a:ln w="12700">
                  <a:noFill/>
                  <a:round/>
                  <a:headEnd/>
                  <a:tailEnd/>
                </a:ln>
                <a:solidFill>
                  <a:srgbClr val="A04DA3"/>
                </a:solidFill>
                <a:latin typeface="+mn-lt"/>
                <a:ea typeface="Arial Black"/>
                <a:cs typeface="Arial Black"/>
              </a:rPr>
              <a:t>1. Data processing and calculation correctness tests </a:t>
            </a:r>
            <a:br>
              <a:rPr lang="en-US" sz="2800" b="1" dirty="0">
                <a:solidFill>
                  <a:schemeClr val="accent2"/>
                </a:solidFill>
                <a:ea typeface="ＭＳ Ｐゴシック" charset="0"/>
              </a:rPr>
            </a:br>
            <a:endParaRPr lang="en-US" sz="2800" b="1" kern="10" dirty="0">
              <a:ln w="12700">
                <a:noFill/>
                <a:round/>
                <a:headEnd/>
                <a:tailEnd/>
              </a:ln>
              <a:solidFill>
                <a:srgbClr val="A04DA3"/>
              </a:solidFill>
              <a:latin typeface="+mn-lt"/>
              <a:ea typeface="Arial Black"/>
              <a:cs typeface="Arial Black"/>
            </a:endParaRPr>
          </a:p>
        </p:txBody>
      </p:sp>
      <p:sp>
        <p:nvSpPr>
          <p:cNvPr id="11265" name="Rectangle 2"/>
          <p:cNvSpPr>
            <a:spLocks noGrp="1" noChangeArrowheads="1"/>
          </p:cNvSpPr>
          <p:nvPr>
            <p:ph idx="1"/>
          </p:nvPr>
        </p:nvSpPr>
        <p:spPr bwMode="auto">
          <a:xfrm>
            <a:off x="304800" y="1524000"/>
            <a:ext cx="8534400" cy="5181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rmAutofit fontScale="92500" lnSpcReduction="20000"/>
          </a:bodyPr>
          <a:lstStyle/>
          <a:p>
            <a:pPr marL="457200" indent="-457200" rtl="0">
              <a:lnSpc>
                <a:spcPct val="110000"/>
              </a:lnSpc>
              <a:buClrTx/>
              <a:buFont typeface="Wingdings" charset="2"/>
              <a:buChar char="Ø"/>
            </a:pPr>
            <a:r>
              <a:rPr lang="en-US" sz="2600" b="1" dirty="0">
                <a:solidFill>
                  <a:schemeClr val="accent2"/>
                </a:solidFill>
                <a:latin typeface="+mn-lt"/>
                <a:ea typeface="ＭＳ Ｐゴシック" charset="0"/>
              </a:rPr>
              <a:t>Correctness tests and </a:t>
            </a:r>
            <a:r>
              <a:rPr lang="en-US" sz="2600" b="1" dirty="0">
                <a:solidFill>
                  <a:srgbClr val="83BCC1"/>
                </a:solidFill>
                <a:latin typeface="+mn-lt"/>
                <a:ea typeface="ＭＳ Ｐゴシック" charset="0"/>
              </a:rPr>
              <a:t>path coverage</a:t>
            </a:r>
          </a:p>
          <a:p>
            <a:pPr marL="635508" lvl="1" indent="-342900" rtl="0">
              <a:lnSpc>
                <a:spcPct val="110000"/>
              </a:lnSpc>
              <a:buClrTx/>
              <a:buFont typeface="Wingdings" charset="2"/>
              <a:buChar char="§"/>
            </a:pPr>
            <a:r>
              <a:rPr lang="en-US" dirty="0">
                <a:solidFill>
                  <a:schemeClr val="tx1">
                    <a:lumMod val="75000"/>
                    <a:lumOff val="25000"/>
                  </a:schemeClr>
                </a:solidFill>
              </a:rPr>
              <a:t>Different paths are created by the choice in conditional statements, such as IF–THEN–ELSE or DO WHILE or DO UNTIL. </a:t>
            </a:r>
          </a:p>
          <a:p>
            <a:pPr marL="635508" lvl="1" indent="-342900" rtl="0">
              <a:buClrTx/>
              <a:buFont typeface="Wingdings" charset="2"/>
              <a:buChar char="§"/>
            </a:pPr>
            <a:endParaRPr lang="en-US" dirty="0">
              <a:solidFill>
                <a:schemeClr val="tx1">
                  <a:lumMod val="75000"/>
                  <a:lumOff val="25000"/>
                </a:schemeClr>
              </a:solidFill>
            </a:endParaRPr>
          </a:p>
          <a:p>
            <a:pPr marL="635508" lvl="1" indent="-342900" rtl="0">
              <a:buClrTx/>
              <a:buFont typeface="Wingdings" charset="2"/>
              <a:buChar char="§"/>
            </a:pPr>
            <a:r>
              <a:rPr lang="en-US" b="1" dirty="0">
                <a:solidFill>
                  <a:schemeClr val="tx1">
                    <a:lumMod val="75000"/>
                    <a:lumOff val="25000"/>
                  </a:schemeClr>
                </a:solidFill>
              </a:rPr>
              <a:t>“Path Coverage”</a:t>
            </a:r>
            <a:r>
              <a:rPr lang="en-US" dirty="0">
                <a:solidFill>
                  <a:schemeClr val="tx1">
                    <a:lumMod val="75000"/>
                    <a:lumOff val="25000"/>
                  </a:schemeClr>
                </a:solidFill>
              </a:rPr>
              <a:t> metrics used to measure a path test’s completeness, and defined as </a:t>
            </a:r>
            <a:r>
              <a:rPr lang="en-US" b="1" dirty="0">
                <a:solidFill>
                  <a:schemeClr val="tx1">
                    <a:lumMod val="75000"/>
                    <a:lumOff val="25000"/>
                  </a:schemeClr>
                </a:solidFill>
              </a:rPr>
              <a:t>the percentage of the program paths executed during the test</a:t>
            </a:r>
            <a:r>
              <a:rPr lang="en-US" dirty="0">
                <a:solidFill>
                  <a:schemeClr val="tx1">
                    <a:lumMod val="75000"/>
                    <a:lumOff val="25000"/>
                  </a:schemeClr>
                </a:solidFill>
              </a:rPr>
              <a:t>.</a:t>
            </a:r>
          </a:p>
          <a:p>
            <a:pPr marL="635508" lvl="1" indent="-342900" rtl="0">
              <a:buClrTx/>
              <a:buFont typeface="Wingdings" charset="2"/>
              <a:buChar char="§"/>
            </a:pPr>
            <a:endParaRPr lang="en-US" dirty="0">
              <a:solidFill>
                <a:schemeClr val="tx1">
                  <a:lumMod val="75000"/>
                  <a:lumOff val="25000"/>
                </a:schemeClr>
              </a:solidFill>
            </a:endParaRPr>
          </a:p>
          <a:p>
            <a:pPr marL="813816" lvl="3" indent="0" rtl="0">
              <a:buClrTx/>
              <a:buNone/>
            </a:pPr>
            <a:r>
              <a:rPr lang="en-US" sz="2600" i="1" dirty="0"/>
              <a:t>The number of possible paths created by a simple module containing 10 conditional statements, contains 1024 different paths</a:t>
            </a:r>
            <a:r>
              <a:rPr lang="en-US" sz="2600" dirty="0"/>
              <a:t>. </a:t>
            </a:r>
          </a:p>
          <a:p>
            <a:pPr marL="813816" lvl="3" indent="0" rtl="0">
              <a:buClrTx/>
              <a:buNone/>
            </a:pPr>
            <a:endParaRPr lang="en-US" sz="2600" dirty="0"/>
          </a:p>
          <a:p>
            <a:pPr marL="813816" lvl="3" indent="0" rtl="0">
              <a:buClrTx/>
              <a:buNone/>
            </a:pPr>
            <a:r>
              <a:rPr lang="en-US" sz="2600" dirty="0">
                <a:solidFill>
                  <a:schemeClr val="tx1">
                    <a:lumMod val="75000"/>
                    <a:lumOff val="25000"/>
                  </a:schemeClr>
                </a:solidFill>
              </a:rPr>
              <a:t>This situation has encouraged development of an alternative yet weaker coverage concept – line coverage.</a:t>
            </a:r>
            <a:endParaRPr lang="en-US" sz="2600" dirty="0"/>
          </a:p>
          <a:p>
            <a:pPr marL="292608" lvl="1" indent="0">
              <a:buClrTx/>
              <a:buNone/>
            </a:pPr>
            <a:endParaRPr lang="en-US" sz="2200" dirty="0"/>
          </a:p>
          <a:p>
            <a:pPr marL="292608" lvl="1" indent="0">
              <a:buClrTx/>
              <a:buNone/>
            </a:pPr>
            <a:endParaRPr lang="en-US" sz="2400" dirty="0"/>
          </a:p>
          <a:p>
            <a:pPr marL="292608" lvl="1" indent="0">
              <a:buClrTx/>
              <a:buNone/>
            </a:pPr>
            <a:endParaRPr lang="en-US" sz="2200" b="1" dirty="0">
              <a:latin typeface="+mn-lt"/>
              <a:ea typeface="ＭＳ Ｐゴシック" charset="0"/>
            </a:endParaRPr>
          </a:p>
          <a:p>
            <a:pPr marL="0" indent="0">
              <a:buClrTx/>
              <a:buNone/>
            </a:pPr>
            <a:endParaRPr lang="en-US" b="1" kern="10" dirty="0">
              <a:ln w="12700">
                <a:noFill/>
                <a:round/>
                <a:headEnd/>
                <a:tailEnd/>
              </a:ln>
              <a:solidFill>
                <a:srgbClr val="A04DA3"/>
              </a:solidFill>
              <a:latin typeface="Times New Roman" charset="0"/>
              <a:ea typeface="Arial Black"/>
              <a:cs typeface="Arial Black"/>
            </a:endParaRPr>
          </a:p>
        </p:txBody>
      </p:sp>
    </p:spTree>
    <p:extLst>
      <p:ext uri="{BB962C8B-B14F-4D97-AF65-F5344CB8AC3E}">
        <p14:creationId xmlns:p14="http://schemas.microsoft.com/office/powerpoint/2010/main" val="3629388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229600" cy="1219200"/>
          </a:xfrm>
        </p:spPr>
        <p:txBody>
          <a:bodyPr>
            <a:normAutofit fontScale="90000"/>
          </a:bodyPr>
          <a:lstStyle/>
          <a:p>
            <a:r>
              <a:rPr lang="en-US" sz="3600" b="1" kern="10" dirty="0">
                <a:ln w="12700">
                  <a:noFill/>
                  <a:round/>
                  <a:headEnd/>
                  <a:tailEnd/>
                </a:ln>
                <a:solidFill>
                  <a:srgbClr val="A04DA3"/>
                </a:solidFill>
                <a:latin typeface="+mn-lt"/>
                <a:ea typeface="Arial Black"/>
                <a:cs typeface="Arial Black"/>
              </a:rPr>
              <a:t>1. Data processing and calculation correctness tests </a:t>
            </a:r>
            <a:br>
              <a:rPr lang="en-US" sz="3600" b="1" dirty="0">
                <a:solidFill>
                  <a:schemeClr val="accent2"/>
                </a:solidFill>
                <a:ea typeface="ＭＳ Ｐゴシック" charset="0"/>
              </a:rPr>
            </a:br>
            <a:endParaRPr lang="en-US" sz="3600" b="1" kern="10" dirty="0">
              <a:ln w="12700">
                <a:noFill/>
                <a:round/>
                <a:headEnd/>
                <a:tailEnd/>
              </a:ln>
              <a:solidFill>
                <a:srgbClr val="A04DA3"/>
              </a:solidFill>
              <a:latin typeface="+mn-lt"/>
              <a:ea typeface="Arial Black"/>
              <a:cs typeface="Arial Black"/>
            </a:endParaRPr>
          </a:p>
        </p:txBody>
      </p:sp>
      <p:sp>
        <p:nvSpPr>
          <p:cNvPr id="11265" name="Rectangle 2"/>
          <p:cNvSpPr>
            <a:spLocks noGrp="1" noChangeArrowheads="1"/>
          </p:cNvSpPr>
          <p:nvPr>
            <p:ph idx="1"/>
          </p:nvPr>
        </p:nvSpPr>
        <p:spPr bwMode="auto">
          <a:xfrm>
            <a:off x="228600" y="1524000"/>
            <a:ext cx="8610600" cy="4325112"/>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Autofit/>
          </a:bodyPr>
          <a:lstStyle/>
          <a:p>
            <a:pPr marL="0" indent="0" rtl="0">
              <a:buClrTx/>
              <a:buNone/>
            </a:pPr>
            <a:r>
              <a:rPr lang="en-US" sz="2400" b="1" dirty="0">
                <a:solidFill>
                  <a:schemeClr val="accent2"/>
                </a:solidFill>
                <a:latin typeface="+mn-lt"/>
                <a:ea typeface="ＭＳ Ｐゴシック" charset="0"/>
              </a:rPr>
              <a:t>1. Correctness tests and </a:t>
            </a:r>
            <a:r>
              <a:rPr lang="en-US" sz="2400" b="1" dirty="0">
                <a:solidFill>
                  <a:schemeClr val="accent2">
                    <a:lumMod val="60000"/>
                    <a:lumOff val="40000"/>
                  </a:schemeClr>
                </a:solidFill>
                <a:latin typeface="+mn-lt"/>
                <a:ea typeface="ＭＳ Ｐゴシック" charset="0"/>
              </a:rPr>
              <a:t>line coverage</a:t>
            </a:r>
          </a:p>
          <a:p>
            <a:pPr marL="635508" lvl="1" indent="-342900" rtl="0">
              <a:lnSpc>
                <a:spcPct val="110000"/>
              </a:lnSpc>
              <a:buClrTx/>
              <a:buFont typeface="Wingdings" charset="2"/>
              <a:buChar char="§"/>
            </a:pPr>
            <a:r>
              <a:rPr lang="en-US" sz="2400" dirty="0">
                <a:solidFill>
                  <a:schemeClr val="tx1">
                    <a:lumMod val="75000"/>
                    <a:lumOff val="25000"/>
                  </a:schemeClr>
                </a:solidFill>
              </a:rPr>
              <a:t>Line coverage concept requires far fewer test cases but, as expected, leaves most of the possible paths untested. </a:t>
            </a:r>
          </a:p>
          <a:p>
            <a:pPr marL="635508" lvl="1" indent="-342900" rtl="0">
              <a:lnSpc>
                <a:spcPct val="110000"/>
              </a:lnSpc>
              <a:buClrTx/>
              <a:buFont typeface="Wingdings" charset="2"/>
              <a:buChar char="§"/>
            </a:pPr>
            <a:endParaRPr lang="en-US" sz="2400" dirty="0">
              <a:solidFill>
                <a:schemeClr val="tx1">
                  <a:lumMod val="75000"/>
                  <a:lumOff val="25000"/>
                </a:schemeClr>
              </a:solidFill>
            </a:endParaRPr>
          </a:p>
          <a:p>
            <a:pPr marL="635508" lvl="1" indent="-342900" rtl="0">
              <a:lnSpc>
                <a:spcPct val="110000"/>
              </a:lnSpc>
              <a:buClrTx/>
              <a:buFont typeface="Wingdings" charset="2"/>
              <a:buChar char="§"/>
            </a:pPr>
            <a:r>
              <a:rPr lang="en-US" sz="2400" dirty="0">
                <a:solidFill>
                  <a:schemeClr val="tx1">
                    <a:lumMod val="75000"/>
                    <a:lumOff val="25000"/>
                  </a:schemeClr>
                </a:solidFill>
              </a:rPr>
              <a:t>For </a:t>
            </a:r>
            <a:r>
              <a:rPr lang="en-US" sz="2400" b="1" dirty="0">
                <a:solidFill>
                  <a:schemeClr val="tx1">
                    <a:lumMod val="75000"/>
                    <a:lumOff val="25000"/>
                  </a:schemeClr>
                </a:solidFill>
              </a:rPr>
              <a:t>full</a:t>
            </a:r>
            <a:r>
              <a:rPr lang="en-US" sz="2400" dirty="0">
                <a:solidFill>
                  <a:schemeClr val="tx1">
                    <a:lumMod val="75000"/>
                    <a:lumOff val="25000"/>
                  </a:schemeClr>
                </a:solidFill>
              </a:rPr>
              <a:t> line coverage, </a:t>
            </a:r>
            <a:r>
              <a:rPr lang="en-US" sz="2400" b="1" dirty="0">
                <a:solidFill>
                  <a:schemeClr val="tx1">
                    <a:lumMod val="75000"/>
                    <a:lumOff val="25000"/>
                  </a:schemeClr>
                </a:solidFill>
              </a:rPr>
              <a:t>every line </a:t>
            </a:r>
            <a:r>
              <a:rPr lang="en-US" sz="2400" dirty="0">
                <a:solidFill>
                  <a:schemeClr val="tx1">
                    <a:lumMod val="75000"/>
                    <a:lumOff val="25000"/>
                  </a:schemeClr>
                </a:solidFill>
              </a:rPr>
              <a:t>of code be executed </a:t>
            </a:r>
            <a:r>
              <a:rPr lang="en-US" sz="2400" b="1" dirty="0">
                <a:solidFill>
                  <a:schemeClr val="tx1">
                    <a:lumMod val="75000"/>
                    <a:lumOff val="25000"/>
                  </a:schemeClr>
                </a:solidFill>
              </a:rPr>
              <a:t>at least once </a:t>
            </a:r>
            <a:r>
              <a:rPr lang="en-US" sz="2400" dirty="0">
                <a:solidFill>
                  <a:schemeClr val="tx1">
                    <a:lumMod val="75000"/>
                    <a:lumOff val="25000"/>
                  </a:schemeClr>
                </a:solidFill>
              </a:rPr>
              <a:t>during the process of testing. </a:t>
            </a:r>
          </a:p>
          <a:p>
            <a:pPr marL="635508" lvl="1" indent="-342900" rtl="0">
              <a:lnSpc>
                <a:spcPct val="110000"/>
              </a:lnSpc>
              <a:buClrTx/>
              <a:buFont typeface="Wingdings" charset="2"/>
              <a:buChar char="§"/>
            </a:pPr>
            <a:endParaRPr lang="en-US" sz="2400" dirty="0">
              <a:solidFill>
                <a:schemeClr val="tx1">
                  <a:lumMod val="75000"/>
                  <a:lumOff val="25000"/>
                </a:schemeClr>
              </a:solidFill>
            </a:endParaRPr>
          </a:p>
          <a:p>
            <a:pPr marL="635508" lvl="1" indent="-342900" rtl="0">
              <a:lnSpc>
                <a:spcPct val="110000"/>
              </a:lnSpc>
              <a:buClrTx/>
              <a:buFont typeface="Wingdings" charset="2"/>
              <a:buChar char="§"/>
            </a:pPr>
            <a:r>
              <a:rPr lang="en-US" sz="2400" b="1" dirty="0">
                <a:solidFill>
                  <a:schemeClr val="tx1">
                    <a:lumMod val="75000"/>
                    <a:lumOff val="25000"/>
                  </a:schemeClr>
                </a:solidFill>
              </a:rPr>
              <a:t>“Line Coverage”</a:t>
            </a:r>
            <a:r>
              <a:rPr lang="en-US" sz="2400" dirty="0">
                <a:solidFill>
                  <a:schemeClr val="tx1">
                    <a:lumMod val="75000"/>
                    <a:lumOff val="25000"/>
                  </a:schemeClr>
                </a:solidFill>
              </a:rPr>
              <a:t> metrics for completeness of a line-testing plan are defined as </a:t>
            </a:r>
            <a:r>
              <a:rPr lang="en-US" sz="2400" b="1" dirty="0">
                <a:solidFill>
                  <a:schemeClr val="tx1">
                    <a:lumMod val="75000"/>
                    <a:lumOff val="25000"/>
                  </a:schemeClr>
                </a:solidFill>
              </a:rPr>
              <a:t>the percentage of lines indeed executed – that is, covered – during the tests</a:t>
            </a:r>
            <a:r>
              <a:rPr lang="en-US" sz="2400" dirty="0">
                <a:solidFill>
                  <a:schemeClr val="tx1">
                    <a:lumMod val="75000"/>
                    <a:lumOff val="25000"/>
                  </a:schemeClr>
                </a:solidFill>
              </a:rPr>
              <a:t>. </a:t>
            </a:r>
          </a:p>
        </p:txBody>
      </p:sp>
    </p:spTree>
    <p:extLst>
      <p:ext uri="{BB962C8B-B14F-4D97-AF65-F5344CB8AC3E}">
        <p14:creationId xmlns:p14="http://schemas.microsoft.com/office/powerpoint/2010/main" val="1092297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idx="1"/>
          </p:nvPr>
        </p:nvSpPr>
        <p:spPr bwMode="auto">
          <a:xfrm>
            <a:off x="152400" y="838200"/>
            <a:ext cx="8763000" cy="56388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Autofit/>
          </a:bodyPr>
          <a:lstStyle/>
          <a:p>
            <a:pPr marL="566928" indent="-457200" rtl="0">
              <a:buClrTx/>
              <a:buFont typeface="+mj-lt"/>
              <a:buAutoNum type="arabicPeriod" startAt="2"/>
            </a:pPr>
            <a:r>
              <a:rPr lang="en-US" sz="2000" b="1" dirty="0">
                <a:solidFill>
                  <a:schemeClr val="accent2"/>
                </a:solidFill>
                <a:latin typeface="+mn-lt"/>
                <a:ea typeface="ＭＳ Ｐゴシック" charset="0"/>
              </a:rPr>
              <a:t>Software qualification tests</a:t>
            </a:r>
            <a:endParaRPr lang="en-US" sz="2000" dirty="0"/>
          </a:p>
          <a:p>
            <a:pPr marL="402336" lvl="1" indent="0" rtl="0">
              <a:buClrTx/>
              <a:buNone/>
            </a:pPr>
            <a:r>
              <a:rPr lang="en-US" sz="2000" dirty="0">
                <a:solidFill>
                  <a:schemeClr val="tx1">
                    <a:lumMod val="65000"/>
                    <a:lumOff val="35000"/>
                  </a:schemeClr>
                </a:solidFill>
              </a:rPr>
              <a:t>Examine the software code (including comments) compliance with coding standards and work instructions. </a:t>
            </a:r>
          </a:p>
          <a:p>
            <a:pPr lvl="1" rtl="0">
              <a:lnSpc>
                <a:spcPct val="110000"/>
              </a:lnSpc>
              <a:buFont typeface="Wingdings" charset="2"/>
              <a:buChar char="§"/>
            </a:pPr>
            <a:r>
              <a:rPr lang="en-US" sz="2000" dirty="0">
                <a:solidFill>
                  <a:schemeClr val="accent1"/>
                </a:solidFill>
                <a:latin typeface="+mn-lt"/>
                <a:cs typeface="+mn-cs"/>
              </a:rPr>
              <a:t>Does the code fulfill the code structure instructions and procedures, such as module size, application of reused code, etc.? </a:t>
            </a:r>
          </a:p>
          <a:p>
            <a:pPr lvl="1" rtl="0">
              <a:lnSpc>
                <a:spcPct val="110000"/>
              </a:lnSpc>
              <a:buFont typeface="Wingdings" charset="2"/>
              <a:buChar char="§"/>
            </a:pPr>
            <a:r>
              <a:rPr lang="en-US" sz="2000" dirty="0">
                <a:solidFill>
                  <a:schemeClr val="accent1"/>
                </a:solidFill>
                <a:latin typeface="+mn-lt"/>
                <a:cs typeface="+mn-cs"/>
              </a:rPr>
              <a:t>Does the coding style fulfill coding style procedures? </a:t>
            </a:r>
          </a:p>
          <a:p>
            <a:pPr lvl="1" rtl="0">
              <a:lnSpc>
                <a:spcPct val="110000"/>
              </a:lnSpc>
              <a:buFont typeface="Wingdings" charset="2"/>
              <a:buChar char="§"/>
            </a:pPr>
            <a:r>
              <a:rPr lang="en-US" sz="2000" dirty="0">
                <a:solidFill>
                  <a:schemeClr val="accent1"/>
                </a:solidFill>
                <a:latin typeface="+mn-lt"/>
                <a:cs typeface="+mn-cs"/>
              </a:rPr>
              <a:t>Do the internal program documentation and “help” sections fulfill coding style procedures?</a:t>
            </a:r>
          </a:p>
          <a:p>
            <a:pPr marL="566928" indent="-457200" rtl="0">
              <a:buClrTx/>
              <a:buFont typeface="+mj-lt"/>
              <a:buAutoNum type="arabicPeriod" startAt="2"/>
            </a:pPr>
            <a:r>
              <a:rPr lang="en-US" sz="2000" b="1" dirty="0">
                <a:solidFill>
                  <a:schemeClr val="accent2"/>
                </a:solidFill>
                <a:latin typeface="+mn-lt"/>
                <a:ea typeface="ＭＳ Ｐゴシック" charset="0"/>
              </a:rPr>
              <a:t>Maintainability tests</a:t>
            </a:r>
            <a:endParaRPr lang="en-US" sz="2000" dirty="0">
              <a:solidFill>
                <a:schemeClr val="tx1">
                  <a:lumMod val="65000"/>
                  <a:lumOff val="35000"/>
                </a:schemeClr>
              </a:solidFill>
              <a:latin typeface="+mn-lt"/>
              <a:cs typeface="+mn-cs"/>
            </a:endParaRPr>
          </a:p>
          <a:p>
            <a:pPr marL="402336" lvl="1" indent="0" rtl="0">
              <a:buClrTx/>
              <a:buNone/>
            </a:pPr>
            <a:r>
              <a:rPr lang="en-US" sz="2000" dirty="0">
                <a:solidFill>
                  <a:schemeClr val="tx1">
                    <a:lumMod val="65000"/>
                    <a:lumOff val="35000"/>
                  </a:schemeClr>
                </a:solidFill>
              </a:rPr>
              <a:t>Refer to special features, such as those installed for detection of causes of failure, module structures that support software adaptations and software improvements, etc. </a:t>
            </a:r>
          </a:p>
          <a:p>
            <a:pPr marL="566928" indent="-457200" rtl="0">
              <a:buClrTx/>
              <a:buFont typeface="+mj-lt"/>
              <a:buAutoNum type="arabicPeriod" startAt="2"/>
            </a:pPr>
            <a:r>
              <a:rPr lang="en-US" sz="2000" b="1" dirty="0">
                <a:solidFill>
                  <a:schemeClr val="accent2"/>
                </a:solidFill>
                <a:latin typeface="+mn-lt"/>
                <a:ea typeface="ＭＳ Ｐゴシック" charset="0"/>
              </a:rPr>
              <a:t>Reusability tests</a:t>
            </a:r>
          </a:p>
          <a:p>
            <a:pPr marL="402336" lvl="1" indent="0" rtl="0">
              <a:buClrTx/>
              <a:buNone/>
            </a:pPr>
            <a:r>
              <a:rPr lang="en-US" sz="2000" dirty="0">
                <a:solidFill>
                  <a:schemeClr val="tx1">
                    <a:lumMod val="65000"/>
                    <a:lumOff val="35000"/>
                  </a:schemeClr>
                </a:solidFill>
              </a:rPr>
              <a:t>Examine the extent that reused software is incorporated in the package and the adaptations performed in order to make parts of the current software reusable for future software packages. </a:t>
            </a:r>
          </a:p>
          <a:p>
            <a:pPr marL="109728" indent="0" rtl="0">
              <a:buNone/>
            </a:pPr>
            <a:endParaRPr lang="en-US" sz="2000" dirty="0">
              <a:solidFill>
                <a:schemeClr val="tx1">
                  <a:lumMod val="65000"/>
                  <a:lumOff val="35000"/>
                </a:schemeClr>
              </a:solidFill>
              <a:latin typeface="+mn-lt"/>
              <a:cs typeface="+mn-cs"/>
            </a:endParaRPr>
          </a:p>
        </p:txBody>
      </p:sp>
    </p:spTree>
    <p:extLst>
      <p:ext uri="{BB962C8B-B14F-4D97-AF65-F5344CB8AC3E}">
        <p14:creationId xmlns:p14="http://schemas.microsoft.com/office/powerpoint/2010/main" val="3374639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685800"/>
            <a:ext cx="8229600" cy="762000"/>
          </a:xfrm>
        </p:spPr>
        <p:txBody>
          <a:bodyPr>
            <a:normAutofit/>
          </a:bodyPr>
          <a:lstStyle/>
          <a:p>
            <a:r>
              <a:rPr lang="en-US" sz="3200" b="1" dirty="0">
                <a:solidFill>
                  <a:srgbClr val="A04DA3"/>
                </a:solidFill>
                <a:latin typeface="+mn-lt"/>
              </a:rPr>
              <a:t>Adv. and Dis. of white box testing</a:t>
            </a:r>
          </a:p>
        </p:txBody>
      </p:sp>
      <p:sp>
        <p:nvSpPr>
          <p:cNvPr id="18433" name="Rectangle 3"/>
          <p:cNvSpPr>
            <a:spLocks noGrp="1" noChangeArrowheads="1"/>
          </p:cNvSpPr>
          <p:nvPr>
            <p:ph idx="1"/>
          </p:nvPr>
        </p:nvSpPr>
        <p:spPr bwMode="auto">
          <a:xfrm>
            <a:off x="228600" y="1447800"/>
            <a:ext cx="8686800" cy="4876800"/>
          </a:xfrm>
          <a:solidFill>
            <a:srgbClr val="FFFFFF"/>
          </a:solidFill>
          <a:extLst>
            <a:ext uri="{91240B29-F687-4f45-9708-019B960494DF}">
              <a14:hiddenLine xmlns:a14="http://schemas.microsoft.com/office/drawing/2010/main" xmlns="" w="9525">
                <a:solidFill>
                  <a:srgbClr val="339966"/>
                </a:solidFill>
                <a:miter lim="800000"/>
                <a:headEnd/>
                <a:tailEnd/>
              </a14:hiddenLine>
            </a:ext>
          </a:extLst>
        </p:spPr>
        <p:txBody>
          <a:bodyPr wrap="square" lIns="91440" tIns="45720" rIns="91440" bIns="45720" numCol="1" anchor="t" anchorCtr="0" compatLnSpc="1">
            <a:prstTxWarp prst="textNoShape">
              <a:avLst/>
            </a:prstTxWarp>
            <a:noAutofit/>
          </a:bodyPr>
          <a:lstStyle/>
          <a:p>
            <a:pPr marL="803275" indent="-803275" rtl="0" eaLnBrk="1" hangingPunct="1">
              <a:spcBef>
                <a:spcPct val="0"/>
              </a:spcBef>
              <a:buFontTx/>
              <a:buNone/>
            </a:pPr>
            <a:r>
              <a:rPr lang="en-US" sz="2400" b="1" dirty="0">
                <a:solidFill>
                  <a:schemeClr val="accent2"/>
                </a:solidFill>
                <a:latin typeface="+mn-lt"/>
                <a:ea typeface="ＭＳ Ｐゴシック" charset="0"/>
              </a:rPr>
              <a:t>Advantages:</a:t>
            </a:r>
          </a:p>
          <a:p>
            <a:pPr marL="803275" indent="-803275" rtl="0" eaLnBrk="1" hangingPunct="1">
              <a:spcBef>
                <a:spcPct val="0"/>
              </a:spcBef>
              <a:buFont typeface="+mj-lt"/>
              <a:buAutoNum type="arabicPeriod"/>
            </a:pPr>
            <a:r>
              <a:rPr lang="en-US" sz="2400" dirty="0">
                <a:solidFill>
                  <a:srgbClr val="000000"/>
                </a:solidFill>
                <a:latin typeface="+mn-lt"/>
                <a:ea typeface="ＭＳ Ｐゴシック" charset="0"/>
              </a:rPr>
              <a:t>Direct determination of software correctness as expressed in the processing paths, including algorithms.  </a:t>
            </a:r>
            <a:endParaRPr lang="en-US" sz="2400" dirty="0">
              <a:latin typeface="+mn-lt"/>
              <a:ea typeface="ＭＳ Ｐゴシック" charset="0"/>
            </a:endParaRPr>
          </a:p>
          <a:p>
            <a:pPr marL="803275" indent="-803275" rtl="0" eaLnBrk="1" hangingPunct="1">
              <a:spcBef>
                <a:spcPct val="0"/>
              </a:spcBef>
              <a:buFont typeface="+mj-lt"/>
              <a:buAutoNum type="arabicPeriod"/>
            </a:pPr>
            <a:r>
              <a:rPr lang="en-US" sz="2400" dirty="0">
                <a:solidFill>
                  <a:srgbClr val="000000"/>
                </a:solidFill>
                <a:latin typeface="+mn-lt"/>
                <a:ea typeface="ＭＳ Ｐゴシック" charset="0"/>
              </a:rPr>
              <a:t>Allows performance of line coverage follow up.</a:t>
            </a:r>
          </a:p>
          <a:p>
            <a:pPr marL="803275" indent="-803275" rtl="0" eaLnBrk="1" hangingPunct="1">
              <a:spcBef>
                <a:spcPct val="0"/>
              </a:spcBef>
              <a:buFont typeface="+mj-lt"/>
              <a:buAutoNum type="arabicPeriod"/>
            </a:pPr>
            <a:r>
              <a:rPr lang="en-US" sz="2400" dirty="0">
                <a:solidFill>
                  <a:srgbClr val="000000"/>
                </a:solidFill>
                <a:latin typeface="+mn-lt"/>
                <a:ea typeface="ＭＳ Ｐゴシック" charset="0"/>
              </a:rPr>
              <a:t>Ascertains quality of coding work and its adherence to  coding standards.</a:t>
            </a:r>
          </a:p>
          <a:p>
            <a:pPr marL="803275" indent="-803275" rtl="0" eaLnBrk="1" hangingPunct="1">
              <a:spcBef>
                <a:spcPct val="0"/>
              </a:spcBef>
              <a:buFont typeface="+mj-lt"/>
              <a:buAutoNum type="arabicPeriod"/>
            </a:pPr>
            <a:endParaRPr lang="en-US" sz="2400" dirty="0">
              <a:latin typeface="+mn-lt"/>
              <a:ea typeface="ＭＳ Ｐゴシック" charset="0"/>
            </a:endParaRPr>
          </a:p>
          <a:p>
            <a:pPr marL="803275" indent="-803275" rtl="0" eaLnBrk="1" hangingPunct="1">
              <a:spcBef>
                <a:spcPct val="0"/>
              </a:spcBef>
              <a:buFontTx/>
              <a:buNone/>
            </a:pPr>
            <a:r>
              <a:rPr lang="en-US" sz="2400" b="1" dirty="0">
                <a:solidFill>
                  <a:srgbClr val="438086"/>
                </a:solidFill>
                <a:latin typeface="+mn-lt"/>
                <a:ea typeface="ＭＳ Ｐゴシック" charset="0"/>
              </a:rPr>
              <a:t>Disadvantages :</a:t>
            </a:r>
          </a:p>
          <a:p>
            <a:pPr marL="803275" indent="-803275" rtl="0" eaLnBrk="1" hangingPunct="1">
              <a:spcBef>
                <a:spcPct val="0"/>
              </a:spcBef>
              <a:buFont typeface="+mj-lt"/>
              <a:buAutoNum type="arabicPeriod"/>
            </a:pPr>
            <a:r>
              <a:rPr lang="en-US" sz="2400" dirty="0">
                <a:solidFill>
                  <a:srgbClr val="000000"/>
                </a:solidFill>
                <a:latin typeface="+mn-lt"/>
                <a:ea typeface="ＭＳ Ｐゴシック" charset="0"/>
              </a:rPr>
              <a:t>The vast resources utilized, much above those required for black box testing of the same software package. </a:t>
            </a:r>
            <a:endParaRPr lang="en-US" sz="2400" dirty="0">
              <a:latin typeface="+mn-lt"/>
              <a:ea typeface="ＭＳ Ｐゴシック" charset="0"/>
            </a:endParaRPr>
          </a:p>
          <a:p>
            <a:pPr marL="803275" indent="-803275" rtl="0" eaLnBrk="1" hangingPunct="1">
              <a:spcBef>
                <a:spcPct val="0"/>
              </a:spcBef>
              <a:buFont typeface="+mj-lt"/>
              <a:buAutoNum type="arabicPeriod"/>
            </a:pPr>
            <a:r>
              <a:rPr lang="en-US" sz="2400" dirty="0">
                <a:solidFill>
                  <a:srgbClr val="000000"/>
                </a:solidFill>
                <a:latin typeface="+mn-lt"/>
                <a:ea typeface="ＭＳ Ｐゴシック" charset="0"/>
              </a:rPr>
              <a:t>The inability to test software performance in terms of availability (response time), reliability, load durability, etc. </a:t>
            </a:r>
            <a:endParaRPr lang="en-US" sz="2400" dirty="0">
              <a:latin typeface="+mn-lt"/>
              <a:ea typeface="ＭＳ Ｐゴシック" charset="0"/>
            </a:endParaRPr>
          </a:p>
        </p:txBody>
      </p:sp>
      <p:sp>
        <p:nvSpPr>
          <p:cNvPr id="18434" name="WordArt 6"/>
          <p:cNvSpPr>
            <a:spLocks noChangeArrowheads="1" noChangeShapeType="1" noTextEdit="1"/>
          </p:cNvSpPr>
          <p:nvPr/>
        </p:nvSpPr>
        <p:spPr bwMode="auto">
          <a:xfrm>
            <a:off x="2382838" y="509588"/>
            <a:ext cx="6456362" cy="1766887"/>
          </a:xfrm>
          <a:prstGeom prst="rect">
            <a:avLst/>
          </a:prstGeom>
        </p:spPr>
        <p:txBody>
          <a:bodyPr wrap="none" fromWordArt="1">
            <a:prstTxWarp prst="textPlain">
              <a:avLst>
                <a:gd name="adj" fmla="val 50000"/>
              </a:avLst>
            </a:prstTxWarp>
          </a:bodyPr>
          <a:lstStyle/>
          <a:p>
            <a:pPr algn="ctr"/>
            <a:endParaRPr lang="en-US" sz="3600" kern="10">
              <a:ln w="12700">
                <a:solidFill>
                  <a:srgbClr val="000000"/>
                </a:solidFill>
                <a:round/>
                <a:headEnd/>
                <a:tailEnd/>
              </a:ln>
              <a:solidFill>
                <a:srgbClr val="33CC33"/>
              </a:solidFill>
              <a:latin typeface="Arial Black"/>
              <a:ea typeface="Arial Black"/>
              <a:cs typeface="Arial Black"/>
            </a:endParaRPr>
          </a:p>
        </p:txBody>
      </p:sp>
    </p:spTree>
    <p:extLst>
      <p:ext uri="{BB962C8B-B14F-4D97-AF65-F5344CB8AC3E}">
        <p14:creationId xmlns:p14="http://schemas.microsoft.com/office/powerpoint/2010/main" val="2097504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609600"/>
          </a:xfrm>
        </p:spPr>
        <p:txBody>
          <a:bodyPr>
            <a:noAutofit/>
          </a:bodyPr>
          <a:lstStyle/>
          <a:p>
            <a:r>
              <a:rPr lang="en-US" sz="3000" b="1" dirty="0">
                <a:solidFill>
                  <a:schemeClr val="accent3"/>
                </a:solidFill>
                <a:latin typeface="+mn-lt"/>
              </a:rPr>
              <a:t>McCabe’s cyclomatic complexity metrics </a:t>
            </a:r>
          </a:p>
        </p:txBody>
      </p:sp>
      <p:sp>
        <p:nvSpPr>
          <p:cNvPr id="18433" name="Rectangle 3"/>
          <p:cNvSpPr>
            <a:spLocks noGrp="1" noChangeArrowheads="1"/>
          </p:cNvSpPr>
          <p:nvPr>
            <p:ph idx="1"/>
          </p:nvPr>
        </p:nvSpPr>
        <p:spPr bwMode="auto">
          <a:xfrm>
            <a:off x="457200" y="1828800"/>
            <a:ext cx="8229600" cy="4038600"/>
          </a:xfrm>
          <a:solidFill>
            <a:srgbClr val="FFFFFF"/>
          </a:solidFill>
          <a:extLst>
            <a:ext uri="{91240B29-F687-4f45-9708-019B960494DF}">
              <a14:hiddenLine xmlns:a14="http://schemas.microsoft.com/office/drawing/2010/main" xmlns="" w="9525">
                <a:solidFill>
                  <a:srgbClr val="339966"/>
                </a:solidFill>
                <a:miter lim="800000"/>
                <a:headEnd/>
                <a:tailEnd/>
              </a14:hiddenLine>
            </a:ext>
          </a:extLst>
        </p:spPr>
        <p:txBody>
          <a:bodyPr wrap="square" lIns="91440" tIns="45720" rIns="91440" bIns="45720" numCol="1" anchor="t" anchorCtr="0" compatLnSpc="1">
            <a:prstTxWarp prst="textNoShape">
              <a:avLst/>
            </a:prstTxWarp>
            <a:normAutofit/>
          </a:bodyPr>
          <a:lstStyle/>
          <a:p>
            <a:pPr marL="109728" indent="0" rtl="0">
              <a:buNone/>
            </a:pPr>
            <a:r>
              <a:rPr lang="en-US" sz="2400" dirty="0"/>
              <a:t>The </a:t>
            </a:r>
            <a:r>
              <a:rPr lang="en-US" sz="2400" b="1" dirty="0"/>
              <a:t>cyclomatic complexity metrics </a:t>
            </a:r>
            <a:r>
              <a:rPr lang="en-US" sz="2400" dirty="0"/>
              <a:t>developed by McCabe (1976) </a:t>
            </a:r>
            <a:r>
              <a:rPr lang="en-US" sz="2400" dirty="0">
                <a:solidFill>
                  <a:srgbClr val="C4652D"/>
                </a:solidFill>
              </a:rPr>
              <a:t>measures the complexity of a program </a:t>
            </a:r>
            <a:r>
              <a:rPr lang="en-US" sz="2400" dirty="0"/>
              <a:t>or module at the same time as it </a:t>
            </a:r>
            <a:r>
              <a:rPr lang="en-US" sz="2400" dirty="0">
                <a:solidFill>
                  <a:srgbClr val="C4652D"/>
                </a:solidFill>
              </a:rPr>
              <a:t>determines the maximum number of independent paths needed </a:t>
            </a:r>
            <a:r>
              <a:rPr lang="en-US" sz="2400" dirty="0"/>
              <a:t>to achieve full line coverage of the program.</a:t>
            </a:r>
          </a:p>
          <a:p>
            <a:pPr marL="109728" indent="0" rtl="0">
              <a:buNone/>
            </a:pPr>
            <a:endParaRPr lang="en-US" sz="2400" dirty="0"/>
          </a:p>
          <a:p>
            <a:pPr marL="109728" indent="0" rtl="0">
              <a:buNone/>
            </a:pPr>
            <a:r>
              <a:rPr lang="en-US" sz="2400" dirty="0"/>
              <a:t>The measure is based on</a:t>
            </a:r>
            <a:r>
              <a:rPr lang="en-US" sz="2400" dirty="0">
                <a:solidFill>
                  <a:schemeClr val="accent1"/>
                </a:solidFill>
              </a:rPr>
              <a:t> graph theory</a:t>
            </a:r>
            <a:r>
              <a:rPr lang="en-US" sz="2400" dirty="0"/>
              <a:t> and is thus calculated according to the program characteristics as captured by its program flow graph. </a:t>
            </a:r>
          </a:p>
          <a:p>
            <a:pPr marL="803275" indent="-803275" rtl="0" eaLnBrk="1" hangingPunct="1">
              <a:spcBef>
                <a:spcPct val="0"/>
              </a:spcBef>
              <a:buFontTx/>
              <a:buNone/>
            </a:pPr>
            <a:endParaRPr lang="en-US" sz="2400" dirty="0">
              <a:latin typeface="+mn-lt"/>
              <a:ea typeface="ＭＳ Ｐゴシック" charset="0"/>
            </a:endParaRPr>
          </a:p>
        </p:txBody>
      </p:sp>
      <p:sp>
        <p:nvSpPr>
          <p:cNvPr id="18434" name="WordArt 6"/>
          <p:cNvSpPr>
            <a:spLocks noChangeArrowheads="1" noChangeShapeType="1" noTextEdit="1"/>
          </p:cNvSpPr>
          <p:nvPr/>
        </p:nvSpPr>
        <p:spPr bwMode="auto">
          <a:xfrm>
            <a:off x="2382838" y="509588"/>
            <a:ext cx="6456362" cy="1766887"/>
          </a:xfrm>
          <a:prstGeom prst="rect">
            <a:avLst/>
          </a:prstGeom>
        </p:spPr>
        <p:txBody>
          <a:bodyPr wrap="none" fromWordArt="1">
            <a:prstTxWarp prst="textPlain">
              <a:avLst>
                <a:gd name="adj" fmla="val 50000"/>
              </a:avLst>
            </a:prstTxWarp>
          </a:bodyPr>
          <a:lstStyle/>
          <a:p>
            <a:pPr algn="ctr"/>
            <a:endParaRPr lang="en-US" sz="3600" kern="10">
              <a:ln w="12700">
                <a:solidFill>
                  <a:srgbClr val="000000"/>
                </a:solidFill>
                <a:round/>
                <a:headEnd/>
                <a:tailEnd/>
              </a:ln>
              <a:solidFill>
                <a:srgbClr val="33CC33"/>
              </a:solidFill>
              <a:latin typeface="Arial Black"/>
              <a:ea typeface="Arial Black"/>
              <a:cs typeface="Arial Black"/>
            </a:endParaRPr>
          </a:p>
        </p:txBody>
      </p:sp>
    </p:spTree>
    <p:extLst>
      <p:ext uri="{BB962C8B-B14F-4D97-AF65-F5344CB8AC3E}">
        <p14:creationId xmlns:p14="http://schemas.microsoft.com/office/powerpoint/2010/main" val="323964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685800"/>
          </a:xfrm>
        </p:spPr>
        <p:txBody>
          <a:bodyPr>
            <a:noAutofit/>
          </a:bodyPr>
          <a:lstStyle/>
          <a:p>
            <a:r>
              <a:rPr lang="en-US" sz="3000" b="1" dirty="0">
                <a:solidFill>
                  <a:schemeClr val="accent3"/>
                </a:solidFill>
                <a:latin typeface="+mn-lt"/>
              </a:rPr>
              <a:t>McCabe’s </a:t>
            </a:r>
            <a:r>
              <a:rPr lang="en-US" sz="3000" b="1" dirty="0" err="1">
                <a:solidFill>
                  <a:schemeClr val="accent3"/>
                </a:solidFill>
                <a:latin typeface="+mn-lt"/>
              </a:rPr>
              <a:t>cyclomatic</a:t>
            </a:r>
            <a:r>
              <a:rPr lang="en-US" sz="3000" b="1" dirty="0">
                <a:solidFill>
                  <a:schemeClr val="accent3"/>
                </a:solidFill>
                <a:latin typeface="+mn-lt"/>
              </a:rPr>
              <a:t> complexity metrics </a:t>
            </a:r>
          </a:p>
        </p:txBody>
      </p:sp>
      <p:sp>
        <p:nvSpPr>
          <p:cNvPr id="18433" name="Rectangle 3"/>
          <p:cNvSpPr>
            <a:spLocks noGrp="1" noChangeArrowheads="1"/>
          </p:cNvSpPr>
          <p:nvPr>
            <p:ph idx="1"/>
          </p:nvPr>
        </p:nvSpPr>
        <p:spPr bwMode="auto">
          <a:xfrm>
            <a:off x="457200" y="1828800"/>
            <a:ext cx="8229600" cy="4495800"/>
          </a:xfrm>
          <a:solidFill>
            <a:srgbClr val="FFFFFF"/>
          </a:solidFill>
          <a:extLst>
            <a:ext uri="{91240B29-F687-4f45-9708-019B960494DF}">
              <a14:hiddenLine xmlns:a14="http://schemas.microsoft.com/office/drawing/2010/main" xmlns="" w="9525">
                <a:solidFill>
                  <a:srgbClr val="339966"/>
                </a:solidFill>
                <a:miter lim="800000"/>
                <a:headEnd/>
                <a:tailEnd/>
              </a14:hiddenLine>
            </a:ext>
          </a:extLst>
        </p:spPr>
        <p:txBody>
          <a:bodyPr wrap="square" lIns="91440" tIns="45720" rIns="91440" bIns="45720" numCol="1" anchor="t" anchorCtr="0" compatLnSpc="1">
            <a:prstTxWarp prst="textNoShape">
              <a:avLst/>
            </a:prstTxWarp>
            <a:normAutofit lnSpcReduction="10000"/>
          </a:bodyPr>
          <a:lstStyle/>
          <a:p>
            <a:pPr marL="109728" indent="0" rtl="0">
              <a:buNone/>
            </a:pPr>
            <a:r>
              <a:rPr lang="en-US" sz="2400" dirty="0">
                <a:latin typeface="+mn-lt"/>
              </a:rPr>
              <a:t>The </a:t>
            </a:r>
            <a:r>
              <a:rPr lang="en-US" sz="2400" dirty="0" err="1">
                <a:latin typeface="+mn-lt"/>
              </a:rPr>
              <a:t>cyclomatic</a:t>
            </a:r>
            <a:r>
              <a:rPr lang="en-US" sz="2400" dirty="0">
                <a:latin typeface="+mn-lt"/>
              </a:rPr>
              <a:t> complexity metric (</a:t>
            </a:r>
            <a:r>
              <a:rPr lang="en-US" sz="2400" i="1" dirty="0">
                <a:latin typeface="+mn-lt"/>
              </a:rPr>
              <a:t>V</a:t>
            </a:r>
            <a:r>
              <a:rPr lang="en-US" sz="2400" dirty="0">
                <a:latin typeface="+mn-lt"/>
              </a:rPr>
              <a:t>(G)) is expressed in three different ways: </a:t>
            </a:r>
          </a:p>
          <a:p>
            <a:pPr marL="566928" indent="-457200" rtl="0">
              <a:buClr>
                <a:schemeClr val="accent2"/>
              </a:buClr>
              <a:buFont typeface="+mj-lt"/>
              <a:buAutoNum type="arabicPeriod"/>
            </a:pPr>
            <a:r>
              <a:rPr lang="en-US" sz="2400" dirty="0">
                <a:solidFill>
                  <a:schemeClr val="accent2"/>
                </a:solidFill>
                <a:latin typeface="Cambria"/>
                <a:cs typeface="Cambria"/>
              </a:rPr>
              <a:t>V(G)=R</a:t>
            </a:r>
          </a:p>
          <a:p>
            <a:pPr marL="566928" indent="-457200" rtl="0">
              <a:buClr>
                <a:schemeClr val="accent2"/>
              </a:buClr>
              <a:buFont typeface="+mj-lt"/>
              <a:buAutoNum type="arabicPeriod"/>
            </a:pPr>
            <a:r>
              <a:rPr lang="en-US" sz="2400" dirty="0">
                <a:solidFill>
                  <a:schemeClr val="accent2"/>
                </a:solidFill>
                <a:latin typeface="Cambria"/>
                <a:cs typeface="Cambria"/>
              </a:rPr>
              <a:t>V(G)=E–N+2</a:t>
            </a:r>
          </a:p>
          <a:p>
            <a:pPr marL="566928" indent="-457200" rtl="0">
              <a:buClr>
                <a:schemeClr val="accent2"/>
              </a:buClr>
              <a:buFont typeface="+mj-lt"/>
              <a:buAutoNum type="arabicPeriod"/>
            </a:pPr>
            <a:r>
              <a:rPr lang="en-US" sz="2400" dirty="0">
                <a:solidFill>
                  <a:schemeClr val="accent2"/>
                </a:solidFill>
                <a:latin typeface="Cambria"/>
                <a:cs typeface="Cambria"/>
              </a:rPr>
              <a:t>V(G)=P+1 </a:t>
            </a:r>
          </a:p>
          <a:p>
            <a:pPr marL="0" indent="0" rtl="0" eaLnBrk="1" hangingPunct="1">
              <a:spcBef>
                <a:spcPct val="0"/>
              </a:spcBef>
              <a:buNone/>
            </a:pPr>
            <a:endParaRPr lang="en-US" sz="2400" dirty="0">
              <a:latin typeface="+mn-lt"/>
              <a:ea typeface="ＭＳ Ｐゴシック" charset="0"/>
            </a:endParaRPr>
          </a:p>
          <a:p>
            <a:pPr marL="342900" indent="-342900" rtl="0">
              <a:lnSpc>
                <a:spcPct val="120000"/>
              </a:lnSpc>
              <a:spcBef>
                <a:spcPct val="0"/>
              </a:spcBef>
              <a:buFont typeface="Wingdings" charset="2"/>
              <a:buChar char="Ø"/>
            </a:pPr>
            <a:r>
              <a:rPr lang="en-US" sz="2400" dirty="0">
                <a:solidFill>
                  <a:srgbClr val="53548A"/>
                </a:solidFill>
                <a:latin typeface="+mn-lt"/>
              </a:rPr>
              <a:t>(R) is the areas bounded by edges and nodes. Any enclosed area in the graph is considered a region. </a:t>
            </a:r>
          </a:p>
          <a:p>
            <a:pPr marL="342900" indent="-342900" rtl="0">
              <a:lnSpc>
                <a:spcPct val="120000"/>
              </a:lnSpc>
              <a:spcBef>
                <a:spcPct val="0"/>
              </a:spcBef>
              <a:buFont typeface="Wingdings" charset="2"/>
              <a:buChar char="Ø"/>
            </a:pPr>
            <a:r>
              <a:rPr lang="en-US" sz="2400" dirty="0">
                <a:solidFill>
                  <a:srgbClr val="53548A"/>
                </a:solidFill>
                <a:latin typeface="+mn-lt"/>
              </a:rPr>
              <a:t>(E)  is the number of edges in the program flow graph</a:t>
            </a:r>
          </a:p>
          <a:p>
            <a:pPr marL="342900" indent="-342900" rtl="0">
              <a:lnSpc>
                <a:spcPct val="120000"/>
              </a:lnSpc>
              <a:spcBef>
                <a:spcPct val="0"/>
              </a:spcBef>
              <a:buFont typeface="Wingdings" charset="2"/>
              <a:buChar char="Ø"/>
            </a:pPr>
            <a:r>
              <a:rPr lang="en-US" sz="2400" dirty="0">
                <a:solidFill>
                  <a:srgbClr val="53548A"/>
                </a:solidFill>
                <a:latin typeface="+mn-lt"/>
              </a:rPr>
              <a:t>(N) the number of nodes in the program flow graph,.</a:t>
            </a:r>
          </a:p>
          <a:p>
            <a:pPr marL="342900" indent="-342900" rtl="0">
              <a:lnSpc>
                <a:spcPct val="120000"/>
              </a:lnSpc>
              <a:spcBef>
                <a:spcPct val="0"/>
              </a:spcBef>
              <a:buFont typeface="Wingdings" charset="2"/>
              <a:buChar char="Ø"/>
            </a:pPr>
            <a:r>
              <a:rPr lang="en-US" sz="2400" dirty="0">
                <a:solidFill>
                  <a:srgbClr val="53548A"/>
                </a:solidFill>
                <a:latin typeface="+mn-lt"/>
              </a:rPr>
              <a:t>(P) is the number of decisions contained in the graph.</a:t>
            </a:r>
          </a:p>
          <a:p>
            <a:pPr marL="0" indent="0" rtl="0">
              <a:spcBef>
                <a:spcPct val="0"/>
              </a:spcBef>
              <a:buNone/>
            </a:pPr>
            <a:endParaRPr lang="en-US" sz="2400" dirty="0">
              <a:latin typeface="+mn-lt"/>
            </a:endParaRPr>
          </a:p>
          <a:p>
            <a:pPr marL="0" indent="0" eaLnBrk="1" hangingPunct="1">
              <a:spcBef>
                <a:spcPct val="0"/>
              </a:spcBef>
              <a:buNone/>
            </a:pPr>
            <a:endParaRPr lang="en-US" sz="2400" dirty="0">
              <a:latin typeface="+mn-lt"/>
              <a:ea typeface="ＭＳ Ｐゴシック" charset="0"/>
            </a:endParaRPr>
          </a:p>
        </p:txBody>
      </p:sp>
      <p:sp>
        <p:nvSpPr>
          <p:cNvPr id="18434" name="WordArt 6"/>
          <p:cNvSpPr>
            <a:spLocks noChangeArrowheads="1" noChangeShapeType="1" noTextEdit="1"/>
          </p:cNvSpPr>
          <p:nvPr/>
        </p:nvSpPr>
        <p:spPr bwMode="auto">
          <a:xfrm>
            <a:off x="2382838" y="509588"/>
            <a:ext cx="6456362" cy="1766887"/>
          </a:xfrm>
          <a:prstGeom prst="rect">
            <a:avLst/>
          </a:prstGeom>
        </p:spPr>
        <p:txBody>
          <a:bodyPr wrap="none" fromWordArt="1">
            <a:prstTxWarp prst="textPlain">
              <a:avLst>
                <a:gd name="adj" fmla="val 50000"/>
              </a:avLst>
            </a:prstTxWarp>
          </a:bodyPr>
          <a:lstStyle/>
          <a:p>
            <a:pPr algn="ctr"/>
            <a:endParaRPr lang="en-US" sz="3600" kern="10">
              <a:ln w="12700">
                <a:solidFill>
                  <a:srgbClr val="000000"/>
                </a:solidFill>
                <a:round/>
                <a:headEnd/>
                <a:tailEnd/>
              </a:ln>
              <a:solidFill>
                <a:srgbClr val="33CC33"/>
              </a:solidFill>
              <a:latin typeface="Arial Black"/>
              <a:ea typeface="Arial Black"/>
              <a:cs typeface="Arial Black"/>
            </a:endParaRPr>
          </a:p>
        </p:txBody>
      </p:sp>
    </p:spTree>
    <p:extLst>
      <p:ext uri="{BB962C8B-B14F-4D97-AF65-F5344CB8AC3E}">
        <p14:creationId xmlns:p14="http://schemas.microsoft.com/office/powerpoint/2010/main" val="42175018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creen Shot 2014-10-22 at 9.09.23 PM.png"/>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42852" t="12358" b="1889"/>
          <a:stretch/>
        </p:blipFill>
        <p:spPr>
          <a:xfrm>
            <a:off x="2438400" y="838200"/>
            <a:ext cx="6562575" cy="5378544"/>
          </a:xfrm>
        </p:spPr>
      </p:pic>
      <p:sp>
        <p:nvSpPr>
          <p:cNvPr id="6" name="TextBox 5"/>
          <p:cNvSpPr txBox="1"/>
          <p:nvPr/>
        </p:nvSpPr>
        <p:spPr>
          <a:xfrm>
            <a:off x="457200" y="4863405"/>
            <a:ext cx="5562600" cy="1460229"/>
          </a:xfrm>
          <a:prstGeom prst="rect">
            <a:avLst/>
          </a:prstGeom>
          <a:noFill/>
        </p:spPr>
        <p:txBody>
          <a:bodyPr wrap="square" rtlCol="0">
            <a:spAutoFit/>
          </a:bodyPr>
          <a:lstStyle/>
          <a:p>
            <a:pPr>
              <a:lnSpc>
                <a:spcPct val="120000"/>
              </a:lnSpc>
            </a:pPr>
            <a:r>
              <a:rPr lang="en-US" sz="3200" baseline="30000">
                <a:solidFill>
                  <a:schemeClr val="tx2"/>
                </a:solidFill>
                <a:latin typeface="Cambria"/>
                <a:cs typeface="Cambria"/>
              </a:rPr>
              <a:t>V(G)= 4 regions</a:t>
            </a:r>
          </a:p>
          <a:p>
            <a:pPr>
              <a:lnSpc>
                <a:spcPct val="120000"/>
              </a:lnSpc>
            </a:pPr>
            <a:r>
              <a:rPr lang="en-US" sz="3200" baseline="30000">
                <a:solidFill>
                  <a:schemeClr val="tx2"/>
                </a:solidFill>
                <a:latin typeface="Cambria"/>
                <a:cs typeface="Cambria"/>
              </a:rPr>
              <a:t>V(G)= 11edges - 9nodes +</a:t>
            </a:r>
            <a:r>
              <a:rPr lang="en-US" sz="3200">
                <a:solidFill>
                  <a:schemeClr val="tx2"/>
                </a:solidFill>
                <a:latin typeface="Cambria"/>
                <a:cs typeface="Cambria"/>
              </a:rPr>
              <a:t> </a:t>
            </a:r>
            <a:r>
              <a:rPr lang="en-US" sz="3200" baseline="30000">
                <a:solidFill>
                  <a:schemeClr val="tx2"/>
                </a:solidFill>
                <a:latin typeface="Cambria"/>
                <a:cs typeface="Cambria"/>
              </a:rPr>
              <a:t>2=</a:t>
            </a:r>
            <a:r>
              <a:rPr lang="en-US" sz="3200">
                <a:solidFill>
                  <a:schemeClr val="tx2"/>
                </a:solidFill>
                <a:latin typeface="Cambria"/>
                <a:cs typeface="Cambria"/>
              </a:rPr>
              <a:t> </a:t>
            </a:r>
            <a:r>
              <a:rPr lang="en-US" sz="3200" baseline="30000">
                <a:solidFill>
                  <a:schemeClr val="tx2"/>
                </a:solidFill>
                <a:latin typeface="Cambria"/>
                <a:cs typeface="Cambria"/>
              </a:rPr>
              <a:t>4</a:t>
            </a:r>
          </a:p>
          <a:p>
            <a:pPr>
              <a:lnSpc>
                <a:spcPct val="120000"/>
              </a:lnSpc>
            </a:pPr>
            <a:r>
              <a:rPr lang="ro-RO" sz="3200" baseline="30000">
                <a:solidFill>
                  <a:schemeClr val="tx2"/>
                </a:solidFill>
                <a:latin typeface="Cambria"/>
                <a:cs typeface="Cambria"/>
              </a:rPr>
              <a:t>V(G)=3 predicate nodes + 1 = 4</a:t>
            </a:r>
            <a:endParaRPr lang="en-US" sz="3200">
              <a:solidFill>
                <a:schemeClr val="tx2"/>
              </a:solidFill>
              <a:latin typeface="Cambria"/>
              <a:cs typeface="Cambria"/>
            </a:endParaRPr>
          </a:p>
        </p:txBody>
      </p:sp>
    </p:spTree>
    <p:extLst>
      <p:ext uri="{BB962C8B-B14F-4D97-AF65-F5344CB8AC3E}">
        <p14:creationId xmlns:p14="http://schemas.microsoft.com/office/powerpoint/2010/main" val="3667688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762000"/>
          </a:xfrm>
        </p:spPr>
        <p:txBody>
          <a:bodyPr>
            <a:noAutofit/>
          </a:bodyPr>
          <a:lstStyle/>
          <a:p>
            <a:r>
              <a:rPr lang="en-US" sz="3000" b="1" dirty="0">
                <a:solidFill>
                  <a:schemeClr val="accent3"/>
                </a:solidFill>
                <a:latin typeface="+mn-lt"/>
              </a:rPr>
              <a:t>McCabe’s </a:t>
            </a:r>
            <a:r>
              <a:rPr lang="en-US" sz="3000" b="1" dirty="0" err="1">
                <a:solidFill>
                  <a:schemeClr val="accent3"/>
                </a:solidFill>
                <a:latin typeface="+mn-lt"/>
              </a:rPr>
              <a:t>cyclomatic</a:t>
            </a:r>
            <a:r>
              <a:rPr lang="en-US" sz="3000" b="1" dirty="0">
                <a:solidFill>
                  <a:schemeClr val="accent3"/>
                </a:solidFill>
                <a:latin typeface="+mn-lt"/>
              </a:rPr>
              <a:t> complexity metrics </a:t>
            </a:r>
          </a:p>
        </p:txBody>
      </p:sp>
      <p:sp>
        <p:nvSpPr>
          <p:cNvPr id="18433" name="Rectangle 3"/>
          <p:cNvSpPr>
            <a:spLocks noGrp="1" noChangeArrowheads="1"/>
          </p:cNvSpPr>
          <p:nvPr>
            <p:ph idx="1"/>
          </p:nvPr>
        </p:nvSpPr>
        <p:spPr bwMode="auto">
          <a:xfrm>
            <a:off x="457200" y="1981200"/>
            <a:ext cx="8229600" cy="4593336"/>
          </a:xfrm>
          <a:solidFill>
            <a:srgbClr val="FFFFFF"/>
          </a:solidFill>
          <a:extLst>
            <a:ext uri="{91240B29-F687-4f45-9708-019B960494DF}">
              <a14:hiddenLine xmlns:a14="http://schemas.microsoft.com/office/drawing/2010/main" xmlns="" w="9525">
                <a:solidFill>
                  <a:srgbClr val="339966"/>
                </a:solidFill>
                <a:miter lim="800000"/>
                <a:headEnd/>
                <a:tailEnd/>
              </a14:hiddenLine>
            </a:ext>
          </a:extLst>
        </p:spPr>
        <p:txBody>
          <a:bodyPr wrap="square" lIns="91440" tIns="45720" rIns="91440" bIns="45720" numCol="1" anchor="t" anchorCtr="0" compatLnSpc="1">
            <a:prstTxWarp prst="textNoShape">
              <a:avLst/>
            </a:prstTxWarp>
            <a:normAutofit/>
          </a:bodyPr>
          <a:lstStyle/>
          <a:p>
            <a:pPr marL="0" indent="0" rtl="0">
              <a:spcBef>
                <a:spcPct val="0"/>
              </a:spcBef>
              <a:buNone/>
            </a:pPr>
            <a:r>
              <a:rPr lang="en-US" sz="2400" dirty="0">
                <a:latin typeface="+mn-lt"/>
              </a:rPr>
              <a:t>The relationship between the </a:t>
            </a:r>
            <a:r>
              <a:rPr lang="en-US" sz="2400" dirty="0" err="1">
                <a:latin typeface="+mn-lt"/>
              </a:rPr>
              <a:t>cyclomatic</a:t>
            </a:r>
            <a:r>
              <a:rPr lang="en-US" sz="2400" dirty="0">
                <a:latin typeface="+mn-lt"/>
              </a:rPr>
              <a:t> complexity metrics and quality and testability characteristics :</a:t>
            </a:r>
          </a:p>
          <a:p>
            <a:pPr marL="0" indent="0" rtl="0">
              <a:spcBef>
                <a:spcPct val="0"/>
              </a:spcBef>
              <a:buNone/>
            </a:pPr>
            <a:endParaRPr lang="en-US" sz="2400" dirty="0">
              <a:latin typeface="+mn-lt"/>
            </a:endParaRPr>
          </a:p>
          <a:p>
            <a:pPr marL="292608" lvl="1" indent="0" rtl="0">
              <a:spcBef>
                <a:spcPct val="0"/>
              </a:spcBef>
              <a:buNone/>
            </a:pPr>
            <a:r>
              <a:rPr lang="en-US" sz="2400" dirty="0"/>
              <a:t>“Empirical studies reveal that programs with </a:t>
            </a:r>
            <a:r>
              <a:rPr lang="en-US" sz="2400" dirty="0" err="1"/>
              <a:t>cyclomatic</a:t>
            </a:r>
            <a:r>
              <a:rPr lang="en-US" sz="2400" dirty="0"/>
              <a:t> complexities of less than 5 are generally considered </a:t>
            </a:r>
            <a:r>
              <a:rPr lang="en-US" sz="2400" b="1" dirty="0"/>
              <a:t>simple</a:t>
            </a:r>
            <a:r>
              <a:rPr lang="en-US" sz="2400" dirty="0"/>
              <a:t> and easy to understand. </a:t>
            </a:r>
            <a:r>
              <a:rPr lang="en-US" sz="2400" dirty="0" err="1"/>
              <a:t>Cyclomatic</a:t>
            </a:r>
            <a:r>
              <a:rPr lang="en-US" sz="2400" dirty="0"/>
              <a:t> complexities of 10 or less are considered </a:t>
            </a:r>
            <a:r>
              <a:rPr lang="en-US" sz="2400" b="1" dirty="0"/>
              <a:t>not too difficult</a:t>
            </a:r>
            <a:r>
              <a:rPr lang="en-US" sz="2400" dirty="0"/>
              <a:t>; if 20 or more, the complexity is perceived as </a:t>
            </a:r>
            <a:r>
              <a:rPr lang="en-US" sz="2400" b="1" dirty="0"/>
              <a:t>high</a:t>
            </a:r>
            <a:r>
              <a:rPr lang="en-US" sz="2400" dirty="0"/>
              <a:t>. </a:t>
            </a:r>
          </a:p>
          <a:p>
            <a:pPr marL="0" indent="0" rtl="0">
              <a:spcBef>
                <a:spcPct val="0"/>
              </a:spcBef>
              <a:buNone/>
            </a:pPr>
            <a:endParaRPr lang="en-US" sz="2400" dirty="0"/>
          </a:p>
          <a:p>
            <a:pPr marL="0" indent="0" rtl="0" eaLnBrk="1" hangingPunct="1">
              <a:spcBef>
                <a:spcPct val="0"/>
              </a:spcBef>
              <a:buNone/>
            </a:pPr>
            <a:endParaRPr lang="en-US" sz="2400" dirty="0">
              <a:latin typeface="+mn-lt"/>
              <a:ea typeface="ＭＳ Ｐゴシック" charset="0"/>
            </a:endParaRPr>
          </a:p>
        </p:txBody>
      </p:sp>
      <p:sp>
        <p:nvSpPr>
          <p:cNvPr id="18434" name="WordArt 6"/>
          <p:cNvSpPr>
            <a:spLocks noChangeArrowheads="1" noChangeShapeType="1" noTextEdit="1"/>
          </p:cNvSpPr>
          <p:nvPr/>
        </p:nvSpPr>
        <p:spPr bwMode="auto">
          <a:xfrm>
            <a:off x="2382838" y="509588"/>
            <a:ext cx="6456362" cy="1766887"/>
          </a:xfrm>
          <a:prstGeom prst="rect">
            <a:avLst/>
          </a:prstGeom>
        </p:spPr>
        <p:txBody>
          <a:bodyPr wrap="none" fromWordArt="1">
            <a:prstTxWarp prst="textPlain">
              <a:avLst>
                <a:gd name="adj" fmla="val 50000"/>
              </a:avLst>
            </a:prstTxWarp>
          </a:bodyPr>
          <a:lstStyle/>
          <a:p>
            <a:pPr algn="ctr"/>
            <a:endParaRPr lang="en-US" sz="3600" kern="10">
              <a:ln w="12700">
                <a:solidFill>
                  <a:srgbClr val="000000"/>
                </a:solidFill>
                <a:round/>
                <a:headEnd/>
                <a:tailEnd/>
              </a:ln>
              <a:solidFill>
                <a:srgbClr val="33CC33"/>
              </a:solidFill>
              <a:latin typeface="Arial Black"/>
              <a:ea typeface="Arial Black"/>
              <a:cs typeface="Arial Black"/>
            </a:endParaRPr>
          </a:p>
        </p:txBody>
      </p:sp>
    </p:spTree>
    <p:extLst>
      <p:ext uri="{BB962C8B-B14F-4D97-AF65-F5344CB8AC3E}">
        <p14:creationId xmlns:p14="http://schemas.microsoft.com/office/powerpoint/2010/main" val="3212414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a:xfrm>
            <a:off x="1219200" y="1066800"/>
            <a:ext cx="4362450" cy="660400"/>
          </a:xfrm>
          <a:noFill/>
          <a:extLst>
            <a:ext uri="{91240B29-F687-4f45-9708-019B960494DF}">
              <a14:hiddenLine xmlns:a14="http://schemas.microsoft.com/office/drawing/2010/main" xmlns="" w="12700">
                <a:solidFill>
                  <a:schemeClr val="tx1"/>
                </a:solidFill>
                <a:miter lim="800000"/>
                <a:headEnd/>
                <a:tailEnd/>
              </a14:hiddenLine>
            </a:ext>
          </a:extLst>
        </p:spPr>
        <p:txBody>
          <a:bodyPr wrap="none" lIns="63500" tIns="25400" rIns="63500" bIns="25400" anchor="t">
            <a:spAutoFit/>
          </a:bodyPr>
          <a:lstStyle/>
          <a:p>
            <a:pPr eaLnBrk="1" hangingPunct="1"/>
            <a:r>
              <a:rPr lang="en-US" altLang="x-none"/>
              <a:t>Basis Path Testing</a:t>
            </a:r>
          </a:p>
        </p:txBody>
      </p:sp>
      <p:sp>
        <p:nvSpPr>
          <p:cNvPr id="82" name="Slide Number Placeholder 4"/>
          <p:cNvSpPr>
            <a:spLocks noGrp="1"/>
          </p:cNvSpPr>
          <p:nvPr>
            <p:ph type="sldNum" sz="quarter" idx="12"/>
          </p:nvPr>
        </p:nvSpPr>
        <p:spPr>
          <a:prstGeom prst="rect">
            <a:avLst/>
          </a:prstGeom>
        </p:spPr>
        <p:txBody>
          <a:bodyPr/>
          <a:lstStyle/>
          <a:p>
            <a:pPr>
              <a:defRPr/>
            </a:pPr>
            <a:fld id="{2918D8CF-5A1F-476D-8807-396E73608610}" type="slidenum">
              <a:rPr lang="en-US"/>
              <a:pPr>
                <a:defRPr/>
              </a:pPr>
              <a:t>20</a:t>
            </a:fld>
            <a:endParaRPr lang="en-US"/>
          </a:p>
        </p:txBody>
      </p:sp>
      <p:sp>
        <p:nvSpPr>
          <p:cNvPr id="81"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83299" name="Rectangle 3"/>
          <p:cNvSpPr>
            <a:spLocks noChangeArrowheads="1"/>
          </p:cNvSpPr>
          <p:nvPr/>
        </p:nvSpPr>
        <p:spPr bwMode="auto">
          <a:xfrm>
            <a:off x="5181600" y="2438400"/>
            <a:ext cx="1897063"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Next, we derive the </a:t>
            </a:r>
          </a:p>
        </p:txBody>
      </p:sp>
      <p:sp>
        <p:nvSpPr>
          <p:cNvPr id="183300" name="Rectangle 4"/>
          <p:cNvSpPr>
            <a:spLocks noChangeArrowheads="1"/>
          </p:cNvSpPr>
          <p:nvPr/>
        </p:nvSpPr>
        <p:spPr bwMode="auto">
          <a:xfrm>
            <a:off x="5181600" y="2667000"/>
            <a:ext cx="1873250"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independent paths:</a:t>
            </a:r>
          </a:p>
        </p:txBody>
      </p:sp>
      <p:sp>
        <p:nvSpPr>
          <p:cNvPr id="183301" name="Rectangle 5"/>
          <p:cNvSpPr>
            <a:spLocks noChangeArrowheads="1"/>
          </p:cNvSpPr>
          <p:nvPr/>
        </p:nvSpPr>
        <p:spPr bwMode="auto">
          <a:xfrm>
            <a:off x="4757738" y="1711325"/>
            <a:ext cx="0" cy="24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02" name="Rectangle 6"/>
          <p:cNvSpPr>
            <a:spLocks noChangeArrowheads="1"/>
          </p:cNvSpPr>
          <p:nvPr/>
        </p:nvSpPr>
        <p:spPr bwMode="auto">
          <a:xfrm>
            <a:off x="5181600" y="3124200"/>
            <a:ext cx="1428750"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Since V(G) = 4,</a:t>
            </a:r>
          </a:p>
        </p:txBody>
      </p:sp>
      <p:sp>
        <p:nvSpPr>
          <p:cNvPr id="183303" name="Rectangle 7"/>
          <p:cNvSpPr>
            <a:spLocks noChangeArrowheads="1"/>
          </p:cNvSpPr>
          <p:nvPr/>
        </p:nvSpPr>
        <p:spPr bwMode="auto">
          <a:xfrm>
            <a:off x="5181600" y="3352800"/>
            <a:ext cx="1908175"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there are four paths</a:t>
            </a:r>
          </a:p>
        </p:txBody>
      </p:sp>
      <p:sp>
        <p:nvSpPr>
          <p:cNvPr id="183304" name="Rectangle 8"/>
          <p:cNvSpPr>
            <a:spLocks noChangeArrowheads="1"/>
          </p:cNvSpPr>
          <p:nvPr/>
        </p:nvSpPr>
        <p:spPr bwMode="auto">
          <a:xfrm>
            <a:off x="4757738" y="2728913"/>
            <a:ext cx="0" cy="24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05" name="Rectangle 9"/>
          <p:cNvSpPr>
            <a:spLocks noChangeArrowheads="1"/>
          </p:cNvSpPr>
          <p:nvPr/>
        </p:nvSpPr>
        <p:spPr bwMode="auto">
          <a:xfrm>
            <a:off x="5486400" y="3733800"/>
            <a:ext cx="1751013"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Path 1:  1,2,3,6,7,8</a:t>
            </a:r>
          </a:p>
        </p:txBody>
      </p:sp>
      <p:sp>
        <p:nvSpPr>
          <p:cNvPr id="183306" name="Rectangle 10"/>
          <p:cNvSpPr>
            <a:spLocks noChangeArrowheads="1"/>
          </p:cNvSpPr>
          <p:nvPr/>
        </p:nvSpPr>
        <p:spPr bwMode="auto">
          <a:xfrm>
            <a:off x="5486400" y="4073525"/>
            <a:ext cx="1751013"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Path 2:  1,2,3,5,7,8</a:t>
            </a:r>
          </a:p>
        </p:txBody>
      </p:sp>
      <p:sp>
        <p:nvSpPr>
          <p:cNvPr id="183307" name="Rectangle 11"/>
          <p:cNvSpPr>
            <a:spLocks noChangeArrowheads="1"/>
          </p:cNvSpPr>
          <p:nvPr/>
        </p:nvSpPr>
        <p:spPr bwMode="auto">
          <a:xfrm>
            <a:off x="5486400" y="4411663"/>
            <a:ext cx="1581150" cy="2206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Path 3:  1,2,4,7,8</a:t>
            </a:r>
          </a:p>
        </p:txBody>
      </p:sp>
      <p:sp>
        <p:nvSpPr>
          <p:cNvPr id="183308" name="Rectangle 12"/>
          <p:cNvSpPr>
            <a:spLocks noChangeArrowheads="1"/>
          </p:cNvSpPr>
          <p:nvPr/>
        </p:nvSpPr>
        <p:spPr bwMode="auto">
          <a:xfrm>
            <a:off x="5486400" y="4751388"/>
            <a:ext cx="2259013" cy="2206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Path 4:  1,2,4,7,2,4,...7,8</a:t>
            </a:r>
          </a:p>
        </p:txBody>
      </p:sp>
      <p:sp>
        <p:nvSpPr>
          <p:cNvPr id="183309" name="Rectangle 13"/>
          <p:cNvSpPr>
            <a:spLocks noChangeArrowheads="1"/>
          </p:cNvSpPr>
          <p:nvPr/>
        </p:nvSpPr>
        <p:spPr bwMode="auto">
          <a:xfrm>
            <a:off x="4757738" y="4425950"/>
            <a:ext cx="0" cy="247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10" name="Rectangle 14"/>
          <p:cNvSpPr>
            <a:spLocks noChangeArrowheads="1"/>
          </p:cNvSpPr>
          <p:nvPr/>
        </p:nvSpPr>
        <p:spPr bwMode="auto">
          <a:xfrm>
            <a:off x="5181600" y="5105400"/>
            <a:ext cx="2100263"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Finally, we derive test</a:t>
            </a:r>
          </a:p>
        </p:txBody>
      </p:sp>
      <p:sp>
        <p:nvSpPr>
          <p:cNvPr id="183311" name="Rectangle 15"/>
          <p:cNvSpPr>
            <a:spLocks noChangeArrowheads="1"/>
          </p:cNvSpPr>
          <p:nvPr/>
        </p:nvSpPr>
        <p:spPr bwMode="auto">
          <a:xfrm>
            <a:off x="5181600" y="5334000"/>
            <a:ext cx="2382838"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cases to exercise these  </a:t>
            </a:r>
          </a:p>
        </p:txBody>
      </p:sp>
      <p:sp>
        <p:nvSpPr>
          <p:cNvPr id="183312" name="Rectangle 16"/>
          <p:cNvSpPr>
            <a:spLocks noChangeArrowheads="1"/>
          </p:cNvSpPr>
          <p:nvPr/>
        </p:nvSpPr>
        <p:spPr bwMode="auto">
          <a:xfrm>
            <a:off x="5181600" y="5562600"/>
            <a:ext cx="598488" cy="2206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600" b="1">
                <a:effectLst>
                  <a:outerShdw blurRad="38100" dist="38100" dir="2700000" algn="tl">
                    <a:srgbClr val="FFFFFF"/>
                  </a:outerShdw>
                </a:effectLst>
                <a:latin typeface="Helvetica" pitchFamily="-128" charset="0"/>
                <a:ea typeface="ＭＳ Ｐゴシック" pitchFamily="-128" charset="-128"/>
              </a:rPr>
              <a:t>paths.</a:t>
            </a:r>
          </a:p>
        </p:txBody>
      </p:sp>
      <p:grpSp>
        <p:nvGrpSpPr>
          <p:cNvPr id="15379" name="Group 17"/>
          <p:cNvGrpSpPr>
            <a:grpSpLocks/>
          </p:cNvGrpSpPr>
          <p:nvPr/>
        </p:nvGrpSpPr>
        <p:grpSpPr bwMode="auto">
          <a:xfrm>
            <a:off x="1828800" y="1752600"/>
            <a:ext cx="2860675" cy="4572000"/>
            <a:chOff x="746" y="655"/>
            <a:chExt cx="1802" cy="2560"/>
          </a:xfrm>
        </p:grpSpPr>
        <p:sp>
          <p:nvSpPr>
            <p:cNvPr id="15380" name="Freeform 18"/>
            <p:cNvSpPr>
              <a:spLocks/>
            </p:cNvSpPr>
            <p:nvPr/>
          </p:nvSpPr>
          <p:spPr bwMode="auto">
            <a:xfrm>
              <a:off x="1848" y="1688"/>
              <a:ext cx="343" cy="342"/>
            </a:xfrm>
            <a:custGeom>
              <a:avLst/>
              <a:gdLst>
                <a:gd name="T0" fmla="*/ 168 w 343"/>
                <a:gd name="T1" fmla="*/ 0 h 342"/>
                <a:gd name="T2" fmla="*/ 0 w 343"/>
                <a:gd name="T3" fmla="*/ 167 h 342"/>
                <a:gd name="T4" fmla="*/ 168 w 343"/>
                <a:gd name="T5" fmla="*/ 342 h 342"/>
                <a:gd name="T6" fmla="*/ 343 w 343"/>
                <a:gd name="T7" fmla="*/ 167 h 342"/>
                <a:gd name="T8" fmla="*/ 168 w 343"/>
                <a:gd name="T9" fmla="*/ 0 h 3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3" h="342">
                  <a:moveTo>
                    <a:pt x="168" y="0"/>
                  </a:moveTo>
                  <a:lnTo>
                    <a:pt x="0" y="167"/>
                  </a:lnTo>
                  <a:lnTo>
                    <a:pt x="168" y="342"/>
                  </a:lnTo>
                  <a:lnTo>
                    <a:pt x="343" y="167"/>
                  </a:lnTo>
                  <a:lnTo>
                    <a:pt x="168"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381" name="Freeform 19"/>
            <p:cNvSpPr>
              <a:spLocks/>
            </p:cNvSpPr>
            <p:nvPr/>
          </p:nvSpPr>
          <p:spPr bwMode="auto">
            <a:xfrm>
              <a:off x="1848" y="1688"/>
              <a:ext cx="343" cy="342"/>
            </a:xfrm>
            <a:custGeom>
              <a:avLst/>
              <a:gdLst>
                <a:gd name="T0" fmla="*/ 168 w 343"/>
                <a:gd name="T1" fmla="*/ 0 h 342"/>
                <a:gd name="T2" fmla="*/ 0 w 343"/>
                <a:gd name="T3" fmla="*/ 167 h 342"/>
                <a:gd name="T4" fmla="*/ 0 w 343"/>
                <a:gd name="T5" fmla="*/ 167 h 342"/>
                <a:gd name="T6" fmla="*/ 168 w 343"/>
                <a:gd name="T7" fmla="*/ 342 h 342"/>
                <a:gd name="T8" fmla="*/ 168 w 343"/>
                <a:gd name="T9" fmla="*/ 342 h 342"/>
                <a:gd name="T10" fmla="*/ 343 w 343"/>
                <a:gd name="T11" fmla="*/ 167 h 342"/>
                <a:gd name="T12" fmla="*/ 343 w 343"/>
                <a:gd name="T13" fmla="*/ 167 h 342"/>
                <a:gd name="T14" fmla="*/ 168 w 343"/>
                <a:gd name="T15" fmla="*/ 0 h 342"/>
                <a:gd name="T16" fmla="*/ 168 w 343"/>
                <a:gd name="T17" fmla="*/ 0 h 3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3" h="342">
                  <a:moveTo>
                    <a:pt x="168" y="0"/>
                  </a:moveTo>
                  <a:lnTo>
                    <a:pt x="0" y="167"/>
                  </a:lnTo>
                  <a:lnTo>
                    <a:pt x="168" y="342"/>
                  </a:lnTo>
                  <a:lnTo>
                    <a:pt x="343" y="167"/>
                  </a:lnTo>
                  <a:lnTo>
                    <a:pt x="168"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82" name="Freeform 20"/>
            <p:cNvSpPr>
              <a:spLocks/>
            </p:cNvSpPr>
            <p:nvPr/>
          </p:nvSpPr>
          <p:spPr bwMode="auto">
            <a:xfrm>
              <a:off x="1841" y="1680"/>
              <a:ext cx="342" cy="342"/>
            </a:xfrm>
            <a:custGeom>
              <a:avLst/>
              <a:gdLst>
                <a:gd name="T0" fmla="*/ 167 w 342"/>
                <a:gd name="T1" fmla="*/ 0 h 342"/>
                <a:gd name="T2" fmla="*/ 0 w 342"/>
                <a:gd name="T3" fmla="*/ 167 h 342"/>
                <a:gd name="T4" fmla="*/ 167 w 342"/>
                <a:gd name="T5" fmla="*/ 342 h 342"/>
                <a:gd name="T6" fmla="*/ 342 w 342"/>
                <a:gd name="T7" fmla="*/ 167 h 342"/>
                <a:gd name="T8" fmla="*/ 167 w 342"/>
                <a:gd name="T9" fmla="*/ 0 h 3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2" h="342">
                  <a:moveTo>
                    <a:pt x="167" y="0"/>
                  </a:moveTo>
                  <a:lnTo>
                    <a:pt x="0" y="167"/>
                  </a:lnTo>
                  <a:lnTo>
                    <a:pt x="167" y="342"/>
                  </a:lnTo>
                  <a:lnTo>
                    <a:pt x="342" y="167"/>
                  </a:lnTo>
                  <a:lnTo>
                    <a:pt x="167"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83" name="Oval 21"/>
            <p:cNvSpPr>
              <a:spLocks noChangeArrowheads="1"/>
            </p:cNvSpPr>
            <p:nvPr/>
          </p:nvSpPr>
          <p:spPr bwMode="auto">
            <a:xfrm>
              <a:off x="1430" y="662"/>
              <a:ext cx="107" cy="129"/>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384" name="Oval 22"/>
            <p:cNvSpPr>
              <a:spLocks noChangeArrowheads="1"/>
            </p:cNvSpPr>
            <p:nvPr/>
          </p:nvSpPr>
          <p:spPr bwMode="auto">
            <a:xfrm>
              <a:off x="1423" y="655"/>
              <a:ext cx="121" cy="144"/>
            </a:xfrm>
            <a:prstGeom prst="ellipse">
              <a:avLst/>
            </a:prstGeom>
            <a:noFill/>
            <a:ln w="30163">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385" name="Freeform 23"/>
            <p:cNvSpPr>
              <a:spLocks/>
            </p:cNvSpPr>
            <p:nvPr/>
          </p:nvSpPr>
          <p:spPr bwMode="auto">
            <a:xfrm>
              <a:off x="1316" y="1331"/>
              <a:ext cx="342" cy="342"/>
            </a:xfrm>
            <a:custGeom>
              <a:avLst/>
              <a:gdLst>
                <a:gd name="T0" fmla="*/ 167 w 342"/>
                <a:gd name="T1" fmla="*/ 0 h 342"/>
                <a:gd name="T2" fmla="*/ 0 w 342"/>
                <a:gd name="T3" fmla="*/ 167 h 342"/>
                <a:gd name="T4" fmla="*/ 167 w 342"/>
                <a:gd name="T5" fmla="*/ 342 h 342"/>
                <a:gd name="T6" fmla="*/ 342 w 342"/>
                <a:gd name="T7" fmla="*/ 167 h 342"/>
                <a:gd name="T8" fmla="*/ 167 w 342"/>
                <a:gd name="T9" fmla="*/ 0 h 3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2" h="342">
                  <a:moveTo>
                    <a:pt x="167" y="0"/>
                  </a:moveTo>
                  <a:lnTo>
                    <a:pt x="0" y="167"/>
                  </a:lnTo>
                  <a:lnTo>
                    <a:pt x="167" y="342"/>
                  </a:lnTo>
                  <a:lnTo>
                    <a:pt x="342" y="167"/>
                  </a:lnTo>
                  <a:lnTo>
                    <a:pt x="167"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386" name="Freeform 24"/>
            <p:cNvSpPr>
              <a:spLocks/>
            </p:cNvSpPr>
            <p:nvPr/>
          </p:nvSpPr>
          <p:spPr bwMode="auto">
            <a:xfrm>
              <a:off x="1316" y="1331"/>
              <a:ext cx="342" cy="342"/>
            </a:xfrm>
            <a:custGeom>
              <a:avLst/>
              <a:gdLst>
                <a:gd name="T0" fmla="*/ 167 w 342"/>
                <a:gd name="T1" fmla="*/ 0 h 342"/>
                <a:gd name="T2" fmla="*/ 0 w 342"/>
                <a:gd name="T3" fmla="*/ 167 h 342"/>
                <a:gd name="T4" fmla="*/ 0 w 342"/>
                <a:gd name="T5" fmla="*/ 167 h 342"/>
                <a:gd name="T6" fmla="*/ 167 w 342"/>
                <a:gd name="T7" fmla="*/ 342 h 342"/>
                <a:gd name="T8" fmla="*/ 167 w 342"/>
                <a:gd name="T9" fmla="*/ 342 h 342"/>
                <a:gd name="T10" fmla="*/ 342 w 342"/>
                <a:gd name="T11" fmla="*/ 167 h 342"/>
                <a:gd name="T12" fmla="*/ 342 w 342"/>
                <a:gd name="T13" fmla="*/ 167 h 342"/>
                <a:gd name="T14" fmla="*/ 167 w 342"/>
                <a:gd name="T15" fmla="*/ 0 h 342"/>
                <a:gd name="T16" fmla="*/ 167 w 342"/>
                <a:gd name="T17" fmla="*/ 0 h 3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2" h="342">
                  <a:moveTo>
                    <a:pt x="167" y="0"/>
                  </a:moveTo>
                  <a:lnTo>
                    <a:pt x="0" y="167"/>
                  </a:lnTo>
                  <a:lnTo>
                    <a:pt x="167" y="342"/>
                  </a:lnTo>
                  <a:lnTo>
                    <a:pt x="342" y="167"/>
                  </a:lnTo>
                  <a:lnTo>
                    <a:pt x="167"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87" name="Freeform 25"/>
            <p:cNvSpPr>
              <a:spLocks/>
            </p:cNvSpPr>
            <p:nvPr/>
          </p:nvSpPr>
          <p:spPr bwMode="auto">
            <a:xfrm>
              <a:off x="1308" y="1323"/>
              <a:ext cx="343" cy="342"/>
            </a:xfrm>
            <a:custGeom>
              <a:avLst/>
              <a:gdLst>
                <a:gd name="T0" fmla="*/ 168 w 343"/>
                <a:gd name="T1" fmla="*/ 0 h 342"/>
                <a:gd name="T2" fmla="*/ 0 w 343"/>
                <a:gd name="T3" fmla="*/ 167 h 342"/>
                <a:gd name="T4" fmla="*/ 168 w 343"/>
                <a:gd name="T5" fmla="*/ 342 h 342"/>
                <a:gd name="T6" fmla="*/ 343 w 343"/>
                <a:gd name="T7" fmla="*/ 167 h 342"/>
                <a:gd name="T8" fmla="*/ 168 w 343"/>
                <a:gd name="T9" fmla="*/ 0 h 3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3" h="342">
                  <a:moveTo>
                    <a:pt x="168" y="0"/>
                  </a:moveTo>
                  <a:lnTo>
                    <a:pt x="0" y="167"/>
                  </a:lnTo>
                  <a:lnTo>
                    <a:pt x="168" y="342"/>
                  </a:lnTo>
                  <a:lnTo>
                    <a:pt x="343" y="167"/>
                  </a:lnTo>
                  <a:lnTo>
                    <a:pt x="168"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88" name="Freeform 26"/>
            <p:cNvSpPr>
              <a:spLocks/>
            </p:cNvSpPr>
            <p:nvPr/>
          </p:nvSpPr>
          <p:spPr bwMode="auto">
            <a:xfrm>
              <a:off x="1316" y="2584"/>
              <a:ext cx="342" cy="342"/>
            </a:xfrm>
            <a:custGeom>
              <a:avLst/>
              <a:gdLst>
                <a:gd name="T0" fmla="*/ 167 w 342"/>
                <a:gd name="T1" fmla="*/ 0 h 342"/>
                <a:gd name="T2" fmla="*/ 0 w 342"/>
                <a:gd name="T3" fmla="*/ 167 h 342"/>
                <a:gd name="T4" fmla="*/ 167 w 342"/>
                <a:gd name="T5" fmla="*/ 342 h 342"/>
                <a:gd name="T6" fmla="*/ 342 w 342"/>
                <a:gd name="T7" fmla="*/ 167 h 342"/>
                <a:gd name="T8" fmla="*/ 167 w 342"/>
                <a:gd name="T9" fmla="*/ 0 h 3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2" h="342">
                  <a:moveTo>
                    <a:pt x="167" y="0"/>
                  </a:moveTo>
                  <a:lnTo>
                    <a:pt x="0" y="167"/>
                  </a:lnTo>
                  <a:lnTo>
                    <a:pt x="167" y="342"/>
                  </a:lnTo>
                  <a:lnTo>
                    <a:pt x="342" y="167"/>
                  </a:lnTo>
                  <a:lnTo>
                    <a:pt x="167"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389" name="Freeform 27"/>
            <p:cNvSpPr>
              <a:spLocks/>
            </p:cNvSpPr>
            <p:nvPr/>
          </p:nvSpPr>
          <p:spPr bwMode="auto">
            <a:xfrm>
              <a:off x="1316" y="2584"/>
              <a:ext cx="342" cy="342"/>
            </a:xfrm>
            <a:custGeom>
              <a:avLst/>
              <a:gdLst>
                <a:gd name="T0" fmla="*/ 167 w 342"/>
                <a:gd name="T1" fmla="*/ 0 h 342"/>
                <a:gd name="T2" fmla="*/ 0 w 342"/>
                <a:gd name="T3" fmla="*/ 167 h 342"/>
                <a:gd name="T4" fmla="*/ 0 w 342"/>
                <a:gd name="T5" fmla="*/ 167 h 342"/>
                <a:gd name="T6" fmla="*/ 167 w 342"/>
                <a:gd name="T7" fmla="*/ 342 h 342"/>
                <a:gd name="T8" fmla="*/ 167 w 342"/>
                <a:gd name="T9" fmla="*/ 342 h 342"/>
                <a:gd name="T10" fmla="*/ 342 w 342"/>
                <a:gd name="T11" fmla="*/ 167 h 342"/>
                <a:gd name="T12" fmla="*/ 342 w 342"/>
                <a:gd name="T13" fmla="*/ 167 h 342"/>
                <a:gd name="T14" fmla="*/ 167 w 342"/>
                <a:gd name="T15" fmla="*/ 0 h 342"/>
                <a:gd name="T16" fmla="*/ 167 w 342"/>
                <a:gd name="T17" fmla="*/ 0 h 3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42" h="342">
                  <a:moveTo>
                    <a:pt x="167" y="0"/>
                  </a:moveTo>
                  <a:lnTo>
                    <a:pt x="0" y="167"/>
                  </a:lnTo>
                  <a:lnTo>
                    <a:pt x="167" y="342"/>
                  </a:lnTo>
                  <a:lnTo>
                    <a:pt x="342" y="167"/>
                  </a:lnTo>
                  <a:lnTo>
                    <a:pt x="167"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0" name="Freeform 28"/>
            <p:cNvSpPr>
              <a:spLocks/>
            </p:cNvSpPr>
            <p:nvPr/>
          </p:nvSpPr>
          <p:spPr bwMode="auto">
            <a:xfrm>
              <a:off x="1308" y="2577"/>
              <a:ext cx="343" cy="342"/>
            </a:xfrm>
            <a:custGeom>
              <a:avLst/>
              <a:gdLst>
                <a:gd name="T0" fmla="*/ 168 w 343"/>
                <a:gd name="T1" fmla="*/ 0 h 342"/>
                <a:gd name="T2" fmla="*/ 0 w 343"/>
                <a:gd name="T3" fmla="*/ 167 h 342"/>
                <a:gd name="T4" fmla="*/ 168 w 343"/>
                <a:gd name="T5" fmla="*/ 342 h 342"/>
                <a:gd name="T6" fmla="*/ 343 w 343"/>
                <a:gd name="T7" fmla="*/ 167 h 342"/>
                <a:gd name="T8" fmla="*/ 168 w 343"/>
                <a:gd name="T9" fmla="*/ 0 h 3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3" h="342">
                  <a:moveTo>
                    <a:pt x="168" y="0"/>
                  </a:moveTo>
                  <a:lnTo>
                    <a:pt x="0" y="167"/>
                  </a:lnTo>
                  <a:lnTo>
                    <a:pt x="168" y="342"/>
                  </a:lnTo>
                  <a:lnTo>
                    <a:pt x="343" y="167"/>
                  </a:lnTo>
                  <a:lnTo>
                    <a:pt x="168"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1" name="Freeform 29"/>
            <p:cNvSpPr>
              <a:spLocks/>
            </p:cNvSpPr>
            <p:nvPr/>
          </p:nvSpPr>
          <p:spPr bwMode="auto">
            <a:xfrm>
              <a:off x="1673" y="1498"/>
              <a:ext cx="343" cy="106"/>
            </a:xfrm>
            <a:custGeom>
              <a:avLst/>
              <a:gdLst>
                <a:gd name="T0" fmla="*/ 0 w 343"/>
                <a:gd name="T1" fmla="*/ 0 h 106"/>
                <a:gd name="T2" fmla="*/ 343 w 343"/>
                <a:gd name="T3" fmla="*/ 0 h 106"/>
                <a:gd name="T4" fmla="*/ 343 w 343"/>
                <a:gd name="T5" fmla="*/ 0 h 106"/>
                <a:gd name="T6" fmla="*/ 343 w 343"/>
                <a:gd name="T7" fmla="*/ 106 h 106"/>
                <a:gd name="T8" fmla="*/ 343 w 343"/>
                <a:gd name="T9" fmla="*/ 106 h 10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3" h="106">
                  <a:moveTo>
                    <a:pt x="0" y="0"/>
                  </a:moveTo>
                  <a:lnTo>
                    <a:pt x="343" y="0"/>
                  </a:lnTo>
                  <a:lnTo>
                    <a:pt x="343" y="106"/>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2" name="Freeform 30"/>
            <p:cNvSpPr>
              <a:spLocks/>
            </p:cNvSpPr>
            <p:nvPr/>
          </p:nvSpPr>
          <p:spPr bwMode="auto">
            <a:xfrm>
              <a:off x="1666" y="1490"/>
              <a:ext cx="342" cy="107"/>
            </a:xfrm>
            <a:custGeom>
              <a:avLst/>
              <a:gdLst>
                <a:gd name="T0" fmla="*/ 0 w 342"/>
                <a:gd name="T1" fmla="*/ 0 h 107"/>
                <a:gd name="T2" fmla="*/ 342 w 342"/>
                <a:gd name="T3" fmla="*/ 0 h 107"/>
                <a:gd name="T4" fmla="*/ 342 w 342"/>
                <a:gd name="T5" fmla="*/ 107 h 107"/>
                <a:gd name="T6" fmla="*/ 0 60000 65536"/>
                <a:gd name="T7" fmla="*/ 0 60000 65536"/>
                <a:gd name="T8" fmla="*/ 0 60000 65536"/>
              </a:gdLst>
              <a:ahLst/>
              <a:cxnLst>
                <a:cxn ang="T6">
                  <a:pos x="T0" y="T1"/>
                </a:cxn>
                <a:cxn ang="T7">
                  <a:pos x="T2" y="T3"/>
                </a:cxn>
                <a:cxn ang="T8">
                  <a:pos x="T4" y="T5"/>
                </a:cxn>
              </a:cxnLst>
              <a:rect l="0" t="0" r="r" b="b"/>
              <a:pathLst>
                <a:path w="342" h="107">
                  <a:moveTo>
                    <a:pt x="0" y="0"/>
                  </a:moveTo>
                  <a:lnTo>
                    <a:pt x="342" y="0"/>
                  </a:lnTo>
                  <a:lnTo>
                    <a:pt x="342" y="107"/>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3" name="Line 31"/>
            <p:cNvSpPr>
              <a:spLocks noChangeShapeType="1"/>
            </p:cNvSpPr>
            <p:nvPr/>
          </p:nvSpPr>
          <p:spPr bwMode="auto">
            <a:xfrm>
              <a:off x="1468" y="784"/>
              <a:ext cx="1" cy="532"/>
            </a:xfrm>
            <a:prstGeom prst="line">
              <a:avLst/>
            </a:prstGeom>
            <a:noFill/>
            <a:ln w="301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sp>
          <p:nvSpPr>
            <p:cNvPr id="15394" name="Rectangle 32"/>
            <p:cNvSpPr>
              <a:spLocks noChangeArrowheads="1"/>
            </p:cNvSpPr>
            <p:nvPr/>
          </p:nvSpPr>
          <p:spPr bwMode="auto">
            <a:xfrm>
              <a:off x="1324" y="913"/>
              <a:ext cx="296" cy="236"/>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395" name="Rectangle 33"/>
            <p:cNvSpPr>
              <a:spLocks noChangeArrowheads="1"/>
            </p:cNvSpPr>
            <p:nvPr/>
          </p:nvSpPr>
          <p:spPr bwMode="auto">
            <a:xfrm>
              <a:off x="1316" y="905"/>
              <a:ext cx="312" cy="251"/>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396" name="Freeform 34"/>
            <p:cNvSpPr>
              <a:spLocks/>
            </p:cNvSpPr>
            <p:nvPr/>
          </p:nvSpPr>
          <p:spPr bwMode="auto">
            <a:xfrm>
              <a:off x="1042" y="1483"/>
              <a:ext cx="259" cy="296"/>
            </a:xfrm>
            <a:custGeom>
              <a:avLst/>
              <a:gdLst>
                <a:gd name="T0" fmla="*/ 259 w 259"/>
                <a:gd name="T1" fmla="*/ 0 h 296"/>
                <a:gd name="T2" fmla="*/ 0 w 259"/>
                <a:gd name="T3" fmla="*/ 0 h 296"/>
                <a:gd name="T4" fmla="*/ 0 w 259"/>
                <a:gd name="T5" fmla="*/ 296 h 296"/>
                <a:gd name="T6" fmla="*/ 0 60000 65536"/>
                <a:gd name="T7" fmla="*/ 0 60000 65536"/>
                <a:gd name="T8" fmla="*/ 0 60000 65536"/>
              </a:gdLst>
              <a:ahLst/>
              <a:cxnLst>
                <a:cxn ang="T6">
                  <a:pos x="T0" y="T1"/>
                </a:cxn>
                <a:cxn ang="T7">
                  <a:pos x="T2" y="T3"/>
                </a:cxn>
                <a:cxn ang="T8">
                  <a:pos x="T4" y="T5"/>
                </a:cxn>
              </a:cxnLst>
              <a:rect l="0" t="0" r="r" b="b"/>
              <a:pathLst>
                <a:path w="259" h="296">
                  <a:moveTo>
                    <a:pt x="259" y="0"/>
                  </a:moveTo>
                  <a:lnTo>
                    <a:pt x="0" y="0"/>
                  </a:lnTo>
                  <a:lnTo>
                    <a:pt x="0" y="296"/>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7" name="Freeform 35"/>
            <p:cNvSpPr>
              <a:spLocks/>
            </p:cNvSpPr>
            <p:nvPr/>
          </p:nvSpPr>
          <p:spPr bwMode="auto">
            <a:xfrm>
              <a:off x="2191" y="1855"/>
              <a:ext cx="205" cy="175"/>
            </a:xfrm>
            <a:custGeom>
              <a:avLst/>
              <a:gdLst>
                <a:gd name="T0" fmla="*/ 0 w 205"/>
                <a:gd name="T1" fmla="*/ 0 h 175"/>
                <a:gd name="T2" fmla="*/ 205 w 205"/>
                <a:gd name="T3" fmla="*/ 0 h 175"/>
                <a:gd name="T4" fmla="*/ 205 w 205"/>
                <a:gd name="T5" fmla="*/ 0 h 175"/>
                <a:gd name="T6" fmla="*/ 205 w 205"/>
                <a:gd name="T7" fmla="*/ 175 h 175"/>
                <a:gd name="T8" fmla="*/ 205 w 205"/>
                <a:gd name="T9" fmla="*/ 175 h 17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175">
                  <a:moveTo>
                    <a:pt x="0" y="0"/>
                  </a:moveTo>
                  <a:lnTo>
                    <a:pt x="205" y="0"/>
                  </a:lnTo>
                  <a:lnTo>
                    <a:pt x="205" y="175"/>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8" name="Freeform 36"/>
            <p:cNvSpPr>
              <a:spLocks/>
            </p:cNvSpPr>
            <p:nvPr/>
          </p:nvSpPr>
          <p:spPr bwMode="auto">
            <a:xfrm>
              <a:off x="2183" y="1847"/>
              <a:ext cx="205" cy="175"/>
            </a:xfrm>
            <a:custGeom>
              <a:avLst/>
              <a:gdLst>
                <a:gd name="T0" fmla="*/ 0 w 205"/>
                <a:gd name="T1" fmla="*/ 0 h 175"/>
                <a:gd name="T2" fmla="*/ 205 w 205"/>
                <a:gd name="T3" fmla="*/ 0 h 175"/>
                <a:gd name="T4" fmla="*/ 205 w 205"/>
                <a:gd name="T5" fmla="*/ 175 h 175"/>
                <a:gd name="T6" fmla="*/ 0 60000 65536"/>
                <a:gd name="T7" fmla="*/ 0 60000 65536"/>
                <a:gd name="T8" fmla="*/ 0 60000 65536"/>
              </a:gdLst>
              <a:ahLst/>
              <a:cxnLst>
                <a:cxn ang="T6">
                  <a:pos x="T0" y="T1"/>
                </a:cxn>
                <a:cxn ang="T7">
                  <a:pos x="T2" y="T3"/>
                </a:cxn>
                <a:cxn ang="T8">
                  <a:pos x="T4" y="T5"/>
                </a:cxn>
              </a:cxnLst>
              <a:rect l="0" t="0" r="r" b="b"/>
              <a:pathLst>
                <a:path w="205" h="175">
                  <a:moveTo>
                    <a:pt x="0" y="0"/>
                  </a:moveTo>
                  <a:lnTo>
                    <a:pt x="205" y="0"/>
                  </a:lnTo>
                  <a:lnTo>
                    <a:pt x="205" y="175"/>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399" name="Freeform 37"/>
            <p:cNvSpPr>
              <a:spLocks/>
            </p:cNvSpPr>
            <p:nvPr/>
          </p:nvSpPr>
          <p:spPr bwMode="auto">
            <a:xfrm>
              <a:off x="1673" y="1855"/>
              <a:ext cx="191" cy="220"/>
            </a:xfrm>
            <a:custGeom>
              <a:avLst/>
              <a:gdLst>
                <a:gd name="T0" fmla="*/ 191 w 191"/>
                <a:gd name="T1" fmla="*/ 0 h 220"/>
                <a:gd name="T2" fmla="*/ 0 w 191"/>
                <a:gd name="T3" fmla="*/ 0 h 220"/>
                <a:gd name="T4" fmla="*/ 0 w 191"/>
                <a:gd name="T5" fmla="*/ 0 h 220"/>
                <a:gd name="T6" fmla="*/ 0 w 191"/>
                <a:gd name="T7" fmla="*/ 220 h 220"/>
                <a:gd name="T8" fmla="*/ 0 w 191"/>
                <a:gd name="T9" fmla="*/ 220 h 2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1" h="220">
                  <a:moveTo>
                    <a:pt x="191" y="0"/>
                  </a:moveTo>
                  <a:lnTo>
                    <a:pt x="0" y="0"/>
                  </a:lnTo>
                  <a:lnTo>
                    <a:pt x="0" y="22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400" name="Freeform 38"/>
            <p:cNvSpPr>
              <a:spLocks/>
            </p:cNvSpPr>
            <p:nvPr/>
          </p:nvSpPr>
          <p:spPr bwMode="auto">
            <a:xfrm>
              <a:off x="1666" y="1847"/>
              <a:ext cx="190" cy="221"/>
            </a:xfrm>
            <a:custGeom>
              <a:avLst/>
              <a:gdLst>
                <a:gd name="T0" fmla="*/ 190 w 190"/>
                <a:gd name="T1" fmla="*/ 0 h 221"/>
                <a:gd name="T2" fmla="*/ 0 w 190"/>
                <a:gd name="T3" fmla="*/ 0 h 221"/>
                <a:gd name="T4" fmla="*/ 0 w 190"/>
                <a:gd name="T5" fmla="*/ 221 h 221"/>
                <a:gd name="T6" fmla="*/ 0 60000 65536"/>
                <a:gd name="T7" fmla="*/ 0 60000 65536"/>
                <a:gd name="T8" fmla="*/ 0 60000 65536"/>
              </a:gdLst>
              <a:ahLst/>
              <a:cxnLst>
                <a:cxn ang="T6">
                  <a:pos x="T0" y="T1"/>
                </a:cxn>
                <a:cxn ang="T7">
                  <a:pos x="T2" y="T3"/>
                </a:cxn>
                <a:cxn ang="T8">
                  <a:pos x="T4" y="T5"/>
                </a:cxn>
              </a:cxnLst>
              <a:rect l="0" t="0" r="r" b="b"/>
              <a:pathLst>
                <a:path w="190" h="221">
                  <a:moveTo>
                    <a:pt x="190" y="0"/>
                  </a:moveTo>
                  <a:lnTo>
                    <a:pt x="0" y="0"/>
                  </a:lnTo>
                  <a:lnTo>
                    <a:pt x="0" y="221"/>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401" name="Freeform 39"/>
            <p:cNvSpPr>
              <a:spLocks/>
            </p:cNvSpPr>
            <p:nvPr/>
          </p:nvSpPr>
          <p:spPr bwMode="auto">
            <a:xfrm>
              <a:off x="1658" y="2182"/>
              <a:ext cx="738" cy="98"/>
            </a:xfrm>
            <a:custGeom>
              <a:avLst/>
              <a:gdLst>
                <a:gd name="T0" fmla="*/ 0 w 738"/>
                <a:gd name="T1" fmla="*/ 0 h 98"/>
                <a:gd name="T2" fmla="*/ 0 w 738"/>
                <a:gd name="T3" fmla="*/ 98 h 98"/>
                <a:gd name="T4" fmla="*/ 0 w 738"/>
                <a:gd name="T5" fmla="*/ 98 h 98"/>
                <a:gd name="T6" fmla="*/ 738 w 738"/>
                <a:gd name="T7" fmla="*/ 98 h 98"/>
                <a:gd name="T8" fmla="*/ 738 w 738"/>
                <a:gd name="T9" fmla="*/ 98 h 98"/>
                <a:gd name="T10" fmla="*/ 738 w 738"/>
                <a:gd name="T11" fmla="*/ 0 h 98"/>
                <a:gd name="T12" fmla="*/ 738 w 738"/>
                <a:gd name="T13" fmla="*/ 0 h 9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8" h="98">
                  <a:moveTo>
                    <a:pt x="0" y="0"/>
                  </a:moveTo>
                  <a:lnTo>
                    <a:pt x="0" y="98"/>
                  </a:lnTo>
                  <a:lnTo>
                    <a:pt x="738" y="98"/>
                  </a:lnTo>
                  <a:lnTo>
                    <a:pt x="738"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402" name="Rectangle 40"/>
            <p:cNvSpPr>
              <a:spLocks noChangeArrowheads="1"/>
            </p:cNvSpPr>
            <p:nvPr/>
          </p:nvSpPr>
          <p:spPr bwMode="auto">
            <a:xfrm>
              <a:off x="1651" y="2174"/>
              <a:ext cx="737" cy="99"/>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3" name="Rectangle 41"/>
            <p:cNvSpPr>
              <a:spLocks noChangeArrowheads="1"/>
            </p:cNvSpPr>
            <p:nvPr/>
          </p:nvSpPr>
          <p:spPr bwMode="auto">
            <a:xfrm>
              <a:off x="1499" y="1931"/>
              <a:ext cx="289" cy="235"/>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4" name="Rectangle 42"/>
            <p:cNvSpPr>
              <a:spLocks noChangeArrowheads="1"/>
            </p:cNvSpPr>
            <p:nvPr/>
          </p:nvSpPr>
          <p:spPr bwMode="auto">
            <a:xfrm>
              <a:off x="1491" y="1923"/>
              <a:ext cx="304" cy="251"/>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5" name="Rectangle 43"/>
            <p:cNvSpPr>
              <a:spLocks noChangeArrowheads="1"/>
            </p:cNvSpPr>
            <p:nvPr/>
          </p:nvSpPr>
          <p:spPr bwMode="auto">
            <a:xfrm>
              <a:off x="2244" y="1931"/>
              <a:ext cx="297" cy="235"/>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6" name="Rectangle 44"/>
            <p:cNvSpPr>
              <a:spLocks noChangeArrowheads="1"/>
            </p:cNvSpPr>
            <p:nvPr/>
          </p:nvSpPr>
          <p:spPr bwMode="auto">
            <a:xfrm>
              <a:off x="2236" y="1923"/>
              <a:ext cx="312" cy="251"/>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7" name="Rectangle 45"/>
            <p:cNvSpPr>
              <a:spLocks noChangeArrowheads="1"/>
            </p:cNvSpPr>
            <p:nvPr/>
          </p:nvSpPr>
          <p:spPr bwMode="auto">
            <a:xfrm>
              <a:off x="898" y="1809"/>
              <a:ext cx="296" cy="228"/>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8" name="Rectangle 46"/>
            <p:cNvSpPr>
              <a:spLocks noChangeArrowheads="1"/>
            </p:cNvSpPr>
            <p:nvPr/>
          </p:nvSpPr>
          <p:spPr bwMode="auto">
            <a:xfrm>
              <a:off x="890" y="1802"/>
              <a:ext cx="312" cy="243"/>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09" name="Line 47"/>
            <p:cNvSpPr>
              <a:spLocks noChangeShapeType="1"/>
            </p:cNvSpPr>
            <p:nvPr/>
          </p:nvSpPr>
          <p:spPr bwMode="auto">
            <a:xfrm>
              <a:off x="1468" y="2372"/>
              <a:ext cx="1" cy="167"/>
            </a:xfrm>
            <a:prstGeom prst="line">
              <a:avLst/>
            </a:prstGeom>
            <a:noFill/>
            <a:ln w="301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sp>
          <p:nvSpPr>
            <p:cNvPr id="15410" name="Line 48"/>
            <p:cNvSpPr>
              <a:spLocks noChangeShapeType="1"/>
            </p:cNvSpPr>
            <p:nvPr/>
          </p:nvSpPr>
          <p:spPr bwMode="auto">
            <a:xfrm>
              <a:off x="1468" y="2881"/>
              <a:ext cx="1" cy="167"/>
            </a:xfrm>
            <a:prstGeom prst="line">
              <a:avLst/>
            </a:prstGeom>
            <a:noFill/>
            <a:ln w="301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sp>
          <p:nvSpPr>
            <p:cNvPr id="15411" name="Oval 49"/>
            <p:cNvSpPr>
              <a:spLocks noChangeArrowheads="1"/>
            </p:cNvSpPr>
            <p:nvPr/>
          </p:nvSpPr>
          <p:spPr bwMode="auto">
            <a:xfrm>
              <a:off x="1430" y="3086"/>
              <a:ext cx="107" cy="121"/>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12" name="Oval 50"/>
            <p:cNvSpPr>
              <a:spLocks noChangeArrowheads="1"/>
            </p:cNvSpPr>
            <p:nvPr/>
          </p:nvSpPr>
          <p:spPr bwMode="auto">
            <a:xfrm>
              <a:off x="1423" y="3078"/>
              <a:ext cx="121" cy="137"/>
            </a:xfrm>
            <a:prstGeom prst="ellipse">
              <a:avLst/>
            </a:prstGeom>
            <a:noFill/>
            <a:ln w="30163">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5413" name="Freeform 51"/>
            <p:cNvSpPr>
              <a:spLocks/>
            </p:cNvSpPr>
            <p:nvPr/>
          </p:nvSpPr>
          <p:spPr bwMode="auto">
            <a:xfrm>
              <a:off x="753" y="1285"/>
              <a:ext cx="730" cy="1444"/>
            </a:xfrm>
            <a:custGeom>
              <a:avLst/>
              <a:gdLst>
                <a:gd name="T0" fmla="*/ 563 w 730"/>
                <a:gd name="T1" fmla="*/ 1444 h 1444"/>
                <a:gd name="T2" fmla="*/ 0 w 730"/>
                <a:gd name="T3" fmla="*/ 1444 h 1444"/>
                <a:gd name="T4" fmla="*/ 0 w 730"/>
                <a:gd name="T5" fmla="*/ 1444 h 1444"/>
                <a:gd name="T6" fmla="*/ 0 w 730"/>
                <a:gd name="T7" fmla="*/ 0 h 1444"/>
                <a:gd name="T8" fmla="*/ 0 w 730"/>
                <a:gd name="T9" fmla="*/ 0 h 1444"/>
                <a:gd name="T10" fmla="*/ 730 w 730"/>
                <a:gd name="T11" fmla="*/ 0 h 1444"/>
                <a:gd name="T12" fmla="*/ 730 w 730"/>
                <a:gd name="T13" fmla="*/ 0 h 144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30" h="1444">
                  <a:moveTo>
                    <a:pt x="563" y="1444"/>
                  </a:moveTo>
                  <a:lnTo>
                    <a:pt x="0" y="1444"/>
                  </a:lnTo>
                  <a:lnTo>
                    <a:pt x="0" y="0"/>
                  </a:lnTo>
                  <a:lnTo>
                    <a:pt x="730"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414" name="Freeform 52"/>
            <p:cNvSpPr>
              <a:spLocks/>
            </p:cNvSpPr>
            <p:nvPr/>
          </p:nvSpPr>
          <p:spPr bwMode="auto">
            <a:xfrm>
              <a:off x="746" y="1278"/>
              <a:ext cx="730" cy="1443"/>
            </a:xfrm>
            <a:custGeom>
              <a:avLst/>
              <a:gdLst>
                <a:gd name="T0" fmla="*/ 562 w 730"/>
                <a:gd name="T1" fmla="*/ 1443 h 1443"/>
                <a:gd name="T2" fmla="*/ 0 w 730"/>
                <a:gd name="T3" fmla="*/ 1443 h 1443"/>
                <a:gd name="T4" fmla="*/ 0 w 730"/>
                <a:gd name="T5" fmla="*/ 0 h 1443"/>
                <a:gd name="T6" fmla="*/ 730 w 730"/>
                <a:gd name="T7" fmla="*/ 0 h 144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30" h="1443">
                  <a:moveTo>
                    <a:pt x="562" y="1443"/>
                  </a:moveTo>
                  <a:lnTo>
                    <a:pt x="0" y="1443"/>
                  </a:lnTo>
                  <a:lnTo>
                    <a:pt x="0" y="0"/>
                  </a:lnTo>
                  <a:lnTo>
                    <a:pt x="730"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grpSp>
          <p:nvGrpSpPr>
            <p:cNvPr id="15415" name="Group 53"/>
            <p:cNvGrpSpPr>
              <a:grpSpLocks/>
            </p:cNvGrpSpPr>
            <p:nvPr/>
          </p:nvGrpSpPr>
          <p:grpSpPr bwMode="auto">
            <a:xfrm>
              <a:off x="1324" y="1247"/>
              <a:ext cx="152" cy="53"/>
              <a:chOff x="1324" y="1247"/>
              <a:chExt cx="152" cy="53"/>
            </a:xfrm>
          </p:grpSpPr>
          <p:sp>
            <p:nvSpPr>
              <p:cNvPr id="15441" name="Freeform 54"/>
              <p:cNvSpPr>
                <a:spLocks/>
              </p:cNvSpPr>
              <p:nvPr/>
            </p:nvSpPr>
            <p:spPr bwMode="auto">
              <a:xfrm>
                <a:off x="1362" y="1247"/>
                <a:ext cx="114" cy="53"/>
              </a:xfrm>
              <a:custGeom>
                <a:avLst/>
                <a:gdLst>
                  <a:gd name="T0" fmla="*/ 114 w 114"/>
                  <a:gd name="T1" fmla="*/ 23 h 53"/>
                  <a:gd name="T2" fmla="*/ 0 w 114"/>
                  <a:gd name="T3" fmla="*/ 53 h 53"/>
                  <a:gd name="T4" fmla="*/ 0 w 114"/>
                  <a:gd name="T5" fmla="*/ 23 h 53"/>
                  <a:gd name="T6" fmla="*/ 0 w 114"/>
                  <a:gd name="T7" fmla="*/ 0 h 53"/>
                  <a:gd name="T8" fmla="*/ 114 w 114"/>
                  <a:gd name="T9" fmla="*/ 23 h 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4" h="53">
                    <a:moveTo>
                      <a:pt x="114" y="23"/>
                    </a:moveTo>
                    <a:lnTo>
                      <a:pt x="0" y="53"/>
                    </a:lnTo>
                    <a:lnTo>
                      <a:pt x="0" y="23"/>
                    </a:lnTo>
                    <a:lnTo>
                      <a:pt x="0" y="0"/>
                    </a:lnTo>
                    <a:lnTo>
                      <a:pt x="114" y="2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442" name="Line 55"/>
              <p:cNvSpPr>
                <a:spLocks noChangeShapeType="1"/>
              </p:cNvSpPr>
              <p:nvPr/>
            </p:nvSpPr>
            <p:spPr bwMode="auto">
              <a:xfrm>
                <a:off x="1324" y="1270"/>
                <a:ext cx="38"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5416" name="Group 56"/>
            <p:cNvGrpSpPr>
              <a:grpSpLocks/>
            </p:cNvGrpSpPr>
            <p:nvPr/>
          </p:nvGrpSpPr>
          <p:grpSpPr bwMode="auto">
            <a:xfrm>
              <a:off x="1962" y="1490"/>
              <a:ext cx="54" cy="183"/>
              <a:chOff x="1962" y="1490"/>
              <a:chExt cx="54" cy="183"/>
            </a:xfrm>
          </p:grpSpPr>
          <p:sp>
            <p:nvSpPr>
              <p:cNvPr id="15439" name="Freeform 57"/>
              <p:cNvSpPr>
                <a:spLocks/>
              </p:cNvSpPr>
              <p:nvPr/>
            </p:nvSpPr>
            <p:spPr bwMode="auto">
              <a:xfrm>
                <a:off x="1962" y="1559"/>
                <a:ext cx="54" cy="114"/>
              </a:xfrm>
              <a:custGeom>
                <a:avLst/>
                <a:gdLst>
                  <a:gd name="T0" fmla="*/ 31 w 54"/>
                  <a:gd name="T1" fmla="*/ 114 h 114"/>
                  <a:gd name="T2" fmla="*/ 0 w 54"/>
                  <a:gd name="T3" fmla="*/ 0 h 114"/>
                  <a:gd name="T4" fmla="*/ 31 w 54"/>
                  <a:gd name="T5" fmla="*/ 0 h 114"/>
                  <a:gd name="T6" fmla="*/ 54 w 54"/>
                  <a:gd name="T7" fmla="*/ 0 h 114"/>
                  <a:gd name="T8" fmla="*/ 31 w 54"/>
                  <a:gd name="T9" fmla="*/ 114 h 1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114">
                    <a:moveTo>
                      <a:pt x="31" y="114"/>
                    </a:moveTo>
                    <a:lnTo>
                      <a:pt x="0" y="0"/>
                    </a:lnTo>
                    <a:lnTo>
                      <a:pt x="31" y="0"/>
                    </a:lnTo>
                    <a:lnTo>
                      <a:pt x="54" y="0"/>
                    </a:lnTo>
                    <a:lnTo>
                      <a:pt x="31" y="11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440" name="Line 58"/>
              <p:cNvSpPr>
                <a:spLocks noChangeShapeType="1"/>
              </p:cNvSpPr>
              <p:nvPr/>
            </p:nvSpPr>
            <p:spPr bwMode="auto">
              <a:xfrm>
                <a:off x="1993" y="1490"/>
                <a:ext cx="1" cy="69"/>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5417" name="Group 59"/>
            <p:cNvGrpSpPr>
              <a:grpSpLocks/>
            </p:cNvGrpSpPr>
            <p:nvPr/>
          </p:nvGrpSpPr>
          <p:grpSpPr bwMode="auto">
            <a:xfrm>
              <a:off x="1019" y="1642"/>
              <a:ext cx="61" cy="167"/>
              <a:chOff x="1019" y="1642"/>
              <a:chExt cx="61" cy="167"/>
            </a:xfrm>
          </p:grpSpPr>
          <p:sp>
            <p:nvSpPr>
              <p:cNvPr id="15437" name="Freeform 60"/>
              <p:cNvSpPr>
                <a:spLocks/>
              </p:cNvSpPr>
              <p:nvPr/>
            </p:nvSpPr>
            <p:spPr bwMode="auto">
              <a:xfrm>
                <a:off x="1019" y="1695"/>
                <a:ext cx="61" cy="114"/>
              </a:xfrm>
              <a:custGeom>
                <a:avLst/>
                <a:gdLst>
                  <a:gd name="T0" fmla="*/ 31 w 61"/>
                  <a:gd name="T1" fmla="*/ 114 h 114"/>
                  <a:gd name="T2" fmla="*/ 0 w 61"/>
                  <a:gd name="T3" fmla="*/ 0 h 114"/>
                  <a:gd name="T4" fmla="*/ 31 w 61"/>
                  <a:gd name="T5" fmla="*/ 0 h 114"/>
                  <a:gd name="T6" fmla="*/ 61 w 61"/>
                  <a:gd name="T7" fmla="*/ 0 h 114"/>
                  <a:gd name="T8" fmla="*/ 31 w 61"/>
                  <a:gd name="T9" fmla="*/ 114 h 1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114">
                    <a:moveTo>
                      <a:pt x="31" y="114"/>
                    </a:moveTo>
                    <a:lnTo>
                      <a:pt x="0" y="0"/>
                    </a:lnTo>
                    <a:lnTo>
                      <a:pt x="31" y="0"/>
                    </a:lnTo>
                    <a:lnTo>
                      <a:pt x="61" y="0"/>
                    </a:lnTo>
                    <a:lnTo>
                      <a:pt x="31" y="11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438" name="Line 61"/>
              <p:cNvSpPr>
                <a:spLocks noChangeShapeType="1"/>
              </p:cNvSpPr>
              <p:nvPr/>
            </p:nvSpPr>
            <p:spPr bwMode="auto">
              <a:xfrm>
                <a:off x="1050" y="1642"/>
                <a:ext cx="1" cy="53"/>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5418" name="Group 62"/>
            <p:cNvGrpSpPr>
              <a:grpSpLocks/>
            </p:cNvGrpSpPr>
            <p:nvPr/>
          </p:nvGrpSpPr>
          <p:grpSpPr bwMode="auto">
            <a:xfrm>
              <a:off x="1445" y="2379"/>
              <a:ext cx="61" cy="198"/>
              <a:chOff x="1445" y="2379"/>
              <a:chExt cx="61" cy="198"/>
            </a:xfrm>
          </p:grpSpPr>
          <p:sp>
            <p:nvSpPr>
              <p:cNvPr id="15435" name="Freeform 63"/>
              <p:cNvSpPr>
                <a:spLocks/>
              </p:cNvSpPr>
              <p:nvPr/>
            </p:nvSpPr>
            <p:spPr bwMode="auto">
              <a:xfrm>
                <a:off x="1445" y="2463"/>
                <a:ext cx="61" cy="114"/>
              </a:xfrm>
              <a:custGeom>
                <a:avLst/>
                <a:gdLst>
                  <a:gd name="T0" fmla="*/ 31 w 61"/>
                  <a:gd name="T1" fmla="*/ 114 h 114"/>
                  <a:gd name="T2" fmla="*/ 0 w 61"/>
                  <a:gd name="T3" fmla="*/ 0 h 114"/>
                  <a:gd name="T4" fmla="*/ 31 w 61"/>
                  <a:gd name="T5" fmla="*/ 0 h 114"/>
                  <a:gd name="T6" fmla="*/ 61 w 61"/>
                  <a:gd name="T7" fmla="*/ 0 h 114"/>
                  <a:gd name="T8" fmla="*/ 31 w 61"/>
                  <a:gd name="T9" fmla="*/ 114 h 1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114">
                    <a:moveTo>
                      <a:pt x="31" y="114"/>
                    </a:moveTo>
                    <a:lnTo>
                      <a:pt x="0" y="0"/>
                    </a:lnTo>
                    <a:lnTo>
                      <a:pt x="31" y="0"/>
                    </a:lnTo>
                    <a:lnTo>
                      <a:pt x="61" y="0"/>
                    </a:lnTo>
                    <a:lnTo>
                      <a:pt x="31" y="11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436" name="Line 64"/>
              <p:cNvSpPr>
                <a:spLocks noChangeShapeType="1"/>
              </p:cNvSpPr>
              <p:nvPr/>
            </p:nvSpPr>
            <p:spPr bwMode="auto">
              <a:xfrm>
                <a:off x="1476" y="2379"/>
                <a:ext cx="1" cy="84"/>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5419" name="Group 65"/>
            <p:cNvGrpSpPr>
              <a:grpSpLocks/>
            </p:cNvGrpSpPr>
            <p:nvPr/>
          </p:nvGrpSpPr>
          <p:grpSpPr bwMode="auto">
            <a:xfrm>
              <a:off x="1445" y="1171"/>
              <a:ext cx="61" cy="152"/>
              <a:chOff x="1445" y="1171"/>
              <a:chExt cx="61" cy="152"/>
            </a:xfrm>
          </p:grpSpPr>
          <p:sp>
            <p:nvSpPr>
              <p:cNvPr id="15433" name="Freeform 66"/>
              <p:cNvSpPr>
                <a:spLocks/>
              </p:cNvSpPr>
              <p:nvPr/>
            </p:nvSpPr>
            <p:spPr bwMode="auto">
              <a:xfrm>
                <a:off x="1445" y="1209"/>
                <a:ext cx="61" cy="114"/>
              </a:xfrm>
              <a:custGeom>
                <a:avLst/>
                <a:gdLst>
                  <a:gd name="T0" fmla="*/ 31 w 61"/>
                  <a:gd name="T1" fmla="*/ 114 h 114"/>
                  <a:gd name="T2" fmla="*/ 0 w 61"/>
                  <a:gd name="T3" fmla="*/ 0 h 114"/>
                  <a:gd name="T4" fmla="*/ 31 w 61"/>
                  <a:gd name="T5" fmla="*/ 0 h 114"/>
                  <a:gd name="T6" fmla="*/ 61 w 61"/>
                  <a:gd name="T7" fmla="*/ 0 h 114"/>
                  <a:gd name="T8" fmla="*/ 31 w 61"/>
                  <a:gd name="T9" fmla="*/ 114 h 1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114">
                    <a:moveTo>
                      <a:pt x="31" y="114"/>
                    </a:moveTo>
                    <a:lnTo>
                      <a:pt x="0" y="0"/>
                    </a:lnTo>
                    <a:lnTo>
                      <a:pt x="31" y="0"/>
                    </a:lnTo>
                    <a:lnTo>
                      <a:pt x="61" y="0"/>
                    </a:lnTo>
                    <a:lnTo>
                      <a:pt x="31" y="11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434" name="Line 67"/>
              <p:cNvSpPr>
                <a:spLocks noChangeShapeType="1"/>
              </p:cNvSpPr>
              <p:nvPr/>
            </p:nvSpPr>
            <p:spPr bwMode="auto">
              <a:xfrm>
                <a:off x="1476" y="1171"/>
                <a:ext cx="1" cy="38"/>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5420" name="Group 68"/>
            <p:cNvGrpSpPr>
              <a:grpSpLocks/>
            </p:cNvGrpSpPr>
            <p:nvPr/>
          </p:nvGrpSpPr>
          <p:grpSpPr bwMode="auto">
            <a:xfrm>
              <a:off x="1445" y="2919"/>
              <a:ext cx="61" cy="136"/>
              <a:chOff x="1445" y="2919"/>
              <a:chExt cx="61" cy="136"/>
            </a:xfrm>
          </p:grpSpPr>
          <p:sp>
            <p:nvSpPr>
              <p:cNvPr id="15431" name="Freeform 69"/>
              <p:cNvSpPr>
                <a:spLocks/>
              </p:cNvSpPr>
              <p:nvPr/>
            </p:nvSpPr>
            <p:spPr bwMode="auto">
              <a:xfrm>
                <a:off x="1445" y="2941"/>
                <a:ext cx="61" cy="114"/>
              </a:xfrm>
              <a:custGeom>
                <a:avLst/>
                <a:gdLst>
                  <a:gd name="T0" fmla="*/ 31 w 61"/>
                  <a:gd name="T1" fmla="*/ 114 h 114"/>
                  <a:gd name="T2" fmla="*/ 0 w 61"/>
                  <a:gd name="T3" fmla="*/ 0 h 114"/>
                  <a:gd name="T4" fmla="*/ 31 w 61"/>
                  <a:gd name="T5" fmla="*/ 0 h 114"/>
                  <a:gd name="T6" fmla="*/ 61 w 61"/>
                  <a:gd name="T7" fmla="*/ 0 h 114"/>
                  <a:gd name="T8" fmla="*/ 31 w 61"/>
                  <a:gd name="T9" fmla="*/ 114 h 1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1" h="114">
                    <a:moveTo>
                      <a:pt x="31" y="114"/>
                    </a:moveTo>
                    <a:lnTo>
                      <a:pt x="0" y="0"/>
                    </a:lnTo>
                    <a:lnTo>
                      <a:pt x="31" y="0"/>
                    </a:lnTo>
                    <a:lnTo>
                      <a:pt x="61" y="0"/>
                    </a:lnTo>
                    <a:lnTo>
                      <a:pt x="31" y="11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5432" name="Line 70"/>
              <p:cNvSpPr>
                <a:spLocks noChangeShapeType="1"/>
              </p:cNvSpPr>
              <p:nvPr/>
            </p:nvSpPr>
            <p:spPr bwMode="auto">
              <a:xfrm>
                <a:off x="1476" y="2919"/>
                <a:ext cx="1" cy="22"/>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sp>
          <p:nvSpPr>
            <p:cNvPr id="15421" name="Freeform 71"/>
            <p:cNvSpPr>
              <a:spLocks/>
            </p:cNvSpPr>
            <p:nvPr/>
          </p:nvSpPr>
          <p:spPr bwMode="auto">
            <a:xfrm>
              <a:off x="1057" y="2045"/>
              <a:ext cx="959" cy="372"/>
            </a:xfrm>
            <a:custGeom>
              <a:avLst/>
              <a:gdLst>
                <a:gd name="T0" fmla="*/ 959 w 959"/>
                <a:gd name="T1" fmla="*/ 258 h 372"/>
                <a:gd name="T2" fmla="*/ 959 w 959"/>
                <a:gd name="T3" fmla="*/ 372 h 372"/>
                <a:gd name="T4" fmla="*/ 959 w 959"/>
                <a:gd name="T5" fmla="*/ 372 h 372"/>
                <a:gd name="T6" fmla="*/ 0 w 959"/>
                <a:gd name="T7" fmla="*/ 372 h 372"/>
                <a:gd name="T8" fmla="*/ 0 w 959"/>
                <a:gd name="T9" fmla="*/ 372 h 372"/>
                <a:gd name="T10" fmla="*/ 0 w 959"/>
                <a:gd name="T11" fmla="*/ 0 h 372"/>
                <a:gd name="T12" fmla="*/ 0 w 959"/>
                <a:gd name="T13" fmla="*/ 0 h 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59" h="372">
                  <a:moveTo>
                    <a:pt x="959" y="258"/>
                  </a:moveTo>
                  <a:lnTo>
                    <a:pt x="959" y="372"/>
                  </a:lnTo>
                  <a:lnTo>
                    <a:pt x="0" y="372"/>
                  </a:lnTo>
                  <a:lnTo>
                    <a:pt x="0"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5422" name="Freeform 72"/>
            <p:cNvSpPr>
              <a:spLocks/>
            </p:cNvSpPr>
            <p:nvPr/>
          </p:nvSpPr>
          <p:spPr bwMode="auto">
            <a:xfrm>
              <a:off x="1050" y="2037"/>
              <a:ext cx="958" cy="373"/>
            </a:xfrm>
            <a:custGeom>
              <a:avLst/>
              <a:gdLst>
                <a:gd name="T0" fmla="*/ 958 w 958"/>
                <a:gd name="T1" fmla="*/ 259 h 373"/>
                <a:gd name="T2" fmla="*/ 958 w 958"/>
                <a:gd name="T3" fmla="*/ 373 h 373"/>
                <a:gd name="T4" fmla="*/ 0 w 958"/>
                <a:gd name="T5" fmla="*/ 373 h 373"/>
                <a:gd name="T6" fmla="*/ 0 w 958"/>
                <a:gd name="T7" fmla="*/ 0 h 3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8" h="373">
                  <a:moveTo>
                    <a:pt x="958" y="259"/>
                  </a:moveTo>
                  <a:lnTo>
                    <a:pt x="958" y="373"/>
                  </a:lnTo>
                  <a:lnTo>
                    <a:pt x="0" y="373"/>
                  </a:lnTo>
                  <a:lnTo>
                    <a:pt x="0"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83369" name="Rectangle 73"/>
            <p:cNvSpPr>
              <a:spLocks noChangeArrowheads="1"/>
            </p:cNvSpPr>
            <p:nvPr/>
          </p:nvSpPr>
          <p:spPr bwMode="auto">
            <a:xfrm>
              <a:off x="1483" y="982"/>
              <a:ext cx="53" cy="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1</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0" name="Rectangle 74"/>
            <p:cNvSpPr>
              <a:spLocks noChangeArrowheads="1"/>
            </p:cNvSpPr>
            <p:nvPr/>
          </p:nvSpPr>
          <p:spPr bwMode="auto">
            <a:xfrm>
              <a:off x="1468" y="1453"/>
              <a:ext cx="53" cy="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2</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1" name="Rectangle 75"/>
            <p:cNvSpPr>
              <a:spLocks noChangeArrowheads="1"/>
            </p:cNvSpPr>
            <p:nvPr/>
          </p:nvSpPr>
          <p:spPr bwMode="auto">
            <a:xfrm>
              <a:off x="2001" y="1795"/>
              <a:ext cx="53" cy="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3</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2" name="Rectangle 76"/>
            <p:cNvSpPr>
              <a:spLocks noChangeArrowheads="1"/>
            </p:cNvSpPr>
            <p:nvPr/>
          </p:nvSpPr>
          <p:spPr bwMode="auto">
            <a:xfrm>
              <a:off x="989" y="1893"/>
              <a:ext cx="53" cy="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4</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3" name="Rectangle 77"/>
            <p:cNvSpPr>
              <a:spLocks noChangeArrowheads="1"/>
            </p:cNvSpPr>
            <p:nvPr/>
          </p:nvSpPr>
          <p:spPr bwMode="auto">
            <a:xfrm>
              <a:off x="1635" y="2030"/>
              <a:ext cx="53" cy="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5</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4" name="Rectangle 78"/>
            <p:cNvSpPr>
              <a:spLocks noChangeArrowheads="1"/>
            </p:cNvSpPr>
            <p:nvPr/>
          </p:nvSpPr>
          <p:spPr bwMode="auto">
            <a:xfrm>
              <a:off x="2381" y="2030"/>
              <a:ext cx="53" cy="9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6</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5" name="Rectangle 79"/>
            <p:cNvSpPr>
              <a:spLocks noChangeArrowheads="1"/>
            </p:cNvSpPr>
            <p:nvPr/>
          </p:nvSpPr>
          <p:spPr bwMode="auto">
            <a:xfrm>
              <a:off x="1468" y="2676"/>
              <a:ext cx="53" cy="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7</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sp>
          <p:nvSpPr>
            <p:cNvPr id="183376" name="Rectangle 80"/>
            <p:cNvSpPr>
              <a:spLocks noChangeArrowheads="1"/>
            </p:cNvSpPr>
            <p:nvPr/>
          </p:nvSpPr>
          <p:spPr bwMode="auto">
            <a:xfrm>
              <a:off x="1590" y="3063"/>
              <a:ext cx="53" cy="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sz="1200" b="1">
                  <a:solidFill>
                    <a:schemeClr val="bg1"/>
                  </a:solidFill>
                  <a:effectLst>
                    <a:outerShdw blurRad="38100" dist="38100" dir="2700000" algn="tl">
                      <a:srgbClr val="000000"/>
                    </a:outerShdw>
                  </a:effectLst>
                  <a:latin typeface="Helvetica" pitchFamily="-128" charset="0"/>
                  <a:ea typeface="ＭＳ Ｐゴシック" pitchFamily="-128" charset="-128"/>
                </a:rPr>
                <a:t>8</a:t>
              </a:r>
              <a:endParaRPr lang="en-US" sz="1800" b="1">
                <a:solidFill>
                  <a:schemeClr val="bg1"/>
                </a:solidFill>
                <a:effectLst>
                  <a:outerShdw blurRad="38100" dist="38100" dir="2700000" algn="tl">
                    <a:srgbClr val="000000"/>
                  </a:outerShdw>
                </a:effectLst>
                <a:latin typeface="Helvetica" pitchFamily="-128" charset="0"/>
                <a:ea typeface="ＭＳ Ｐゴシック" pitchFamily="-128" charset="-128"/>
              </a:endParaRPr>
            </a:p>
          </p:txBody>
        </p:sp>
      </p:grpSp>
    </p:spTree>
    <p:extLst>
      <p:ext uri="{BB962C8B-B14F-4D97-AF65-F5344CB8AC3E}">
        <p14:creationId xmlns:p14="http://schemas.microsoft.com/office/powerpoint/2010/main" val="287509840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1219200" y="1066800"/>
            <a:ext cx="5830888" cy="660400"/>
          </a:xfrm>
          <a:noFill/>
          <a:extLst>
            <a:ext uri="{91240B29-F687-4f45-9708-019B960494DF}">
              <a14:hiddenLine xmlns:a14="http://schemas.microsoft.com/office/drawing/2010/main" xmlns="" w="12700">
                <a:solidFill>
                  <a:schemeClr val="tx1"/>
                </a:solidFill>
                <a:miter lim="800000"/>
                <a:headEnd/>
                <a:tailEnd/>
              </a14:hiddenLine>
            </a:ext>
          </a:extLst>
        </p:spPr>
        <p:txBody>
          <a:bodyPr wrap="none" lIns="63500" tIns="25400" rIns="63500" bIns="25400" anchor="t">
            <a:spAutoFit/>
          </a:bodyPr>
          <a:lstStyle/>
          <a:p>
            <a:pPr eaLnBrk="1" hangingPunct="1"/>
            <a:r>
              <a:rPr lang="en-US" altLang="x-none"/>
              <a:t>Basis Path Testing Notes</a:t>
            </a:r>
          </a:p>
        </p:txBody>
      </p:sp>
      <p:sp>
        <p:nvSpPr>
          <p:cNvPr id="81" name="Slide Number Placeholder 4"/>
          <p:cNvSpPr>
            <a:spLocks noGrp="1"/>
          </p:cNvSpPr>
          <p:nvPr>
            <p:ph type="sldNum" sz="quarter" idx="12"/>
          </p:nvPr>
        </p:nvSpPr>
        <p:spPr>
          <a:prstGeom prst="rect">
            <a:avLst/>
          </a:prstGeom>
        </p:spPr>
        <p:txBody>
          <a:bodyPr/>
          <a:lstStyle/>
          <a:p>
            <a:pPr>
              <a:defRPr/>
            </a:pPr>
            <a:fld id="{34DC3866-90F4-4C7C-90A8-F929675C189D}" type="slidenum">
              <a:rPr lang="en-US"/>
              <a:pPr>
                <a:defRPr/>
              </a:pPr>
              <a:t>21</a:t>
            </a:fld>
            <a:endParaRPr lang="en-US"/>
          </a:p>
        </p:txBody>
      </p:sp>
      <p:sp>
        <p:nvSpPr>
          <p:cNvPr id="80"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grpSp>
        <p:nvGrpSpPr>
          <p:cNvPr id="16389" name="Group 3"/>
          <p:cNvGrpSpPr>
            <a:grpSpLocks/>
          </p:cNvGrpSpPr>
          <p:nvPr/>
        </p:nvGrpSpPr>
        <p:grpSpPr bwMode="auto">
          <a:xfrm>
            <a:off x="1219200" y="2133600"/>
            <a:ext cx="2232025" cy="3557588"/>
            <a:chOff x="568" y="896"/>
            <a:chExt cx="1406" cy="1992"/>
          </a:xfrm>
        </p:grpSpPr>
        <p:sp>
          <p:nvSpPr>
            <p:cNvPr id="16411" name="Freeform 4"/>
            <p:cNvSpPr>
              <a:spLocks/>
            </p:cNvSpPr>
            <p:nvPr/>
          </p:nvSpPr>
          <p:spPr bwMode="auto">
            <a:xfrm>
              <a:off x="1423" y="1701"/>
              <a:ext cx="271" cy="263"/>
            </a:xfrm>
            <a:custGeom>
              <a:avLst/>
              <a:gdLst>
                <a:gd name="T0" fmla="*/ 135 w 271"/>
                <a:gd name="T1" fmla="*/ 0 h 263"/>
                <a:gd name="T2" fmla="*/ 0 w 271"/>
                <a:gd name="T3" fmla="*/ 135 h 263"/>
                <a:gd name="T4" fmla="*/ 135 w 271"/>
                <a:gd name="T5" fmla="*/ 263 h 263"/>
                <a:gd name="T6" fmla="*/ 271 w 271"/>
                <a:gd name="T7" fmla="*/ 135 h 263"/>
                <a:gd name="T8" fmla="*/ 135 w 271"/>
                <a:gd name="T9" fmla="*/ 0 h 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263">
                  <a:moveTo>
                    <a:pt x="135" y="0"/>
                  </a:moveTo>
                  <a:lnTo>
                    <a:pt x="0" y="135"/>
                  </a:lnTo>
                  <a:lnTo>
                    <a:pt x="135" y="263"/>
                  </a:lnTo>
                  <a:lnTo>
                    <a:pt x="271" y="135"/>
                  </a:lnTo>
                  <a:lnTo>
                    <a:pt x="135"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12" name="Freeform 5"/>
            <p:cNvSpPr>
              <a:spLocks/>
            </p:cNvSpPr>
            <p:nvPr/>
          </p:nvSpPr>
          <p:spPr bwMode="auto">
            <a:xfrm>
              <a:off x="1423" y="1701"/>
              <a:ext cx="271" cy="263"/>
            </a:xfrm>
            <a:custGeom>
              <a:avLst/>
              <a:gdLst>
                <a:gd name="T0" fmla="*/ 135 w 271"/>
                <a:gd name="T1" fmla="*/ 0 h 263"/>
                <a:gd name="T2" fmla="*/ 0 w 271"/>
                <a:gd name="T3" fmla="*/ 135 h 263"/>
                <a:gd name="T4" fmla="*/ 0 w 271"/>
                <a:gd name="T5" fmla="*/ 135 h 263"/>
                <a:gd name="T6" fmla="*/ 135 w 271"/>
                <a:gd name="T7" fmla="*/ 263 h 263"/>
                <a:gd name="T8" fmla="*/ 135 w 271"/>
                <a:gd name="T9" fmla="*/ 263 h 263"/>
                <a:gd name="T10" fmla="*/ 271 w 271"/>
                <a:gd name="T11" fmla="*/ 135 h 263"/>
                <a:gd name="T12" fmla="*/ 271 w 271"/>
                <a:gd name="T13" fmla="*/ 135 h 263"/>
                <a:gd name="T14" fmla="*/ 135 w 271"/>
                <a:gd name="T15" fmla="*/ 0 h 263"/>
                <a:gd name="T16" fmla="*/ 135 w 271"/>
                <a:gd name="T17" fmla="*/ 0 h 2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1" h="263">
                  <a:moveTo>
                    <a:pt x="135" y="0"/>
                  </a:moveTo>
                  <a:lnTo>
                    <a:pt x="0" y="135"/>
                  </a:lnTo>
                  <a:lnTo>
                    <a:pt x="135" y="263"/>
                  </a:lnTo>
                  <a:lnTo>
                    <a:pt x="271" y="135"/>
                  </a:lnTo>
                  <a:lnTo>
                    <a:pt x="135"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13" name="Freeform 6"/>
            <p:cNvSpPr>
              <a:spLocks/>
            </p:cNvSpPr>
            <p:nvPr/>
          </p:nvSpPr>
          <p:spPr bwMode="auto">
            <a:xfrm>
              <a:off x="1415" y="1693"/>
              <a:ext cx="271" cy="263"/>
            </a:xfrm>
            <a:custGeom>
              <a:avLst/>
              <a:gdLst>
                <a:gd name="T0" fmla="*/ 135 w 271"/>
                <a:gd name="T1" fmla="*/ 0 h 263"/>
                <a:gd name="T2" fmla="*/ 0 w 271"/>
                <a:gd name="T3" fmla="*/ 135 h 263"/>
                <a:gd name="T4" fmla="*/ 135 w 271"/>
                <a:gd name="T5" fmla="*/ 263 h 263"/>
                <a:gd name="T6" fmla="*/ 271 w 271"/>
                <a:gd name="T7" fmla="*/ 135 h 263"/>
                <a:gd name="T8" fmla="*/ 135 w 271"/>
                <a:gd name="T9" fmla="*/ 0 h 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263">
                  <a:moveTo>
                    <a:pt x="135" y="0"/>
                  </a:moveTo>
                  <a:lnTo>
                    <a:pt x="0" y="135"/>
                  </a:lnTo>
                  <a:lnTo>
                    <a:pt x="135" y="263"/>
                  </a:lnTo>
                  <a:lnTo>
                    <a:pt x="271" y="135"/>
                  </a:lnTo>
                  <a:lnTo>
                    <a:pt x="135"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14" name="Oval 7"/>
            <p:cNvSpPr>
              <a:spLocks noChangeArrowheads="1"/>
            </p:cNvSpPr>
            <p:nvPr/>
          </p:nvSpPr>
          <p:spPr bwMode="auto">
            <a:xfrm>
              <a:off x="1103" y="904"/>
              <a:ext cx="80" cy="96"/>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15" name="Oval 8"/>
            <p:cNvSpPr>
              <a:spLocks noChangeArrowheads="1"/>
            </p:cNvSpPr>
            <p:nvPr/>
          </p:nvSpPr>
          <p:spPr bwMode="auto">
            <a:xfrm>
              <a:off x="1095" y="896"/>
              <a:ext cx="96" cy="112"/>
            </a:xfrm>
            <a:prstGeom prst="ellipse">
              <a:avLst/>
            </a:prstGeom>
            <a:noFill/>
            <a:ln w="30163">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16" name="Freeform 9"/>
            <p:cNvSpPr>
              <a:spLocks/>
            </p:cNvSpPr>
            <p:nvPr/>
          </p:nvSpPr>
          <p:spPr bwMode="auto">
            <a:xfrm>
              <a:off x="1007" y="1430"/>
              <a:ext cx="272" cy="255"/>
            </a:xfrm>
            <a:custGeom>
              <a:avLst/>
              <a:gdLst>
                <a:gd name="T0" fmla="*/ 136 w 272"/>
                <a:gd name="T1" fmla="*/ 0 h 255"/>
                <a:gd name="T2" fmla="*/ 0 w 272"/>
                <a:gd name="T3" fmla="*/ 119 h 255"/>
                <a:gd name="T4" fmla="*/ 136 w 272"/>
                <a:gd name="T5" fmla="*/ 255 h 255"/>
                <a:gd name="T6" fmla="*/ 272 w 272"/>
                <a:gd name="T7" fmla="*/ 119 h 255"/>
                <a:gd name="T8" fmla="*/ 136 w 272"/>
                <a:gd name="T9" fmla="*/ 0 h 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2" h="255">
                  <a:moveTo>
                    <a:pt x="136" y="0"/>
                  </a:moveTo>
                  <a:lnTo>
                    <a:pt x="0" y="119"/>
                  </a:lnTo>
                  <a:lnTo>
                    <a:pt x="136" y="255"/>
                  </a:lnTo>
                  <a:lnTo>
                    <a:pt x="272" y="119"/>
                  </a:lnTo>
                  <a:lnTo>
                    <a:pt x="13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17" name="Freeform 10"/>
            <p:cNvSpPr>
              <a:spLocks/>
            </p:cNvSpPr>
            <p:nvPr/>
          </p:nvSpPr>
          <p:spPr bwMode="auto">
            <a:xfrm>
              <a:off x="1007" y="1430"/>
              <a:ext cx="272" cy="255"/>
            </a:xfrm>
            <a:custGeom>
              <a:avLst/>
              <a:gdLst>
                <a:gd name="T0" fmla="*/ 136 w 272"/>
                <a:gd name="T1" fmla="*/ 0 h 255"/>
                <a:gd name="T2" fmla="*/ 0 w 272"/>
                <a:gd name="T3" fmla="*/ 119 h 255"/>
                <a:gd name="T4" fmla="*/ 0 w 272"/>
                <a:gd name="T5" fmla="*/ 119 h 255"/>
                <a:gd name="T6" fmla="*/ 136 w 272"/>
                <a:gd name="T7" fmla="*/ 255 h 255"/>
                <a:gd name="T8" fmla="*/ 136 w 272"/>
                <a:gd name="T9" fmla="*/ 255 h 255"/>
                <a:gd name="T10" fmla="*/ 272 w 272"/>
                <a:gd name="T11" fmla="*/ 119 h 255"/>
                <a:gd name="T12" fmla="*/ 272 w 272"/>
                <a:gd name="T13" fmla="*/ 119 h 255"/>
                <a:gd name="T14" fmla="*/ 136 w 272"/>
                <a:gd name="T15" fmla="*/ 0 h 255"/>
                <a:gd name="T16" fmla="*/ 136 w 272"/>
                <a:gd name="T17" fmla="*/ 0 h 2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2" h="255">
                  <a:moveTo>
                    <a:pt x="136" y="0"/>
                  </a:moveTo>
                  <a:lnTo>
                    <a:pt x="0" y="119"/>
                  </a:lnTo>
                  <a:lnTo>
                    <a:pt x="136" y="255"/>
                  </a:lnTo>
                  <a:lnTo>
                    <a:pt x="272" y="119"/>
                  </a:lnTo>
                  <a:lnTo>
                    <a:pt x="136"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18" name="Freeform 11"/>
            <p:cNvSpPr>
              <a:spLocks/>
            </p:cNvSpPr>
            <p:nvPr/>
          </p:nvSpPr>
          <p:spPr bwMode="auto">
            <a:xfrm>
              <a:off x="999" y="1422"/>
              <a:ext cx="272" cy="255"/>
            </a:xfrm>
            <a:custGeom>
              <a:avLst/>
              <a:gdLst>
                <a:gd name="T0" fmla="*/ 136 w 272"/>
                <a:gd name="T1" fmla="*/ 0 h 255"/>
                <a:gd name="T2" fmla="*/ 0 w 272"/>
                <a:gd name="T3" fmla="*/ 119 h 255"/>
                <a:gd name="T4" fmla="*/ 136 w 272"/>
                <a:gd name="T5" fmla="*/ 255 h 255"/>
                <a:gd name="T6" fmla="*/ 272 w 272"/>
                <a:gd name="T7" fmla="*/ 119 h 255"/>
                <a:gd name="T8" fmla="*/ 136 w 272"/>
                <a:gd name="T9" fmla="*/ 0 h 25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2" h="255">
                  <a:moveTo>
                    <a:pt x="136" y="0"/>
                  </a:moveTo>
                  <a:lnTo>
                    <a:pt x="0" y="119"/>
                  </a:lnTo>
                  <a:lnTo>
                    <a:pt x="136" y="255"/>
                  </a:lnTo>
                  <a:lnTo>
                    <a:pt x="272" y="119"/>
                  </a:lnTo>
                  <a:lnTo>
                    <a:pt x="136"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19" name="Freeform 12"/>
            <p:cNvSpPr>
              <a:spLocks/>
            </p:cNvSpPr>
            <p:nvPr/>
          </p:nvSpPr>
          <p:spPr bwMode="auto">
            <a:xfrm>
              <a:off x="1007" y="2394"/>
              <a:ext cx="272" cy="263"/>
            </a:xfrm>
            <a:custGeom>
              <a:avLst/>
              <a:gdLst>
                <a:gd name="T0" fmla="*/ 136 w 272"/>
                <a:gd name="T1" fmla="*/ 0 h 263"/>
                <a:gd name="T2" fmla="*/ 0 w 272"/>
                <a:gd name="T3" fmla="*/ 128 h 263"/>
                <a:gd name="T4" fmla="*/ 136 w 272"/>
                <a:gd name="T5" fmla="*/ 263 h 263"/>
                <a:gd name="T6" fmla="*/ 272 w 272"/>
                <a:gd name="T7" fmla="*/ 128 h 263"/>
                <a:gd name="T8" fmla="*/ 136 w 272"/>
                <a:gd name="T9" fmla="*/ 0 h 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2" h="263">
                  <a:moveTo>
                    <a:pt x="136" y="0"/>
                  </a:moveTo>
                  <a:lnTo>
                    <a:pt x="0" y="128"/>
                  </a:lnTo>
                  <a:lnTo>
                    <a:pt x="136" y="263"/>
                  </a:lnTo>
                  <a:lnTo>
                    <a:pt x="272" y="128"/>
                  </a:lnTo>
                  <a:lnTo>
                    <a:pt x="136" y="0"/>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20" name="Freeform 13"/>
            <p:cNvSpPr>
              <a:spLocks/>
            </p:cNvSpPr>
            <p:nvPr/>
          </p:nvSpPr>
          <p:spPr bwMode="auto">
            <a:xfrm>
              <a:off x="1007" y="2394"/>
              <a:ext cx="272" cy="263"/>
            </a:xfrm>
            <a:custGeom>
              <a:avLst/>
              <a:gdLst>
                <a:gd name="T0" fmla="*/ 136 w 272"/>
                <a:gd name="T1" fmla="*/ 0 h 263"/>
                <a:gd name="T2" fmla="*/ 0 w 272"/>
                <a:gd name="T3" fmla="*/ 128 h 263"/>
                <a:gd name="T4" fmla="*/ 0 w 272"/>
                <a:gd name="T5" fmla="*/ 128 h 263"/>
                <a:gd name="T6" fmla="*/ 136 w 272"/>
                <a:gd name="T7" fmla="*/ 263 h 263"/>
                <a:gd name="T8" fmla="*/ 136 w 272"/>
                <a:gd name="T9" fmla="*/ 263 h 263"/>
                <a:gd name="T10" fmla="*/ 272 w 272"/>
                <a:gd name="T11" fmla="*/ 128 h 263"/>
                <a:gd name="T12" fmla="*/ 272 w 272"/>
                <a:gd name="T13" fmla="*/ 128 h 263"/>
                <a:gd name="T14" fmla="*/ 136 w 272"/>
                <a:gd name="T15" fmla="*/ 0 h 263"/>
                <a:gd name="T16" fmla="*/ 136 w 272"/>
                <a:gd name="T17" fmla="*/ 0 h 2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72" h="263">
                  <a:moveTo>
                    <a:pt x="136" y="0"/>
                  </a:moveTo>
                  <a:lnTo>
                    <a:pt x="0" y="128"/>
                  </a:lnTo>
                  <a:lnTo>
                    <a:pt x="136" y="263"/>
                  </a:lnTo>
                  <a:lnTo>
                    <a:pt x="272" y="128"/>
                  </a:lnTo>
                  <a:lnTo>
                    <a:pt x="136"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21" name="Freeform 14"/>
            <p:cNvSpPr>
              <a:spLocks/>
            </p:cNvSpPr>
            <p:nvPr/>
          </p:nvSpPr>
          <p:spPr bwMode="auto">
            <a:xfrm>
              <a:off x="999" y="2386"/>
              <a:ext cx="272" cy="263"/>
            </a:xfrm>
            <a:custGeom>
              <a:avLst/>
              <a:gdLst>
                <a:gd name="T0" fmla="*/ 136 w 272"/>
                <a:gd name="T1" fmla="*/ 0 h 263"/>
                <a:gd name="T2" fmla="*/ 0 w 272"/>
                <a:gd name="T3" fmla="*/ 128 h 263"/>
                <a:gd name="T4" fmla="*/ 136 w 272"/>
                <a:gd name="T5" fmla="*/ 263 h 263"/>
                <a:gd name="T6" fmla="*/ 272 w 272"/>
                <a:gd name="T7" fmla="*/ 128 h 263"/>
                <a:gd name="T8" fmla="*/ 136 w 272"/>
                <a:gd name="T9" fmla="*/ 0 h 2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2" h="263">
                  <a:moveTo>
                    <a:pt x="136" y="0"/>
                  </a:moveTo>
                  <a:lnTo>
                    <a:pt x="0" y="128"/>
                  </a:lnTo>
                  <a:lnTo>
                    <a:pt x="136" y="263"/>
                  </a:lnTo>
                  <a:lnTo>
                    <a:pt x="272" y="128"/>
                  </a:lnTo>
                  <a:lnTo>
                    <a:pt x="136" y="0"/>
                  </a:lnTo>
                  <a:close/>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22" name="Freeform 15"/>
            <p:cNvSpPr>
              <a:spLocks/>
            </p:cNvSpPr>
            <p:nvPr/>
          </p:nvSpPr>
          <p:spPr bwMode="auto">
            <a:xfrm>
              <a:off x="1287" y="1549"/>
              <a:ext cx="271" cy="88"/>
            </a:xfrm>
            <a:custGeom>
              <a:avLst/>
              <a:gdLst>
                <a:gd name="T0" fmla="*/ 0 w 271"/>
                <a:gd name="T1" fmla="*/ 0 h 88"/>
                <a:gd name="T2" fmla="*/ 271 w 271"/>
                <a:gd name="T3" fmla="*/ 0 h 88"/>
                <a:gd name="T4" fmla="*/ 271 w 271"/>
                <a:gd name="T5" fmla="*/ 0 h 88"/>
                <a:gd name="T6" fmla="*/ 271 w 271"/>
                <a:gd name="T7" fmla="*/ 88 h 88"/>
                <a:gd name="T8" fmla="*/ 271 w 271"/>
                <a:gd name="T9" fmla="*/ 88 h 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 h="88">
                  <a:moveTo>
                    <a:pt x="0" y="0"/>
                  </a:moveTo>
                  <a:lnTo>
                    <a:pt x="271" y="0"/>
                  </a:lnTo>
                  <a:lnTo>
                    <a:pt x="271" y="88"/>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23" name="Freeform 16"/>
            <p:cNvSpPr>
              <a:spLocks/>
            </p:cNvSpPr>
            <p:nvPr/>
          </p:nvSpPr>
          <p:spPr bwMode="auto">
            <a:xfrm>
              <a:off x="1279" y="1541"/>
              <a:ext cx="271" cy="88"/>
            </a:xfrm>
            <a:custGeom>
              <a:avLst/>
              <a:gdLst>
                <a:gd name="T0" fmla="*/ 0 w 271"/>
                <a:gd name="T1" fmla="*/ 0 h 88"/>
                <a:gd name="T2" fmla="*/ 271 w 271"/>
                <a:gd name="T3" fmla="*/ 0 h 88"/>
                <a:gd name="T4" fmla="*/ 271 w 271"/>
                <a:gd name="T5" fmla="*/ 88 h 88"/>
                <a:gd name="T6" fmla="*/ 0 60000 65536"/>
                <a:gd name="T7" fmla="*/ 0 60000 65536"/>
                <a:gd name="T8" fmla="*/ 0 60000 65536"/>
              </a:gdLst>
              <a:ahLst/>
              <a:cxnLst>
                <a:cxn ang="T6">
                  <a:pos x="T0" y="T1"/>
                </a:cxn>
                <a:cxn ang="T7">
                  <a:pos x="T2" y="T3"/>
                </a:cxn>
                <a:cxn ang="T8">
                  <a:pos x="T4" y="T5"/>
                </a:cxn>
              </a:cxnLst>
              <a:rect l="0" t="0" r="r" b="b"/>
              <a:pathLst>
                <a:path w="271" h="88">
                  <a:moveTo>
                    <a:pt x="0" y="0"/>
                  </a:moveTo>
                  <a:lnTo>
                    <a:pt x="271" y="0"/>
                  </a:lnTo>
                  <a:lnTo>
                    <a:pt x="271" y="88"/>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24" name="Line 17"/>
            <p:cNvSpPr>
              <a:spLocks noChangeShapeType="1"/>
            </p:cNvSpPr>
            <p:nvPr/>
          </p:nvSpPr>
          <p:spPr bwMode="auto">
            <a:xfrm>
              <a:off x="1127" y="992"/>
              <a:ext cx="1" cy="414"/>
            </a:xfrm>
            <a:prstGeom prst="line">
              <a:avLst/>
            </a:prstGeom>
            <a:noFill/>
            <a:ln w="301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sp>
          <p:nvSpPr>
            <p:cNvPr id="16425" name="Rectangle 18"/>
            <p:cNvSpPr>
              <a:spLocks noChangeArrowheads="1"/>
            </p:cNvSpPr>
            <p:nvPr/>
          </p:nvSpPr>
          <p:spPr bwMode="auto">
            <a:xfrm>
              <a:off x="1015" y="1095"/>
              <a:ext cx="240" cy="191"/>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26" name="Rectangle 19"/>
            <p:cNvSpPr>
              <a:spLocks noChangeArrowheads="1"/>
            </p:cNvSpPr>
            <p:nvPr/>
          </p:nvSpPr>
          <p:spPr bwMode="auto">
            <a:xfrm>
              <a:off x="1007" y="1087"/>
              <a:ext cx="256" cy="207"/>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27" name="Freeform 20"/>
            <p:cNvSpPr>
              <a:spLocks/>
            </p:cNvSpPr>
            <p:nvPr/>
          </p:nvSpPr>
          <p:spPr bwMode="auto">
            <a:xfrm>
              <a:off x="792" y="1533"/>
              <a:ext cx="199" cy="232"/>
            </a:xfrm>
            <a:custGeom>
              <a:avLst/>
              <a:gdLst>
                <a:gd name="T0" fmla="*/ 199 w 199"/>
                <a:gd name="T1" fmla="*/ 0 h 232"/>
                <a:gd name="T2" fmla="*/ 0 w 199"/>
                <a:gd name="T3" fmla="*/ 0 h 232"/>
                <a:gd name="T4" fmla="*/ 0 w 199"/>
                <a:gd name="T5" fmla="*/ 232 h 232"/>
                <a:gd name="T6" fmla="*/ 0 60000 65536"/>
                <a:gd name="T7" fmla="*/ 0 60000 65536"/>
                <a:gd name="T8" fmla="*/ 0 60000 65536"/>
              </a:gdLst>
              <a:ahLst/>
              <a:cxnLst>
                <a:cxn ang="T6">
                  <a:pos x="T0" y="T1"/>
                </a:cxn>
                <a:cxn ang="T7">
                  <a:pos x="T2" y="T3"/>
                </a:cxn>
                <a:cxn ang="T8">
                  <a:pos x="T4" y="T5"/>
                </a:cxn>
              </a:cxnLst>
              <a:rect l="0" t="0" r="r" b="b"/>
              <a:pathLst>
                <a:path w="199" h="232">
                  <a:moveTo>
                    <a:pt x="199" y="0"/>
                  </a:moveTo>
                  <a:lnTo>
                    <a:pt x="0" y="0"/>
                  </a:lnTo>
                  <a:lnTo>
                    <a:pt x="0" y="232"/>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28" name="Freeform 21"/>
            <p:cNvSpPr>
              <a:spLocks/>
            </p:cNvSpPr>
            <p:nvPr/>
          </p:nvSpPr>
          <p:spPr bwMode="auto">
            <a:xfrm>
              <a:off x="1694" y="1836"/>
              <a:ext cx="168" cy="128"/>
            </a:xfrm>
            <a:custGeom>
              <a:avLst/>
              <a:gdLst>
                <a:gd name="T0" fmla="*/ 0 w 168"/>
                <a:gd name="T1" fmla="*/ 0 h 128"/>
                <a:gd name="T2" fmla="*/ 168 w 168"/>
                <a:gd name="T3" fmla="*/ 0 h 128"/>
                <a:gd name="T4" fmla="*/ 168 w 168"/>
                <a:gd name="T5" fmla="*/ 0 h 128"/>
                <a:gd name="T6" fmla="*/ 168 w 168"/>
                <a:gd name="T7" fmla="*/ 128 h 128"/>
                <a:gd name="T8" fmla="*/ 168 w 168"/>
                <a:gd name="T9" fmla="*/ 128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8" h="128">
                  <a:moveTo>
                    <a:pt x="0" y="0"/>
                  </a:moveTo>
                  <a:lnTo>
                    <a:pt x="168" y="0"/>
                  </a:lnTo>
                  <a:lnTo>
                    <a:pt x="168" y="128"/>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29" name="Freeform 22"/>
            <p:cNvSpPr>
              <a:spLocks/>
            </p:cNvSpPr>
            <p:nvPr/>
          </p:nvSpPr>
          <p:spPr bwMode="auto">
            <a:xfrm>
              <a:off x="1686" y="1828"/>
              <a:ext cx="168" cy="128"/>
            </a:xfrm>
            <a:custGeom>
              <a:avLst/>
              <a:gdLst>
                <a:gd name="T0" fmla="*/ 0 w 168"/>
                <a:gd name="T1" fmla="*/ 0 h 128"/>
                <a:gd name="T2" fmla="*/ 168 w 168"/>
                <a:gd name="T3" fmla="*/ 0 h 128"/>
                <a:gd name="T4" fmla="*/ 168 w 168"/>
                <a:gd name="T5" fmla="*/ 128 h 128"/>
                <a:gd name="T6" fmla="*/ 0 60000 65536"/>
                <a:gd name="T7" fmla="*/ 0 60000 65536"/>
                <a:gd name="T8" fmla="*/ 0 60000 65536"/>
              </a:gdLst>
              <a:ahLst/>
              <a:cxnLst>
                <a:cxn ang="T6">
                  <a:pos x="T0" y="T1"/>
                </a:cxn>
                <a:cxn ang="T7">
                  <a:pos x="T2" y="T3"/>
                </a:cxn>
                <a:cxn ang="T8">
                  <a:pos x="T4" y="T5"/>
                </a:cxn>
              </a:cxnLst>
              <a:rect l="0" t="0" r="r" b="b"/>
              <a:pathLst>
                <a:path w="168" h="128">
                  <a:moveTo>
                    <a:pt x="0" y="0"/>
                  </a:moveTo>
                  <a:lnTo>
                    <a:pt x="168" y="0"/>
                  </a:lnTo>
                  <a:lnTo>
                    <a:pt x="168" y="128"/>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30" name="Freeform 23"/>
            <p:cNvSpPr>
              <a:spLocks/>
            </p:cNvSpPr>
            <p:nvPr/>
          </p:nvSpPr>
          <p:spPr bwMode="auto">
            <a:xfrm>
              <a:off x="1287" y="1836"/>
              <a:ext cx="159" cy="168"/>
            </a:xfrm>
            <a:custGeom>
              <a:avLst/>
              <a:gdLst>
                <a:gd name="T0" fmla="*/ 159 w 159"/>
                <a:gd name="T1" fmla="*/ 0 h 168"/>
                <a:gd name="T2" fmla="*/ 0 w 159"/>
                <a:gd name="T3" fmla="*/ 0 h 168"/>
                <a:gd name="T4" fmla="*/ 0 w 159"/>
                <a:gd name="T5" fmla="*/ 0 h 168"/>
                <a:gd name="T6" fmla="*/ 0 w 159"/>
                <a:gd name="T7" fmla="*/ 168 h 168"/>
                <a:gd name="T8" fmla="*/ 0 w 159"/>
                <a:gd name="T9" fmla="*/ 168 h 1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9" h="168">
                  <a:moveTo>
                    <a:pt x="159" y="0"/>
                  </a:moveTo>
                  <a:lnTo>
                    <a:pt x="0" y="0"/>
                  </a:lnTo>
                  <a:lnTo>
                    <a:pt x="0" y="168"/>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31" name="Freeform 24"/>
            <p:cNvSpPr>
              <a:spLocks/>
            </p:cNvSpPr>
            <p:nvPr/>
          </p:nvSpPr>
          <p:spPr bwMode="auto">
            <a:xfrm>
              <a:off x="1279" y="1828"/>
              <a:ext cx="159" cy="168"/>
            </a:xfrm>
            <a:custGeom>
              <a:avLst/>
              <a:gdLst>
                <a:gd name="T0" fmla="*/ 159 w 159"/>
                <a:gd name="T1" fmla="*/ 0 h 168"/>
                <a:gd name="T2" fmla="*/ 0 w 159"/>
                <a:gd name="T3" fmla="*/ 0 h 168"/>
                <a:gd name="T4" fmla="*/ 0 w 159"/>
                <a:gd name="T5" fmla="*/ 168 h 168"/>
                <a:gd name="T6" fmla="*/ 0 60000 65536"/>
                <a:gd name="T7" fmla="*/ 0 60000 65536"/>
                <a:gd name="T8" fmla="*/ 0 60000 65536"/>
              </a:gdLst>
              <a:ahLst/>
              <a:cxnLst>
                <a:cxn ang="T6">
                  <a:pos x="T0" y="T1"/>
                </a:cxn>
                <a:cxn ang="T7">
                  <a:pos x="T2" y="T3"/>
                </a:cxn>
                <a:cxn ang="T8">
                  <a:pos x="T4" y="T5"/>
                </a:cxn>
              </a:cxnLst>
              <a:rect l="0" t="0" r="r" b="b"/>
              <a:pathLst>
                <a:path w="159" h="168">
                  <a:moveTo>
                    <a:pt x="159" y="0"/>
                  </a:moveTo>
                  <a:lnTo>
                    <a:pt x="0" y="0"/>
                  </a:lnTo>
                  <a:lnTo>
                    <a:pt x="0" y="168"/>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32" name="Freeform 25"/>
            <p:cNvSpPr>
              <a:spLocks/>
            </p:cNvSpPr>
            <p:nvPr/>
          </p:nvSpPr>
          <p:spPr bwMode="auto">
            <a:xfrm>
              <a:off x="1279" y="2083"/>
              <a:ext cx="583" cy="80"/>
            </a:xfrm>
            <a:custGeom>
              <a:avLst/>
              <a:gdLst>
                <a:gd name="T0" fmla="*/ 0 w 583"/>
                <a:gd name="T1" fmla="*/ 0 h 80"/>
                <a:gd name="T2" fmla="*/ 0 w 583"/>
                <a:gd name="T3" fmla="*/ 80 h 80"/>
                <a:gd name="T4" fmla="*/ 0 w 583"/>
                <a:gd name="T5" fmla="*/ 80 h 80"/>
                <a:gd name="T6" fmla="*/ 583 w 583"/>
                <a:gd name="T7" fmla="*/ 80 h 80"/>
                <a:gd name="T8" fmla="*/ 583 w 583"/>
                <a:gd name="T9" fmla="*/ 80 h 80"/>
                <a:gd name="T10" fmla="*/ 583 w 583"/>
                <a:gd name="T11" fmla="*/ 0 h 80"/>
                <a:gd name="T12" fmla="*/ 583 w 583"/>
                <a:gd name="T13" fmla="*/ 0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3" h="80">
                  <a:moveTo>
                    <a:pt x="0" y="0"/>
                  </a:moveTo>
                  <a:lnTo>
                    <a:pt x="0" y="80"/>
                  </a:lnTo>
                  <a:lnTo>
                    <a:pt x="583" y="80"/>
                  </a:lnTo>
                  <a:lnTo>
                    <a:pt x="583"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33" name="Rectangle 26"/>
            <p:cNvSpPr>
              <a:spLocks noChangeArrowheads="1"/>
            </p:cNvSpPr>
            <p:nvPr/>
          </p:nvSpPr>
          <p:spPr bwMode="auto">
            <a:xfrm>
              <a:off x="1271" y="2075"/>
              <a:ext cx="583" cy="80"/>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34" name="Rectangle 27"/>
            <p:cNvSpPr>
              <a:spLocks noChangeArrowheads="1"/>
            </p:cNvSpPr>
            <p:nvPr/>
          </p:nvSpPr>
          <p:spPr bwMode="auto">
            <a:xfrm>
              <a:off x="1151" y="1884"/>
              <a:ext cx="240" cy="191"/>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35" name="Rectangle 28"/>
            <p:cNvSpPr>
              <a:spLocks noChangeArrowheads="1"/>
            </p:cNvSpPr>
            <p:nvPr/>
          </p:nvSpPr>
          <p:spPr bwMode="auto">
            <a:xfrm>
              <a:off x="1143" y="1876"/>
              <a:ext cx="256" cy="207"/>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36" name="Rectangle 29"/>
            <p:cNvSpPr>
              <a:spLocks noChangeArrowheads="1"/>
            </p:cNvSpPr>
            <p:nvPr/>
          </p:nvSpPr>
          <p:spPr bwMode="auto">
            <a:xfrm>
              <a:off x="1734" y="1884"/>
              <a:ext cx="232" cy="191"/>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37" name="Rectangle 30"/>
            <p:cNvSpPr>
              <a:spLocks noChangeArrowheads="1"/>
            </p:cNvSpPr>
            <p:nvPr/>
          </p:nvSpPr>
          <p:spPr bwMode="auto">
            <a:xfrm>
              <a:off x="1726" y="1876"/>
              <a:ext cx="248" cy="207"/>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38" name="Rectangle 31"/>
            <p:cNvSpPr>
              <a:spLocks noChangeArrowheads="1"/>
            </p:cNvSpPr>
            <p:nvPr/>
          </p:nvSpPr>
          <p:spPr bwMode="auto">
            <a:xfrm>
              <a:off x="688" y="1789"/>
              <a:ext cx="231" cy="18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39" name="Rectangle 32"/>
            <p:cNvSpPr>
              <a:spLocks noChangeArrowheads="1"/>
            </p:cNvSpPr>
            <p:nvPr/>
          </p:nvSpPr>
          <p:spPr bwMode="auto">
            <a:xfrm>
              <a:off x="680" y="1781"/>
              <a:ext cx="247" cy="199"/>
            </a:xfrm>
            <a:prstGeom prst="rect">
              <a:avLst/>
            </a:prstGeom>
            <a:noFill/>
            <a:ln w="30163">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40" name="Line 33"/>
            <p:cNvSpPr>
              <a:spLocks noChangeShapeType="1"/>
            </p:cNvSpPr>
            <p:nvPr/>
          </p:nvSpPr>
          <p:spPr bwMode="auto">
            <a:xfrm>
              <a:off x="1127" y="2227"/>
              <a:ext cx="1" cy="127"/>
            </a:xfrm>
            <a:prstGeom prst="line">
              <a:avLst/>
            </a:prstGeom>
            <a:noFill/>
            <a:ln w="301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sp>
          <p:nvSpPr>
            <p:cNvPr id="16441" name="Line 34"/>
            <p:cNvSpPr>
              <a:spLocks noChangeShapeType="1"/>
            </p:cNvSpPr>
            <p:nvPr/>
          </p:nvSpPr>
          <p:spPr bwMode="auto">
            <a:xfrm>
              <a:off x="1127" y="2625"/>
              <a:ext cx="1" cy="128"/>
            </a:xfrm>
            <a:prstGeom prst="line">
              <a:avLst/>
            </a:prstGeom>
            <a:noFill/>
            <a:ln w="301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sp>
          <p:nvSpPr>
            <p:cNvPr id="16442" name="Oval 35"/>
            <p:cNvSpPr>
              <a:spLocks noChangeArrowheads="1"/>
            </p:cNvSpPr>
            <p:nvPr/>
          </p:nvSpPr>
          <p:spPr bwMode="auto">
            <a:xfrm>
              <a:off x="1103" y="2785"/>
              <a:ext cx="80" cy="95"/>
            </a:xfrm>
            <a:prstGeom prst="ellipse">
              <a:avLst/>
            </a:pr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43" name="Oval 36"/>
            <p:cNvSpPr>
              <a:spLocks noChangeArrowheads="1"/>
            </p:cNvSpPr>
            <p:nvPr/>
          </p:nvSpPr>
          <p:spPr bwMode="auto">
            <a:xfrm>
              <a:off x="1095" y="2777"/>
              <a:ext cx="96" cy="111"/>
            </a:xfrm>
            <a:prstGeom prst="ellipse">
              <a:avLst/>
            </a:prstGeom>
            <a:noFill/>
            <a:ln w="30163">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44" name="Freeform 37"/>
            <p:cNvSpPr>
              <a:spLocks/>
            </p:cNvSpPr>
            <p:nvPr/>
          </p:nvSpPr>
          <p:spPr bwMode="auto">
            <a:xfrm>
              <a:off x="576" y="1390"/>
              <a:ext cx="567" cy="1116"/>
            </a:xfrm>
            <a:custGeom>
              <a:avLst/>
              <a:gdLst>
                <a:gd name="T0" fmla="*/ 431 w 567"/>
                <a:gd name="T1" fmla="*/ 1116 h 1116"/>
                <a:gd name="T2" fmla="*/ 0 w 567"/>
                <a:gd name="T3" fmla="*/ 1116 h 1116"/>
                <a:gd name="T4" fmla="*/ 0 w 567"/>
                <a:gd name="T5" fmla="*/ 1116 h 1116"/>
                <a:gd name="T6" fmla="*/ 0 w 567"/>
                <a:gd name="T7" fmla="*/ 0 h 1116"/>
                <a:gd name="T8" fmla="*/ 0 w 567"/>
                <a:gd name="T9" fmla="*/ 0 h 1116"/>
                <a:gd name="T10" fmla="*/ 567 w 567"/>
                <a:gd name="T11" fmla="*/ 0 h 1116"/>
                <a:gd name="T12" fmla="*/ 567 w 567"/>
                <a:gd name="T13" fmla="*/ 0 h 11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7" h="1116">
                  <a:moveTo>
                    <a:pt x="431" y="1116"/>
                  </a:moveTo>
                  <a:lnTo>
                    <a:pt x="0" y="1116"/>
                  </a:lnTo>
                  <a:lnTo>
                    <a:pt x="0" y="0"/>
                  </a:lnTo>
                  <a:lnTo>
                    <a:pt x="567"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45" name="Freeform 38"/>
            <p:cNvSpPr>
              <a:spLocks/>
            </p:cNvSpPr>
            <p:nvPr/>
          </p:nvSpPr>
          <p:spPr bwMode="auto">
            <a:xfrm>
              <a:off x="568" y="1382"/>
              <a:ext cx="567" cy="1116"/>
            </a:xfrm>
            <a:custGeom>
              <a:avLst/>
              <a:gdLst>
                <a:gd name="T0" fmla="*/ 431 w 567"/>
                <a:gd name="T1" fmla="*/ 1116 h 1116"/>
                <a:gd name="T2" fmla="*/ 0 w 567"/>
                <a:gd name="T3" fmla="*/ 1116 h 1116"/>
                <a:gd name="T4" fmla="*/ 0 w 567"/>
                <a:gd name="T5" fmla="*/ 0 h 1116"/>
                <a:gd name="T6" fmla="*/ 567 w 567"/>
                <a:gd name="T7" fmla="*/ 0 h 11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67" h="1116">
                  <a:moveTo>
                    <a:pt x="431" y="1116"/>
                  </a:moveTo>
                  <a:lnTo>
                    <a:pt x="0" y="1116"/>
                  </a:lnTo>
                  <a:lnTo>
                    <a:pt x="0" y="0"/>
                  </a:lnTo>
                  <a:lnTo>
                    <a:pt x="567"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grpSp>
          <p:nvGrpSpPr>
            <p:cNvPr id="16446" name="Group 39"/>
            <p:cNvGrpSpPr>
              <a:grpSpLocks/>
            </p:cNvGrpSpPr>
            <p:nvPr/>
          </p:nvGrpSpPr>
          <p:grpSpPr bwMode="auto">
            <a:xfrm>
              <a:off x="1015" y="1358"/>
              <a:ext cx="120" cy="48"/>
              <a:chOff x="1015" y="1358"/>
              <a:chExt cx="120" cy="48"/>
            </a:xfrm>
          </p:grpSpPr>
          <p:sp>
            <p:nvSpPr>
              <p:cNvPr id="16464" name="Freeform 40"/>
              <p:cNvSpPr>
                <a:spLocks/>
              </p:cNvSpPr>
              <p:nvPr/>
            </p:nvSpPr>
            <p:spPr bwMode="auto">
              <a:xfrm>
                <a:off x="1031" y="1358"/>
                <a:ext cx="104" cy="48"/>
              </a:xfrm>
              <a:custGeom>
                <a:avLst/>
                <a:gdLst>
                  <a:gd name="T0" fmla="*/ 104 w 104"/>
                  <a:gd name="T1" fmla="*/ 24 h 48"/>
                  <a:gd name="T2" fmla="*/ 0 w 104"/>
                  <a:gd name="T3" fmla="*/ 48 h 48"/>
                  <a:gd name="T4" fmla="*/ 0 w 104"/>
                  <a:gd name="T5" fmla="*/ 24 h 48"/>
                  <a:gd name="T6" fmla="*/ 0 w 104"/>
                  <a:gd name="T7" fmla="*/ 0 h 48"/>
                  <a:gd name="T8" fmla="*/ 104 w 104"/>
                  <a:gd name="T9" fmla="*/ 24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48">
                    <a:moveTo>
                      <a:pt x="104" y="24"/>
                    </a:moveTo>
                    <a:lnTo>
                      <a:pt x="0" y="48"/>
                    </a:lnTo>
                    <a:lnTo>
                      <a:pt x="0" y="24"/>
                    </a:lnTo>
                    <a:lnTo>
                      <a:pt x="0" y="0"/>
                    </a:lnTo>
                    <a:lnTo>
                      <a:pt x="104" y="2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65" name="Line 41"/>
              <p:cNvSpPr>
                <a:spLocks noChangeShapeType="1"/>
              </p:cNvSpPr>
              <p:nvPr/>
            </p:nvSpPr>
            <p:spPr bwMode="auto">
              <a:xfrm>
                <a:off x="1015" y="1382"/>
                <a:ext cx="16" cy="1"/>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6447" name="Group 42"/>
            <p:cNvGrpSpPr>
              <a:grpSpLocks/>
            </p:cNvGrpSpPr>
            <p:nvPr/>
          </p:nvGrpSpPr>
          <p:grpSpPr bwMode="auto">
            <a:xfrm>
              <a:off x="1518" y="1541"/>
              <a:ext cx="48" cy="152"/>
              <a:chOff x="1518" y="1541"/>
              <a:chExt cx="48" cy="152"/>
            </a:xfrm>
          </p:grpSpPr>
          <p:sp>
            <p:nvSpPr>
              <p:cNvPr id="16462" name="Freeform 43"/>
              <p:cNvSpPr>
                <a:spLocks/>
              </p:cNvSpPr>
              <p:nvPr/>
            </p:nvSpPr>
            <p:spPr bwMode="auto">
              <a:xfrm>
                <a:off x="1518" y="1589"/>
                <a:ext cx="48" cy="104"/>
              </a:xfrm>
              <a:custGeom>
                <a:avLst/>
                <a:gdLst>
                  <a:gd name="T0" fmla="*/ 24 w 48"/>
                  <a:gd name="T1" fmla="*/ 104 h 104"/>
                  <a:gd name="T2" fmla="*/ 0 w 48"/>
                  <a:gd name="T3" fmla="*/ 0 h 104"/>
                  <a:gd name="T4" fmla="*/ 24 w 48"/>
                  <a:gd name="T5" fmla="*/ 0 h 104"/>
                  <a:gd name="T6" fmla="*/ 48 w 48"/>
                  <a:gd name="T7" fmla="*/ 0 h 104"/>
                  <a:gd name="T8" fmla="*/ 24 w 48"/>
                  <a:gd name="T9" fmla="*/ 10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104">
                    <a:moveTo>
                      <a:pt x="24" y="104"/>
                    </a:moveTo>
                    <a:lnTo>
                      <a:pt x="0" y="0"/>
                    </a:lnTo>
                    <a:lnTo>
                      <a:pt x="24" y="0"/>
                    </a:lnTo>
                    <a:lnTo>
                      <a:pt x="48" y="0"/>
                    </a:lnTo>
                    <a:lnTo>
                      <a:pt x="24" y="10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63" name="Line 44"/>
              <p:cNvSpPr>
                <a:spLocks noChangeShapeType="1"/>
              </p:cNvSpPr>
              <p:nvPr/>
            </p:nvSpPr>
            <p:spPr bwMode="auto">
              <a:xfrm>
                <a:off x="1542" y="1541"/>
                <a:ext cx="1" cy="48"/>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6448" name="Group 45"/>
            <p:cNvGrpSpPr>
              <a:grpSpLocks/>
            </p:cNvGrpSpPr>
            <p:nvPr/>
          </p:nvGrpSpPr>
          <p:grpSpPr bwMode="auto">
            <a:xfrm>
              <a:off x="776" y="1653"/>
              <a:ext cx="56" cy="136"/>
              <a:chOff x="776" y="1653"/>
              <a:chExt cx="56" cy="136"/>
            </a:xfrm>
          </p:grpSpPr>
          <p:sp>
            <p:nvSpPr>
              <p:cNvPr id="16460" name="Freeform 46"/>
              <p:cNvSpPr>
                <a:spLocks/>
              </p:cNvSpPr>
              <p:nvPr/>
            </p:nvSpPr>
            <p:spPr bwMode="auto">
              <a:xfrm>
                <a:off x="776" y="1685"/>
                <a:ext cx="56" cy="104"/>
              </a:xfrm>
              <a:custGeom>
                <a:avLst/>
                <a:gdLst>
                  <a:gd name="T0" fmla="*/ 24 w 56"/>
                  <a:gd name="T1" fmla="*/ 104 h 104"/>
                  <a:gd name="T2" fmla="*/ 0 w 56"/>
                  <a:gd name="T3" fmla="*/ 0 h 104"/>
                  <a:gd name="T4" fmla="*/ 24 w 56"/>
                  <a:gd name="T5" fmla="*/ 0 h 104"/>
                  <a:gd name="T6" fmla="*/ 56 w 56"/>
                  <a:gd name="T7" fmla="*/ 0 h 104"/>
                  <a:gd name="T8" fmla="*/ 24 w 56"/>
                  <a:gd name="T9" fmla="*/ 10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104">
                    <a:moveTo>
                      <a:pt x="24" y="104"/>
                    </a:moveTo>
                    <a:lnTo>
                      <a:pt x="0" y="0"/>
                    </a:lnTo>
                    <a:lnTo>
                      <a:pt x="24" y="0"/>
                    </a:lnTo>
                    <a:lnTo>
                      <a:pt x="56" y="0"/>
                    </a:lnTo>
                    <a:lnTo>
                      <a:pt x="24" y="10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61" name="Line 47"/>
              <p:cNvSpPr>
                <a:spLocks noChangeShapeType="1"/>
              </p:cNvSpPr>
              <p:nvPr/>
            </p:nvSpPr>
            <p:spPr bwMode="auto">
              <a:xfrm>
                <a:off x="800" y="1653"/>
                <a:ext cx="1" cy="32"/>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6449" name="Group 48"/>
            <p:cNvGrpSpPr>
              <a:grpSpLocks/>
            </p:cNvGrpSpPr>
            <p:nvPr/>
          </p:nvGrpSpPr>
          <p:grpSpPr bwMode="auto">
            <a:xfrm>
              <a:off x="1111" y="2235"/>
              <a:ext cx="56" cy="151"/>
              <a:chOff x="1111" y="2235"/>
              <a:chExt cx="56" cy="151"/>
            </a:xfrm>
          </p:grpSpPr>
          <p:sp>
            <p:nvSpPr>
              <p:cNvPr id="16458" name="Freeform 49"/>
              <p:cNvSpPr>
                <a:spLocks/>
              </p:cNvSpPr>
              <p:nvPr/>
            </p:nvSpPr>
            <p:spPr bwMode="auto">
              <a:xfrm>
                <a:off x="1111" y="2275"/>
                <a:ext cx="56" cy="111"/>
              </a:xfrm>
              <a:custGeom>
                <a:avLst/>
                <a:gdLst>
                  <a:gd name="T0" fmla="*/ 24 w 56"/>
                  <a:gd name="T1" fmla="*/ 111 h 111"/>
                  <a:gd name="T2" fmla="*/ 0 w 56"/>
                  <a:gd name="T3" fmla="*/ 0 h 111"/>
                  <a:gd name="T4" fmla="*/ 24 w 56"/>
                  <a:gd name="T5" fmla="*/ 0 h 111"/>
                  <a:gd name="T6" fmla="*/ 56 w 56"/>
                  <a:gd name="T7" fmla="*/ 0 h 111"/>
                  <a:gd name="T8" fmla="*/ 24 w 56"/>
                  <a:gd name="T9" fmla="*/ 111 h 11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111">
                    <a:moveTo>
                      <a:pt x="24" y="111"/>
                    </a:moveTo>
                    <a:lnTo>
                      <a:pt x="0" y="0"/>
                    </a:lnTo>
                    <a:lnTo>
                      <a:pt x="24" y="0"/>
                    </a:lnTo>
                    <a:lnTo>
                      <a:pt x="56" y="0"/>
                    </a:lnTo>
                    <a:lnTo>
                      <a:pt x="24" y="11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59" name="Line 50"/>
              <p:cNvSpPr>
                <a:spLocks noChangeShapeType="1"/>
              </p:cNvSpPr>
              <p:nvPr/>
            </p:nvSpPr>
            <p:spPr bwMode="auto">
              <a:xfrm>
                <a:off x="1135" y="2235"/>
                <a:ext cx="1" cy="40"/>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6450" name="Group 51"/>
            <p:cNvGrpSpPr>
              <a:grpSpLocks/>
            </p:cNvGrpSpPr>
            <p:nvPr/>
          </p:nvGrpSpPr>
          <p:grpSpPr bwMode="auto">
            <a:xfrm>
              <a:off x="1111" y="1302"/>
              <a:ext cx="56" cy="112"/>
              <a:chOff x="1111" y="1302"/>
              <a:chExt cx="56" cy="112"/>
            </a:xfrm>
          </p:grpSpPr>
          <p:sp>
            <p:nvSpPr>
              <p:cNvPr id="16456" name="Freeform 52"/>
              <p:cNvSpPr>
                <a:spLocks/>
              </p:cNvSpPr>
              <p:nvPr/>
            </p:nvSpPr>
            <p:spPr bwMode="auto">
              <a:xfrm>
                <a:off x="1111" y="1310"/>
                <a:ext cx="56" cy="104"/>
              </a:xfrm>
              <a:custGeom>
                <a:avLst/>
                <a:gdLst>
                  <a:gd name="T0" fmla="*/ 24 w 56"/>
                  <a:gd name="T1" fmla="*/ 104 h 104"/>
                  <a:gd name="T2" fmla="*/ 0 w 56"/>
                  <a:gd name="T3" fmla="*/ 0 h 104"/>
                  <a:gd name="T4" fmla="*/ 24 w 56"/>
                  <a:gd name="T5" fmla="*/ 0 h 104"/>
                  <a:gd name="T6" fmla="*/ 56 w 56"/>
                  <a:gd name="T7" fmla="*/ 0 h 104"/>
                  <a:gd name="T8" fmla="*/ 24 w 56"/>
                  <a:gd name="T9" fmla="*/ 10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104">
                    <a:moveTo>
                      <a:pt x="24" y="104"/>
                    </a:moveTo>
                    <a:lnTo>
                      <a:pt x="0" y="0"/>
                    </a:lnTo>
                    <a:lnTo>
                      <a:pt x="24" y="0"/>
                    </a:lnTo>
                    <a:lnTo>
                      <a:pt x="56" y="0"/>
                    </a:lnTo>
                    <a:lnTo>
                      <a:pt x="24" y="10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57" name="Line 53"/>
              <p:cNvSpPr>
                <a:spLocks noChangeShapeType="1"/>
              </p:cNvSpPr>
              <p:nvPr/>
            </p:nvSpPr>
            <p:spPr bwMode="auto">
              <a:xfrm>
                <a:off x="1135" y="1302"/>
                <a:ext cx="1" cy="8"/>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grpSp>
          <p:nvGrpSpPr>
            <p:cNvPr id="16451" name="Group 54"/>
            <p:cNvGrpSpPr>
              <a:grpSpLocks/>
            </p:cNvGrpSpPr>
            <p:nvPr/>
          </p:nvGrpSpPr>
          <p:grpSpPr bwMode="auto">
            <a:xfrm>
              <a:off x="1111" y="2649"/>
              <a:ext cx="56" cy="112"/>
              <a:chOff x="1111" y="2649"/>
              <a:chExt cx="56" cy="112"/>
            </a:xfrm>
          </p:grpSpPr>
          <p:sp>
            <p:nvSpPr>
              <p:cNvPr id="16454" name="Freeform 55"/>
              <p:cNvSpPr>
                <a:spLocks/>
              </p:cNvSpPr>
              <p:nvPr/>
            </p:nvSpPr>
            <p:spPr bwMode="auto">
              <a:xfrm>
                <a:off x="1111" y="2657"/>
                <a:ext cx="56" cy="104"/>
              </a:xfrm>
              <a:custGeom>
                <a:avLst/>
                <a:gdLst>
                  <a:gd name="T0" fmla="*/ 24 w 56"/>
                  <a:gd name="T1" fmla="*/ 104 h 104"/>
                  <a:gd name="T2" fmla="*/ 0 w 56"/>
                  <a:gd name="T3" fmla="*/ 0 h 104"/>
                  <a:gd name="T4" fmla="*/ 24 w 56"/>
                  <a:gd name="T5" fmla="*/ 0 h 104"/>
                  <a:gd name="T6" fmla="*/ 56 w 56"/>
                  <a:gd name="T7" fmla="*/ 0 h 104"/>
                  <a:gd name="T8" fmla="*/ 24 w 56"/>
                  <a:gd name="T9" fmla="*/ 104 h 10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6" h="104">
                    <a:moveTo>
                      <a:pt x="24" y="104"/>
                    </a:moveTo>
                    <a:lnTo>
                      <a:pt x="0" y="0"/>
                    </a:lnTo>
                    <a:lnTo>
                      <a:pt x="24" y="0"/>
                    </a:lnTo>
                    <a:lnTo>
                      <a:pt x="56" y="0"/>
                    </a:lnTo>
                    <a:lnTo>
                      <a:pt x="24" y="104"/>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x-none"/>
              </a:p>
            </p:txBody>
          </p:sp>
          <p:sp>
            <p:nvSpPr>
              <p:cNvPr id="16455" name="Line 56"/>
              <p:cNvSpPr>
                <a:spLocks noChangeShapeType="1"/>
              </p:cNvSpPr>
              <p:nvPr/>
            </p:nvSpPr>
            <p:spPr bwMode="auto">
              <a:xfrm>
                <a:off x="1135" y="2649"/>
                <a:ext cx="1" cy="8"/>
              </a:xfrm>
              <a:prstGeom prst="line">
                <a:avLst/>
              </a:prstGeom>
              <a:noFill/>
              <a:ln w="17463">
                <a:solidFill>
                  <a:srgbClr val="000000"/>
                </a:solidFill>
                <a:round/>
                <a:headEnd/>
                <a:tailEnd/>
              </a:ln>
              <a:extLst>
                <a:ext uri="{909E8E84-426E-40dd-AFC4-6F175D3DCCD1}">
                  <a14:hiddenFill xmlns:a14="http://schemas.microsoft.com/office/drawing/2010/main" xmlns="">
                    <a:noFill/>
                  </a14:hiddenFill>
                </a:ext>
              </a:extLst>
            </p:spPr>
            <p:txBody>
              <a:bodyPr/>
              <a:lstStyle/>
              <a:p>
                <a:endParaRPr lang="x-none"/>
              </a:p>
            </p:txBody>
          </p:sp>
        </p:grpSp>
        <p:sp>
          <p:nvSpPr>
            <p:cNvPr id="16452" name="Freeform 57"/>
            <p:cNvSpPr>
              <a:spLocks/>
            </p:cNvSpPr>
            <p:nvPr/>
          </p:nvSpPr>
          <p:spPr bwMode="auto">
            <a:xfrm>
              <a:off x="808" y="1988"/>
              <a:ext cx="750" cy="271"/>
            </a:xfrm>
            <a:custGeom>
              <a:avLst/>
              <a:gdLst>
                <a:gd name="T0" fmla="*/ 750 w 750"/>
                <a:gd name="T1" fmla="*/ 191 h 271"/>
                <a:gd name="T2" fmla="*/ 750 w 750"/>
                <a:gd name="T3" fmla="*/ 271 h 271"/>
                <a:gd name="T4" fmla="*/ 750 w 750"/>
                <a:gd name="T5" fmla="*/ 271 h 271"/>
                <a:gd name="T6" fmla="*/ 0 w 750"/>
                <a:gd name="T7" fmla="*/ 271 h 271"/>
                <a:gd name="T8" fmla="*/ 0 w 750"/>
                <a:gd name="T9" fmla="*/ 271 h 271"/>
                <a:gd name="T10" fmla="*/ 0 w 750"/>
                <a:gd name="T11" fmla="*/ 0 h 271"/>
                <a:gd name="T12" fmla="*/ 0 w 750"/>
                <a:gd name="T13" fmla="*/ 0 h 27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0" h="271">
                  <a:moveTo>
                    <a:pt x="750" y="191"/>
                  </a:moveTo>
                  <a:lnTo>
                    <a:pt x="750" y="271"/>
                  </a:lnTo>
                  <a:lnTo>
                    <a:pt x="0" y="271"/>
                  </a:lnTo>
                  <a:lnTo>
                    <a:pt x="0"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sp>
          <p:nvSpPr>
            <p:cNvPr id="16453" name="Freeform 58"/>
            <p:cNvSpPr>
              <a:spLocks/>
            </p:cNvSpPr>
            <p:nvPr/>
          </p:nvSpPr>
          <p:spPr bwMode="auto">
            <a:xfrm>
              <a:off x="800" y="1980"/>
              <a:ext cx="750" cy="271"/>
            </a:xfrm>
            <a:custGeom>
              <a:avLst/>
              <a:gdLst>
                <a:gd name="T0" fmla="*/ 750 w 750"/>
                <a:gd name="T1" fmla="*/ 191 h 271"/>
                <a:gd name="T2" fmla="*/ 750 w 750"/>
                <a:gd name="T3" fmla="*/ 271 h 271"/>
                <a:gd name="T4" fmla="*/ 0 w 750"/>
                <a:gd name="T5" fmla="*/ 271 h 271"/>
                <a:gd name="T6" fmla="*/ 0 w 750"/>
                <a:gd name="T7" fmla="*/ 0 h 27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0" h="271">
                  <a:moveTo>
                    <a:pt x="750" y="191"/>
                  </a:moveTo>
                  <a:lnTo>
                    <a:pt x="750" y="271"/>
                  </a:lnTo>
                  <a:lnTo>
                    <a:pt x="0" y="271"/>
                  </a:lnTo>
                  <a:lnTo>
                    <a:pt x="0" y="0"/>
                  </a:lnTo>
                </a:path>
              </a:pathLst>
            </a:custGeom>
            <a:noFill/>
            <a:ln w="30163">
              <a:solidFill>
                <a:srgbClr val="000000"/>
              </a:solidFill>
              <a:prstDash val="solid"/>
              <a:round/>
              <a:headEnd/>
              <a:tailEnd/>
            </a:ln>
            <a:extLst>
              <a:ext uri="{909E8E84-426E-40dd-AFC4-6F175D3DCCD1}">
                <a14:hiddenFill xmlns:a14="http://schemas.microsoft.com/office/drawing/2010/main" xmlns="">
                  <a:solidFill>
                    <a:srgbClr val="FFFFFF"/>
                  </a:solidFill>
                </a14:hiddenFill>
              </a:ext>
            </a:extLst>
          </p:spPr>
          <p:txBody>
            <a:bodyPr/>
            <a:lstStyle/>
            <a:p>
              <a:endParaRPr lang="x-none"/>
            </a:p>
          </p:txBody>
        </p:sp>
      </p:grpSp>
      <p:grpSp>
        <p:nvGrpSpPr>
          <p:cNvPr id="16390" name="Group 59"/>
          <p:cNvGrpSpPr>
            <a:grpSpLocks/>
          </p:cNvGrpSpPr>
          <p:nvPr/>
        </p:nvGrpSpPr>
        <p:grpSpPr bwMode="auto">
          <a:xfrm>
            <a:off x="3970338" y="2251075"/>
            <a:ext cx="4949825" cy="3530600"/>
            <a:chOff x="2301" y="968"/>
            <a:chExt cx="3118" cy="1977"/>
          </a:xfrm>
        </p:grpSpPr>
        <p:grpSp>
          <p:nvGrpSpPr>
            <p:cNvPr id="16392" name="Group 60"/>
            <p:cNvGrpSpPr>
              <a:grpSpLocks/>
            </p:cNvGrpSpPr>
            <p:nvPr/>
          </p:nvGrpSpPr>
          <p:grpSpPr bwMode="auto">
            <a:xfrm>
              <a:off x="2301" y="2554"/>
              <a:ext cx="152" cy="151"/>
              <a:chOff x="2301" y="2554"/>
              <a:chExt cx="152" cy="151"/>
            </a:xfrm>
          </p:grpSpPr>
          <p:sp>
            <p:nvSpPr>
              <p:cNvPr id="16409" name="Rectangle 61"/>
              <p:cNvSpPr>
                <a:spLocks noChangeArrowheads="1"/>
              </p:cNvSpPr>
              <p:nvPr/>
            </p:nvSpPr>
            <p:spPr bwMode="auto">
              <a:xfrm>
                <a:off x="2325" y="2569"/>
                <a:ext cx="128" cy="136"/>
              </a:xfrm>
              <a:prstGeom prst="rect">
                <a:avLst/>
              </a:prstGeom>
              <a:solidFill>
                <a:srgbClr val="000000"/>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10" name="Rectangle 62"/>
              <p:cNvSpPr>
                <a:spLocks noChangeArrowheads="1"/>
              </p:cNvSpPr>
              <p:nvPr/>
            </p:nvSpPr>
            <p:spPr bwMode="auto">
              <a:xfrm>
                <a:off x="2301" y="2554"/>
                <a:ext cx="136" cy="135"/>
              </a:xfrm>
              <a:prstGeom prst="rect">
                <a:avLst/>
              </a:prstGeom>
              <a:solidFill>
                <a:srgbClr val="FFFFFF"/>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sp>
          <p:nvSpPr>
            <p:cNvPr id="184383" name="Rectangle 63"/>
            <p:cNvSpPr>
              <a:spLocks noChangeArrowheads="1"/>
            </p:cNvSpPr>
            <p:nvPr/>
          </p:nvSpPr>
          <p:spPr bwMode="auto">
            <a:xfrm>
              <a:off x="2581" y="968"/>
              <a:ext cx="2585"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you don't need a flow chart,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84" name="Rectangle 64"/>
            <p:cNvSpPr>
              <a:spLocks noChangeArrowheads="1"/>
            </p:cNvSpPr>
            <p:nvPr/>
          </p:nvSpPr>
          <p:spPr bwMode="auto">
            <a:xfrm>
              <a:off x="2581" y="1167"/>
              <a:ext cx="2741"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but the picture will help when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85" name="Rectangle 65"/>
            <p:cNvSpPr>
              <a:spLocks noChangeArrowheads="1"/>
            </p:cNvSpPr>
            <p:nvPr/>
          </p:nvSpPr>
          <p:spPr bwMode="auto">
            <a:xfrm>
              <a:off x="2581" y="1367"/>
              <a:ext cx="2251"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you trace program paths</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86" name="Rectangle 66"/>
            <p:cNvSpPr>
              <a:spLocks noChangeArrowheads="1"/>
            </p:cNvSpPr>
            <p:nvPr/>
          </p:nvSpPr>
          <p:spPr bwMode="auto">
            <a:xfrm>
              <a:off x="2581" y="1566"/>
              <a:ext cx="0" cy="1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87" name="Rectangle 67"/>
            <p:cNvSpPr>
              <a:spLocks noChangeArrowheads="1"/>
            </p:cNvSpPr>
            <p:nvPr/>
          </p:nvSpPr>
          <p:spPr bwMode="auto">
            <a:xfrm>
              <a:off x="2581" y="1765"/>
              <a:ext cx="2838"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count each simple logical test,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88" name="Rectangle 68"/>
            <p:cNvSpPr>
              <a:spLocks noChangeArrowheads="1"/>
            </p:cNvSpPr>
            <p:nvPr/>
          </p:nvSpPr>
          <p:spPr bwMode="auto">
            <a:xfrm>
              <a:off x="2581" y="1964"/>
              <a:ext cx="2784"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compound tests count as 2 or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89" name="Rectangle 69"/>
            <p:cNvSpPr>
              <a:spLocks noChangeArrowheads="1"/>
            </p:cNvSpPr>
            <p:nvPr/>
          </p:nvSpPr>
          <p:spPr bwMode="auto">
            <a:xfrm>
              <a:off x="2581" y="2164"/>
              <a:ext cx="470"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more</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90" name="Rectangle 70"/>
            <p:cNvSpPr>
              <a:spLocks noChangeArrowheads="1"/>
            </p:cNvSpPr>
            <p:nvPr/>
          </p:nvSpPr>
          <p:spPr bwMode="auto">
            <a:xfrm>
              <a:off x="2581" y="2363"/>
              <a:ext cx="0" cy="1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91" name="Rectangle 71"/>
            <p:cNvSpPr>
              <a:spLocks noChangeArrowheads="1"/>
            </p:cNvSpPr>
            <p:nvPr/>
          </p:nvSpPr>
          <p:spPr bwMode="auto">
            <a:xfrm>
              <a:off x="2581" y="2562"/>
              <a:ext cx="2646"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basis path testing should be </a:t>
              </a: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4392" name="Rectangle 72"/>
            <p:cNvSpPr>
              <a:spLocks noChangeArrowheads="1"/>
            </p:cNvSpPr>
            <p:nvPr/>
          </p:nvSpPr>
          <p:spPr bwMode="auto">
            <a:xfrm>
              <a:off x="2581" y="2761"/>
              <a:ext cx="2422" cy="1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pPr>
                <a:lnSpc>
                  <a:spcPct val="90000"/>
                </a:lnSpc>
                <a:defRPr/>
              </a:pPr>
              <a:r>
                <a:rPr lang="en-US" b="1">
                  <a:effectLst>
                    <a:outerShdw blurRad="38100" dist="38100" dir="2700000" algn="tl">
                      <a:srgbClr val="FFFFFF"/>
                    </a:outerShdw>
                  </a:effectLst>
                  <a:latin typeface="Helvetica" pitchFamily="-128" charset="0"/>
                  <a:ea typeface="ＭＳ Ｐゴシック" pitchFamily="-128" charset="-128"/>
                </a:rPr>
                <a:t>applied to critical modules</a:t>
              </a:r>
              <a:endParaRPr lang="en-US" sz="1800" b="1">
                <a:effectLst>
                  <a:outerShdw blurRad="38100" dist="38100" dir="2700000" algn="tl">
                    <a:srgbClr val="FFFFFF"/>
                  </a:outerShdw>
                </a:effectLst>
                <a:latin typeface="Helvetica" pitchFamily="-128" charset="0"/>
                <a:ea typeface="ＭＳ Ｐゴシック" pitchFamily="-128" charset="-128"/>
              </a:endParaRPr>
            </a:p>
          </p:txBody>
        </p:sp>
        <p:grpSp>
          <p:nvGrpSpPr>
            <p:cNvPr id="16403" name="Group 73"/>
            <p:cNvGrpSpPr>
              <a:grpSpLocks/>
            </p:cNvGrpSpPr>
            <p:nvPr/>
          </p:nvGrpSpPr>
          <p:grpSpPr bwMode="auto">
            <a:xfrm>
              <a:off x="2301" y="1781"/>
              <a:ext cx="152" cy="151"/>
              <a:chOff x="2301" y="1781"/>
              <a:chExt cx="152" cy="151"/>
            </a:xfrm>
          </p:grpSpPr>
          <p:sp>
            <p:nvSpPr>
              <p:cNvPr id="16407" name="Rectangle 74"/>
              <p:cNvSpPr>
                <a:spLocks noChangeArrowheads="1"/>
              </p:cNvSpPr>
              <p:nvPr/>
            </p:nvSpPr>
            <p:spPr bwMode="auto">
              <a:xfrm>
                <a:off x="2325" y="1796"/>
                <a:ext cx="128" cy="136"/>
              </a:xfrm>
              <a:prstGeom prst="rect">
                <a:avLst/>
              </a:prstGeom>
              <a:solidFill>
                <a:srgbClr val="000000"/>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08" name="Rectangle 75"/>
              <p:cNvSpPr>
                <a:spLocks noChangeArrowheads="1"/>
              </p:cNvSpPr>
              <p:nvPr/>
            </p:nvSpPr>
            <p:spPr bwMode="auto">
              <a:xfrm>
                <a:off x="2301" y="1781"/>
                <a:ext cx="136" cy="135"/>
              </a:xfrm>
              <a:prstGeom prst="rect">
                <a:avLst/>
              </a:prstGeom>
              <a:solidFill>
                <a:srgbClr val="FFFFFF"/>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grpSp>
          <p:nvGrpSpPr>
            <p:cNvPr id="16404" name="Group 76"/>
            <p:cNvGrpSpPr>
              <a:grpSpLocks/>
            </p:cNvGrpSpPr>
            <p:nvPr/>
          </p:nvGrpSpPr>
          <p:grpSpPr bwMode="auto">
            <a:xfrm>
              <a:off x="2301" y="992"/>
              <a:ext cx="152" cy="151"/>
              <a:chOff x="2301" y="992"/>
              <a:chExt cx="152" cy="151"/>
            </a:xfrm>
          </p:grpSpPr>
          <p:sp>
            <p:nvSpPr>
              <p:cNvPr id="16405" name="Rectangle 77"/>
              <p:cNvSpPr>
                <a:spLocks noChangeArrowheads="1"/>
              </p:cNvSpPr>
              <p:nvPr/>
            </p:nvSpPr>
            <p:spPr bwMode="auto">
              <a:xfrm>
                <a:off x="2325" y="1008"/>
                <a:ext cx="128" cy="135"/>
              </a:xfrm>
              <a:prstGeom prst="rect">
                <a:avLst/>
              </a:prstGeom>
              <a:solidFill>
                <a:srgbClr val="000000"/>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16406" name="Rectangle 78"/>
              <p:cNvSpPr>
                <a:spLocks noChangeArrowheads="1"/>
              </p:cNvSpPr>
              <p:nvPr/>
            </p:nvSpPr>
            <p:spPr bwMode="auto">
              <a:xfrm>
                <a:off x="2301" y="992"/>
                <a:ext cx="136" cy="135"/>
              </a:xfrm>
              <a:prstGeom prst="rect">
                <a:avLst/>
              </a:prstGeom>
              <a:solidFill>
                <a:srgbClr val="FFFFFF"/>
              </a:solidFill>
              <a:ln w="17463">
                <a:solidFill>
                  <a:srgbClr val="000000"/>
                </a:solidFill>
                <a:miter lim="800000"/>
                <a:headEnd/>
                <a:tailEnd/>
              </a:ln>
            </p:spPr>
            <p:txBody>
              <a:bodyP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grpSp>
      </p:grpSp>
      <p:sp>
        <p:nvSpPr>
          <p:cNvPr id="16391" name="Rectangle 79"/>
          <p:cNvSpPr>
            <a:spLocks noChangeArrowheads="1"/>
          </p:cNvSpPr>
          <p:nvPr/>
        </p:nvSpPr>
        <p:spPr bwMode="auto">
          <a:xfrm>
            <a:off x="2568575" y="4094163"/>
            <a:ext cx="461963" cy="173037"/>
          </a:xfrm>
          <a:prstGeom prst="rect">
            <a:avLst/>
          </a:prstGeom>
          <a:solidFill>
            <a:schemeClr val="accent1"/>
          </a:solidFill>
          <a:ln w="12700">
            <a:solidFill>
              <a:schemeClr val="accent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Tree>
    <p:extLst>
      <p:ext uri="{BB962C8B-B14F-4D97-AF65-F5344CB8AC3E}">
        <p14:creationId xmlns:p14="http://schemas.microsoft.com/office/powerpoint/2010/main" val="373002951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accent3"/>
                </a:solidFill>
                <a:latin typeface="+mn-lt"/>
              </a:rPr>
              <a:t>Flow graph notation</a:t>
            </a:r>
          </a:p>
        </p:txBody>
      </p:sp>
      <p:pic>
        <p:nvPicPr>
          <p:cNvPr id="4" name="Content Placeholder 3" descr="Screen Shot 2014-10-22 at 9.08.55 PM.png"/>
          <p:cNvPicPr>
            <a:picLocks noGrp="1" noChangeAspect="1"/>
          </p:cNvPicPr>
          <p:nvPr>
            <p:ph idx="1"/>
          </p:nvPr>
        </p:nvPicPr>
        <p:blipFill>
          <a:blip r:embed="rId2" cstate="print">
            <a:extLst>
              <a:ext uri="{28A0092B-C50C-407E-A947-70E740481C1C}">
                <a14:useLocalDpi xmlns:a14="http://schemas.microsoft.com/office/drawing/2010/main" val="0"/>
              </a:ext>
            </a:extLst>
          </a:blip>
          <a:srcRect t="-33403" b="-33403"/>
          <a:stretch>
            <a:fillRect/>
          </a:stretch>
        </p:blipFill>
        <p:spPr>
          <a:xfrm>
            <a:off x="457200" y="1295400"/>
            <a:ext cx="8229600" cy="4325112"/>
          </a:xfrm>
        </p:spPr>
      </p:pic>
    </p:spTree>
    <p:extLst>
      <p:ext uri="{BB962C8B-B14F-4D97-AF65-F5344CB8AC3E}">
        <p14:creationId xmlns:p14="http://schemas.microsoft.com/office/powerpoint/2010/main" val="1588801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creen Shot 2014-10-22 at 9.09.23 PM.png"/>
          <p:cNvPicPr>
            <a:picLocks noGrp="1" noChangeAspect="1"/>
          </p:cNvPicPr>
          <p:nvPr>
            <p:ph idx="1"/>
          </p:nvPr>
        </p:nvPicPr>
        <p:blipFill>
          <a:blip r:embed="rId2" cstate="print">
            <a:extLst>
              <a:ext uri="{28A0092B-C50C-407E-A947-70E740481C1C}">
                <a14:useLocalDpi xmlns:a14="http://schemas.microsoft.com/office/drawing/2010/main" val="0"/>
              </a:ext>
            </a:extLst>
          </a:blip>
          <a:srcRect t="1889" b="1889"/>
          <a:stretch>
            <a:fillRect/>
          </a:stretch>
        </p:blipFill>
        <p:spPr>
          <a:xfrm>
            <a:off x="381000" y="1694688"/>
            <a:ext cx="8229600" cy="4325112"/>
          </a:xfrm>
        </p:spPr>
      </p:pic>
    </p:spTree>
    <p:extLst>
      <p:ext uri="{BB962C8B-B14F-4D97-AF65-F5344CB8AC3E}">
        <p14:creationId xmlns:p14="http://schemas.microsoft.com/office/powerpoint/2010/main" val="3301878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457200" y="914400"/>
            <a:ext cx="8229600" cy="609600"/>
          </a:xfrm>
        </p:spPr>
        <p:txBody>
          <a:bodyPr>
            <a:normAutofit fontScale="90000"/>
          </a:bodyPr>
          <a:lstStyle/>
          <a:p>
            <a:pPr eaLnBrk="1" hangingPunct="1"/>
            <a:r>
              <a:rPr lang="en-US" altLang="x-none" dirty="0"/>
              <a:t>Deriving Test Cases</a:t>
            </a:r>
          </a:p>
        </p:txBody>
      </p:sp>
      <p:sp>
        <p:nvSpPr>
          <p:cNvPr id="17413" name="Rectangle 3"/>
          <p:cNvSpPr>
            <a:spLocks noGrp="1" noChangeArrowheads="1"/>
          </p:cNvSpPr>
          <p:nvPr>
            <p:ph idx="1"/>
          </p:nvPr>
        </p:nvSpPr>
        <p:spPr>
          <a:xfrm>
            <a:off x="457200" y="1752600"/>
            <a:ext cx="8229600" cy="4821936"/>
          </a:xfrm>
        </p:spPr>
        <p:txBody>
          <a:bodyPr/>
          <a:lstStyle/>
          <a:p>
            <a:pPr rtl="0" eaLnBrk="1" hangingPunct="1"/>
            <a:r>
              <a:rPr lang="en-US" altLang="x-none" i="1" dirty="0">
                <a:latin typeface="Palatino" pitchFamily="-128" charset="0"/>
              </a:rPr>
              <a:t>Summarizing:</a:t>
            </a:r>
          </a:p>
          <a:p>
            <a:pPr lvl="1" rtl="0" eaLnBrk="1" hangingPunct="1"/>
            <a:r>
              <a:rPr lang="en-US" altLang="x-none" dirty="0">
                <a:solidFill>
                  <a:schemeClr val="folHlink"/>
                </a:solidFill>
                <a:latin typeface="Palatino" pitchFamily="-128" charset="0"/>
              </a:rPr>
              <a:t>Using the design or code as a foundation, draw a corresponding flow graph.</a:t>
            </a:r>
          </a:p>
          <a:p>
            <a:pPr lvl="1" rtl="0" eaLnBrk="1" hangingPunct="1"/>
            <a:r>
              <a:rPr lang="en-US" altLang="x-none" dirty="0">
                <a:solidFill>
                  <a:schemeClr val="folHlink"/>
                </a:solidFill>
                <a:latin typeface="Palatino" pitchFamily="-128" charset="0"/>
              </a:rPr>
              <a:t>Determine the </a:t>
            </a:r>
            <a:r>
              <a:rPr lang="en-US" altLang="x-none" dirty="0" err="1">
                <a:solidFill>
                  <a:schemeClr val="folHlink"/>
                </a:solidFill>
                <a:latin typeface="Palatino" pitchFamily="-128" charset="0"/>
              </a:rPr>
              <a:t>cyclomatic</a:t>
            </a:r>
            <a:r>
              <a:rPr lang="en-US" altLang="x-none" dirty="0">
                <a:solidFill>
                  <a:schemeClr val="folHlink"/>
                </a:solidFill>
                <a:latin typeface="Palatino" pitchFamily="-128" charset="0"/>
              </a:rPr>
              <a:t> complexity of the resultant flow graph.</a:t>
            </a:r>
          </a:p>
          <a:p>
            <a:pPr lvl="1" rtl="0" eaLnBrk="1" hangingPunct="1"/>
            <a:r>
              <a:rPr lang="en-US" altLang="x-none" dirty="0">
                <a:solidFill>
                  <a:schemeClr val="folHlink"/>
                </a:solidFill>
                <a:latin typeface="Palatino" pitchFamily="-128" charset="0"/>
              </a:rPr>
              <a:t>Determine a basis set of linearly independent paths.</a:t>
            </a:r>
          </a:p>
          <a:p>
            <a:pPr lvl="1" rtl="0" eaLnBrk="1" hangingPunct="1"/>
            <a:r>
              <a:rPr lang="en-US" altLang="x-none" dirty="0">
                <a:solidFill>
                  <a:schemeClr val="folHlink"/>
                </a:solidFill>
                <a:latin typeface="Palatino" pitchFamily="-128" charset="0"/>
              </a:rPr>
              <a:t>Prepare test cases that will force execution of each path in the basis set.</a:t>
            </a:r>
            <a:r>
              <a:rPr lang="en-US" altLang="x-none" dirty="0">
                <a:latin typeface="Palatino" pitchFamily="-128" charset="0"/>
              </a:rPr>
              <a:t> </a:t>
            </a:r>
          </a:p>
        </p:txBody>
      </p:sp>
      <p:sp>
        <p:nvSpPr>
          <p:cNvPr id="5" name="Slide Number Placeholder 4"/>
          <p:cNvSpPr>
            <a:spLocks noGrp="1"/>
          </p:cNvSpPr>
          <p:nvPr>
            <p:ph type="sldNum" sz="quarter" idx="12"/>
          </p:nvPr>
        </p:nvSpPr>
        <p:spPr>
          <a:prstGeom prst="rect">
            <a:avLst/>
          </a:prstGeom>
        </p:spPr>
        <p:txBody>
          <a:bodyPr/>
          <a:lstStyle/>
          <a:p>
            <a:pPr>
              <a:defRPr/>
            </a:pPr>
            <a:fld id="{1E0FEB02-B229-4228-B8C4-7BB63E471FF7}" type="slidenum">
              <a:rPr lang="en-US"/>
              <a:pPr>
                <a:defRPr/>
              </a:pPr>
              <a:t>24</a:t>
            </a:fld>
            <a:endParaRPr lang="en-US"/>
          </a:p>
        </p:txBody>
      </p:sp>
      <p:sp>
        <p:nvSpPr>
          <p:cNvPr id="4"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Tree>
    <p:extLst>
      <p:ext uri="{BB962C8B-B14F-4D97-AF65-F5344CB8AC3E}">
        <p14:creationId xmlns:p14="http://schemas.microsoft.com/office/powerpoint/2010/main" val="2025564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1219200" y="1066800"/>
            <a:ext cx="4765675" cy="501650"/>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Loop Testing</a:t>
            </a:r>
          </a:p>
        </p:txBody>
      </p:sp>
      <p:sp>
        <p:nvSpPr>
          <p:cNvPr id="53" name="Slide Number Placeholder 4"/>
          <p:cNvSpPr>
            <a:spLocks noGrp="1"/>
          </p:cNvSpPr>
          <p:nvPr>
            <p:ph type="sldNum" sz="quarter" idx="12"/>
          </p:nvPr>
        </p:nvSpPr>
        <p:spPr>
          <a:prstGeom prst="rect">
            <a:avLst/>
          </a:prstGeom>
        </p:spPr>
        <p:txBody>
          <a:bodyPr/>
          <a:lstStyle/>
          <a:p>
            <a:pPr>
              <a:defRPr/>
            </a:pPr>
            <a:fld id="{268D0271-6007-4D63-A0AC-149A3029FBD4}" type="slidenum">
              <a:rPr lang="en-US"/>
              <a:pPr>
                <a:defRPr/>
              </a:pPr>
              <a:t>25</a:t>
            </a:fld>
            <a:endParaRPr lang="en-US"/>
          </a:p>
        </p:txBody>
      </p:sp>
      <p:sp>
        <p:nvSpPr>
          <p:cNvPr id="52"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87395" name="Rectangle 3"/>
          <p:cNvSpPr>
            <a:spLocks noChangeArrowheads="1"/>
          </p:cNvSpPr>
          <p:nvPr/>
        </p:nvSpPr>
        <p:spPr bwMode="auto">
          <a:xfrm>
            <a:off x="3340100" y="4886325"/>
            <a:ext cx="1052513" cy="5524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857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gn="ctr">
              <a:lnSpc>
                <a:spcPct val="80000"/>
              </a:lnSpc>
              <a:defRPr/>
            </a:pPr>
            <a:r>
              <a:rPr lang="en-US" sz="1900" b="1">
                <a:effectLst>
                  <a:outerShdw blurRad="38100" dist="38100" dir="2700000" algn="tl">
                    <a:srgbClr val="FFFFFF"/>
                  </a:outerShdw>
                </a:effectLst>
                <a:latin typeface="Helvetica" pitchFamily="-128" charset="0"/>
                <a:ea typeface="ＭＳ Ｐゴシック" pitchFamily="-128" charset="-128"/>
              </a:rPr>
              <a:t>Nested </a:t>
            </a:r>
          </a:p>
          <a:p>
            <a:pPr algn="ctr">
              <a:lnSpc>
                <a:spcPct val="80000"/>
              </a:lnSpc>
              <a:defRPr/>
            </a:pPr>
            <a:r>
              <a:rPr lang="en-US" sz="1900" b="1">
                <a:effectLst>
                  <a:outerShdw blurRad="38100" dist="38100" dir="2700000" algn="tl">
                    <a:srgbClr val="FFFFFF"/>
                  </a:outerShdw>
                </a:effectLst>
                <a:latin typeface="Helvetica" pitchFamily="-128" charset="0"/>
                <a:ea typeface="ＭＳ Ｐゴシック" pitchFamily="-128" charset="-128"/>
              </a:rPr>
              <a:t>Loops</a:t>
            </a:r>
          </a:p>
        </p:txBody>
      </p:sp>
      <p:sp>
        <p:nvSpPr>
          <p:cNvPr id="187396" name="Rectangle 4"/>
          <p:cNvSpPr>
            <a:spLocks noChangeArrowheads="1"/>
          </p:cNvSpPr>
          <p:nvPr/>
        </p:nvSpPr>
        <p:spPr bwMode="auto">
          <a:xfrm>
            <a:off x="4548188" y="5576888"/>
            <a:ext cx="1843087" cy="6667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gn="ctr">
              <a:defRPr/>
            </a:pPr>
            <a:r>
              <a:rPr lang="en-US" sz="1900" b="1">
                <a:effectLst>
                  <a:outerShdw blurRad="38100" dist="38100" dir="2700000" algn="tl">
                    <a:srgbClr val="FFFFFF"/>
                  </a:outerShdw>
                </a:effectLst>
                <a:latin typeface="Helvetica" pitchFamily="-128" charset="0"/>
                <a:ea typeface="ＭＳ Ｐゴシック" pitchFamily="-128" charset="-128"/>
              </a:rPr>
              <a:t>Concatenated</a:t>
            </a:r>
          </a:p>
          <a:p>
            <a:pPr algn="ctr">
              <a:defRPr/>
            </a:pPr>
            <a:r>
              <a:rPr lang="en-US" sz="1900" b="1">
                <a:effectLst>
                  <a:outerShdw blurRad="38100" dist="38100" dir="2700000" algn="tl">
                    <a:srgbClr val="FFFFFF"/>
                  </a:outerShdw>
                </a:effectLst>
                <a:latin typeface="Helvetica" pitchFamily="-128" charset="0"/>
                <a:ea typeface="ＭＳ Ｐゴシック" pitchFamily="-128" charset="-128"/>
              </a:rPr>
              <a:t>       Loops       </a:t>
            </a:r>
          </a:p>
        </p:txBody>
      </p:sp>
      <p:sp>
        <p:nvSpPr>
          <p:cNvPr id="187397" name="Rectangle 5"/>
          <p:cNvSpPr>
            <a:spLocks noChangeArrowheads="1"/>
          </p:cNvSpPr>
          <p:nvPr/>
        </p:nvSpPr>
        <p:spPr bwMode="auto">
          <a:xfrm>
            <a:off x="6526213" y="5815013"/>
            <a:ext cx="2165350" cy="3778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900" b="1">
                <a:effectLst>
                  <a:outerShdw blurRad="38100" dist="38100" dir="2700000" algn="tl">
                    <a:srgbClr val="FFFFFF"/>
                  </a:outerShdw>
                </a:effectLst>
                <a:latin typeface="Helvetica" pitchFamily="-128" charset="0"/>
                <a:ea typeface="ＭＳ Ｐゴシック" pitchFamily="-128" charset="-128"/>
              </a:rPr>
              <a:t>Unstructured       </a:t>
            </a:r>
          </a:p>
        </p:txBody>
      </p:sp>
      <p:sp>
        <p:nvSpPr>
          <p:cNvPr id="187398" name="Rectangle 6"/>
          <p:cNvSpPr>
            <a:spLocks noChangeArrowheads="1"/>
          </p:cNvSpPr>
          <p:nvPr/>
        </p:nvSpPr>
        <p:spPr bwMode="auto">
          <a:xfrm>
            <a:off x="7021513" y="6129338"/>
            <a:ext cx="904875" cy="3778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900" b="1">
                <a:effectLst>
                  <a:outerShdw blurRad="38100" dist="38100" dir="2700000" algn="tl">
                    <a:srgbClr val="FFFFFF"/>
                  </a:outerShdw>
                </a:effectLst>
                <a:latin typeface="Helvetica" pitchFamily="-128" charset="0"/>
                <a:ea typeface="ＭＳ Ｐゴシック" pitchFamily="-128" charset="-128"/>
              </a:rPr>
              <a:t>Loops</a:t>
            </a:r>
          </a:p>
        </p:txBody>
      </p:sp>
      <p:sp>
        <p:nvSpPr>
          <p:cNvPr id="187399" name="Rectangle 7"/>
          <p:cNvSpPr>
            <a:spLocks noChangeArrowheads="1"/>
          </p:cNvSpPr>
          <p:nvPr/>
        </p:nvSpPr>
        <p:spPr bwMode="auto">
          <a:xfrm>
            <a:off x="1866900" y="4238625"/>
            <a:ext cx="1039813" cy="5524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2857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gn="ctr">
              <a:lnSpc>
                <a:spcPct val="80000"/>
              </a:lnSpc>
              <a:defRPr/>
            </a:pPr>
            <a:r>
              <a:rPr lang="en-US" sz="1900" b="1">
                <a:effectLst>
                  <a:outerShdw blurRad="38100" dist="38100" dir="2700000" algn="tl">
                    <a:srgbClr val="FFFFFF"/>
                  </a:outerShdw>
                </a:effectLst>
                <a:latin typeface="Helvetica" pitchFamily="-128" charset="0"/>
                <a:ea typeface="ＭＳ Ｐゴシック" pitchFamily="-128" charset="-128"/>
              </a:rPr>
              <a:t>Simple </a:t>
            </a:r>
          </a:p>
          <a:p>
            <a:pPr algn="ctr">
              <a:lnSpc>
                <a:spcPct val="80000"/>
              </a:lnSpc>
              <a:defRPr/>
            </a:pPr>
            <a:r>
              <a:rPr lang="en-US" sz="1900" b="1">
                <a:effectLst>
                  <a:outerShdw blurRad="38100" dist="38100" dir="2700000" algn="tl">
                    <a:srgbClr val="FFFFFF"/>
                  </a:outerShdw>
                </a:effectLst>
                <a:latin typeface="Helvetica" pitchFamily="-128" charset="0"/>
                <a:ea typeface="ＭＳ Ｐゴシック" pitchFamily="-128" charset="-128"/>
              </a:rPr>
              <a:t>loop</a:t>
            </a:r>
          </a:p>
        </p:txBody>
      </p:sp>
      <p:sp>
        <p:nvSpPr>
          <p:cNvPr id="21514" name="Rectangle 8"/>
          <p:cNvSpPr>
            <a:spLocks noChangeArrowheads="1"/>
          </p:cNvSpPr>
          <p:nvPr/>
        </p:nvSpPr>
        <p:spPr bwMode="auto">
          <a:xfrm>
            <a:off x="2070100" y="2414588"/>
            <a:ext cx="685800" cy="485775"/>
          </a:xfrm>
          <a:prstGeom prst="rect">
            <a:avLst/>
          </a:prstGeom>
          <a:solidFill>
            <a:schemeClr val="folHlink"/>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15" name="AutoShape 9"/>
          <p:cNvSpPr>
            <a:spLocks noChangeArrowheads="1"/>
          </p:cNvSpPr>
          <p:nvPr/>
        </p:nvSpPr>
        <p:spPr bwMode="auto">
          <a:xfrm>
            <a:off x="2108200" y="3171825"/>
            <a:ext cx="584200" cy="557213"/>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16" name="Line 10"/>
          <p:cNvSpPr>
            <a:spLocks noChangeShapeType="1"/>
          </p:cNvSpPr>
          <p:nvPr/>
        </p:nvSpPr>
        <p:spPr bwMode="auto">
          <a:xfrm>
            <a:off x="2425700" y="2065338"/>
            <a:ext cx="0" cy="3286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17" name="Line 11"/>
          <p:cNvSpPr>
            <a:spLocks noChangeShapeType="1"/>
          </p:cNvSpPr>
          <p:nvPr/>
        </p:nvSpPr>
        <p:spPr bwMode="auto">
          <a:xfrm>
            <a:off x="2413000" y="2951163"/>
            <a:ext cx="0" cy="2428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18" name="Freeform 12"/>
          <p:cNvSpPr>
            <a:spLocks/>
          </p:cNvSpPr>
          <p:nvPr/>
        </p:nvSpPr>
        <p:spPr bwMode="auto">
          <a:xfrm>
            <a:off x="1790700" y="2700338"/>
            <a:ext cx="306388" cy="758825"/>
          </a:xfrm>
          <a:custGeom>
            <a:avLst/>
            <a:gdLst>
              <a:gd name="T0" fmla="*/ 483870790 w 193"/>
              <a:gd name="T1" fmla="*/ 1351672654 h 425"/>
              <a:gd name="T2" fmla="*/ 0 w 193"/>
              <a:gd name="T3" fmla="*/ 1351672654 h 425"/>
              <a:gd name="T4" fmla="*/ 0 w 193"/>
              <a:gd name="T5" fmla="*/ 0 h 425"/>
              <a:gd name="T6" fmla="*/ 403225658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19" name="Line 13"/>
          <p:cNvSpPr>
            <a:spLocks noChangeShapeType="1"/>
          </p:cNvSpPr>
          <p:nvPr/>
        </p:nvSpPr>
        <p:spPr bwMode="auto">
          <a:xfrm>
            <a:off x="2432050" y="3779838"/>
            <a:ext cx="0"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20" name="Rectangle 14"/>
          <p:cNvSpPr>
            <a:spLocks noChangeArrowheads="1"/>
          </p:cNvSpPr>
          <p:nvPr/>
        </p:nvSpPr>
        <p:spPr bwMode="auto">
          <a:xfrm>
            <a:off x="3492500" y="2214563"/>
            <a:ext cx="685800" cy="485775"/>
          </a:xfrm>
          <a:prstGeom prst="rect">
            <a:avLst/>
          </a:prstGeom>
          <a:solidFill>
            <a:schemeClr val="folHlink"/>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21" name="AutoShape 15"/>
          <p:cNvSpPr>
            <a:spLocks noChangeArrowheads="1"/>
          </p:cNvSpPr>
          <p:nvPr/>
        </p:nvSpPr>
        <p:spPr bwMode="auto">
          <a:xfrm>
            <a:off x="3530600" y="2971800"/>
            <a:ext cx="584200" cy="557213"/>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22" name="Line 16"/>
          <p:cNvSpPr>
            <a:spLocks noChangeShapeType="1"/>
          </p:cNvSpPr>
          <p:nvPr/>
        </p:nvSpPr>
        <p:spPr bwMode="auto">
          <a:xfrm>
            <a:off x="3848100" y="1865313"/>
            <a:ext cx="0" cy="3286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23" name="Line 17"/>
          <p:cNvSpPr>
            <a:spLocks noChangeShapeType="1"/>
          </p:cNvSpPr>
          <p:nvPr/>
        </p:nvSpPr>
        <p:spPr bwMode="auto">
          <a:xfrm>
            <a:off x="3835400" y="2751138"/>
            <a:ext cx="0" cy="2428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24" name="Freeform 18"/>
          <p:cNvSpPr>
            <a:spLocks/>
          </p:cNvSpPr>
          <p:nvPr/>
        </p:nvSpPr>
        <p:spPr bwMode="auto">
          <a:xfrm>
            <a:off x="3213100" y="2500313"/>
            <a:ext cx="306388" cy="758825"/>
          </a:xfrm>
          <a:custGeom>
            <a:avLst/>
            <a:gdLst>
              <a:gd name="T0" fmla="*/ 483870790 w 193"/>
              <a:gd name="T1" fmla="*/ 1351672654 h 425"/>
              <a:gd name="T2" fmla="*/ 0 w 193"/>
              <a:gd name="T3" fmla="*/ 1351672654 h 425"/>
              <a:gd name="T4" fmla="*/ 0 w 193"/>
              <a:gd name="T5" fmla="*/ 0 h 425"/>
              <a:gd name="T6" fmla="*/ 403225658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25" name="Line 19"/>
          <p:cNvSpPr>
            <a:spLocks noChangeShapeType="1"/>
          </p:cNvSpPr>
          <p:nvPr/>
        </p:nvSpPr>
        <p:spPr bwMode="auto">
          <a:xfrm>
            <a:off x="3854450" y="3579813"/>
            <a:ext cx="0"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26" name="AutoShape 20"/>
          <p:cNvSpPr>
            <a:spLocks noChangeArrowheads="1"/>
          </p:cNvSpPr>
          <p:nvPr/>
        </p:nvSpPr>
        <p:spPr bwMode="auto">
          <a:xfrm>
            <a:off x="3568700" y="3886200"/>
            <a:ext cx="584200" cy="557213"/>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27" name="Line 21"/>
          <p:cNvSpPr>
            <a:spLocks noChangeShapeType="1"/>
          </p:cNvSpPr>
          <p:nvPr/>
        </p:nvSpPr>
        <p:spPr bwMode="auto">
          <a:xfrm>
            <a:off x="3892550" y="4451350"/>
            <a:ext cx="0" cy="300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28" name="Freeform 22"/>
          <p:cNvSpPr>
            <a:spLocks/>
          </p:cNvSpPr>
          <p:nvPr/>
        </p:nvSpPr>
        <p:spPr bwMode="auto">
          <a:xfrm>
            <a:off x="3098800" y="2128838"/>
            <a:ext cx="750888" cy="2044700"/>
          </a:xfrm>
          <a:custGeom>
            <a:avLst/>
            <a:gdLst>
              <a:gd name="T0" fmla="*/ 745966747 w 473"/>
              <a:gd name="T1" fmla="*/ 2147483647 h 1145"/>
              <a:gd name="T2" fmla="*/ 0 w 473"/>
              <a:gd name="T3" fmla="*/ 2147483647 h 1145"/>
              <a:gd name="T4" fmla="*/ 0 w 473"/>
              <a:gd name="T5" fmla="*/ 0 h 1145"/>
              <a:gd name="T6" fmla="*/ 1189514542 w 473"/>
              <a:gd name="T7" fmla="*/ 0 h 114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73" h="1145">
                <a:moveTo>
                  <a:pt x="296" y="1144"/>
                </a:moveTo>
                <a:lnTo>
                  <a:pt x="0" y="1144"/>
                </a:lnTo>
                <a:lnTo>
                  <a:pt x="0" y="0"/>
                </a:lnTo>
                <a:lnTo>
                  <a:pt x="472"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29" name="Rectangle 23"/>
          <p:cNvSpPr>
            <a:spLocks noChangeArrowheads="1"/>
          </p:cNvSpPr>
          <p:nvPr/>
        </p:nvSpPr>
        <p:spPr bwMode="auto">
          <a:xfrm>
            <a:off x="5219700" y="1985963"/>
            <a:ext cx="685800" cy="485775"/>
          </a:xfrm>
          <a:prstGeom prst="rect">
            <a:avLst/>
          </a:prstGeom>
          <a:solidFill>
            <a:schemeClr val="folHlink"/>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30" name="AutoShape 24"/>
          <p:cNvSpPr>
            <a:spLocks noChangeArrowheads="1"/>
          </p:cNvSpPr>
          <p:nvPr/>
        </p:nvSpPr>
        <p:spPr bwMode="auto">
          <a:xfrm>
            <a:off x="5257800" y="2743200"/>
            <a:ext cx="584200" cy="557213"/>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31" name="Line 25"/>
          <p:cNvSpPr>
            <a:spLocks noChangeShapeType="1"/>
          </p:cNvSpPr>
          <p:nvPr/>
        </p:nvSpPr>
        <p:spPr bwMode="auto">
          <a:xfrm>
            <a:off x="5575300" y="1636713"/>
            <a:ext cx="0" cy="3286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32" name="Line 26"/>
          <p:cNvSpPr>
            <a:spLocks noChangeShapeType="1"/>
          </p:cNvSpPr>
          <p:nvPr/>
        </p:nvSpPr>
        <p:spPr bwMode="auto">
          <a:xfrm>
            <a:off x="5562600" y="2522538"/>
            <a:ext cx="0" cy="2428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33" name="Freeform 27"/>
          <p:cNvSpPr>
            <a:spLocks/>
          </p:cNvSpPr>
          <p:nvPr/>
        </p:nvSpPr>
        <p:spPr bwMode="auto">
          <a:xfrm>
            <a:off x="4940300" y="2271713"/>
            <a:ext cx="306388" cy="758825"/>
          </a:xfrm>
          <a:custGeom>
            <a:avLst/>
            <a:gdLst>
              <a:gd name="T0" fmla="*/ 483870790 w 193"/>
              <a:gd name="T1" fmla="*/ 1351672654 h 425"/>
              <a:gd name="T2" fmla="*/ 0 w 193"/>
              <a:gd name="T3" fmla="*/ 1351672654 h 425"/>
              <a:gd name="T4" fmla="*/ 0 w 193"/>
              <a:gd name="T5" fmla="*/ 0 h 425"/>
              <a:gd name="T6" fmla="*/ 403225658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34" name="Line 28"/>
          <p:cNvSpPr>
            <a:spLocks noChangeShapeType="1"/>
          </p:cNvSpPr>
          <p:nvPr/>
        </p:nvSpPr>
        <p:spPr bwMode="auto">
          <a:xfrm>
            <a:off x="5581650" y="3351213"/>
            <a:ext cx="0"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35" name="Rectangle 29"/>
          <p:cNvSpPr>
            <a:spLocks noChangeArrowheads="1"/>
          </p:cNvSpPr>
          <p:nvPr/>
        </p:nvSpPr>
        <p:spPr bwMode="auto">
          <a:xfrm>
            <a:off x="5219700" y="3714750"/>
            <a:ext cx="685800" cy="485775"/>
          </a:xfrm>
          <a:prstGeom prst="rect">
            <a:avLst/>
          </a:prstGeom>
          <a:solidFill>
            <a:schemeClr val="folHlink"/>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36" name="AutoShape 30"/>
          <p:cNvSpPr>
            <a:spLocks noChangeArrowheads="1"/>
          </p:cNvSpPr>
          <p:nvPr/>
        </p:nvSpPr>
        <p:spPr bwMode="auto">
          <a:xfrm>
            <a:off x="5257800" y="4471988"/>
            <a:ext cx="584200" cy="557212"/>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37" name="Line 31"/>
          <p:cNvSpPr>
            <a:spLocks noChangeShapeType="1"/>
          </p:cNvSpPr>
          <p:nvPr/>
        </p:nvSpPr>
        <p:spPr bwMode="auto">
          <a:xfrm>
            <a:off x="5575300" y="3365500"/>
            <a:ext cx="0" cy="3286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38" name="Line 32"/>
          <p:cNvSpPr>
            <a:spLocks noChangeShapeType="1"/>
          </p:cNvSpPr>
          <p:nvPr/>
        </p:nvSpPr>
        <p:spPr bwMode="auto">
          <a:xfrm>
            <a:off x="5562600" y="4251325"/>
            <a:ext cx="0" cy="2428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39" name="Freeform 33"/>
          <p:cNvSpPr>
            <a:spLocks/>
          </p:cNvSpPr>
          <p:nvPr/>
        </p:nvSpPr>
        <p:spPr bwMode="auto">
          <a:xfrm>
            <a:off x="4940300" y="4000500"/>
            <a:ext cx="306388" cy="758825"/>
          </a:xfrm>
          <a:custGeom>
            <a:avLst/>
            <a:gdLst>
              <a:gd name="T0" fmla="*/ 483870790 w 193"/>
              <a:gd name="T1" fmla="*/ 1351672654 h 425"/>
              <a:gd name="T2" fmla="*/ 0 w 193"/>
              <a:gd name="T3" fmla="*/ 1351672654 h 425"/>
              <a:gd name="T4" fmla="*/ 0 w 193"/>
              <a:gd name="T5" fmla="*/ 0 h 425"/>
              <a:gd name="T6" fmla="*/ 403225658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40" name="Line 34"/>
          <p:cNvSpPr>
            <a:spLocks noChangeShapeType="1"/>
          </p:cNvSpPr>
          <p:nvPr/>
        </p:nvSpPr>
        <p:spPr bwMode="auto">
          <a:xfrm>
            <a:off x="5568950" y="5094288"/>
            <a:ext cx="0"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41" name="Rectangle 35"/>
          <p:cNvSpPr>
            <a:spLocks noChangeArrowheads="1"/>
          </p:cNvSpPr>
          <p:nvPr/>
        </p:nvSpPr>
        <p:spPr bwMode="auto">
          <a:xfrm>
            <a:off x="7124700" y="1657350"/>
            <a:ext cx="685800" cy="485775"/>
          </a:xfrm>
          <a:prstGeom prst="rect">
            <a:avLst/>
          </a:prstGeom>
          <a:solidFill>
            <a:schemeClr val="folHlink"/>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42" name="AutoShape 36"/>
          <p:cNvSpPr>
            <a:spLocks noChangeArrowheads="1"/>
          </p:cNvSpPr>
          <p:nvPr/>
        </p:nvSpPr>
        <p:spPr bwMode="auto">
          <a:xfrm>
            <a:off x="7162800" y="2414588"/>
            <a:ext cx="584200" cy="557212"/>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43" name="Line 37"/>
          <p:cNvSpPr>
            <a:spLocks noChangeShapeType="1"/>
          </p:cNvSpPr>
          <p:nvPr/>
        </p:nvSpPr>
        <p:spPr bwMode="auto">
          <a:xfrm>
            <a:off x="7480300" y="1308100"/>
            <a:ext cx="0" cy="328613"/>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44" name="Line 38"/>
          <p:cNvSpPr>
            <a:spLocks noChangeShapeType="1"/>
          </p:cNvSpPr>
          <p:nvPr/>
        </p:nvSpPr>
        <p:spPr bwMode="auto">
          <a:xfrm>
            <a:off x="7467600" y="2193925"/>
            <a:ext cx="0" cy="2428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45" name="Freeform 39"/>
          <p:cNvSpPr>
            <a:spLocks/>
          </p:cNvSpPr>
          <p:nvPr/>
        </p:nvSpPr>
        <p:spPr bwMode="auto">
          <a:xfrm>
            <a:off x="6845300" y="1943100"/>
            <a:ext cx="306388" cy="758825"/>
          </a:xfrm>
          <a:custGeom>
            <a:avLst/>
            <a:gdLst>
              <a:gd name="T0" fmla="*/ 483870790 w 193"/>
              <a:gd name="T1" fmla="*/ 1351672654 h 425"/>
              <a:gd name="T2" fmla="*/ 0 w 193"/>
              <a:gd name="T3" fmla="*/ 1351672654 h 425"/>
              <a:gd name="T4" fmla="*/ 0 w 193"/>
              <a:gd name="T5" fmla="*/ 0 h 425"/>
              <a:gd name="T6" fmla="*/ 403225658 w 193"/>
              <a:gd name="T7" fmla="*/ 0 h 42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3" h="425">
                <a:moveTo>
                  <a:pt x="192" y="424"/>
                </a:moveTo>
                <a:lnTo>
                  <a:pt x="0" y="424"/>
                </a:lnTo>
                <a:lnTo>
                  <a:pt x="0" y="0"/>
                </a:lnTo>
                <a:lnTo>
                  <a:pt x="16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46" name="Line 40"/>
          <p:cNvSpPr>
            <a:spLocks noChangeShapeType="1"/>
          </p:cNvSpPr>
          <p:nvPr/>
        </p:nvSpPr>
        <p:spPr bwMode="auto">
          <a:xfrm>
            <a:off x="7486650" y="3022600"/>
            <a:ext cx="0" cy="300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47" name="Rectangle 41"/>
          <p:cNvSpPr>
            <a:spLocks noChangeArrowheads="1"/>
          </p:cNvSpPr>
          <p:nvPr/>
        </p:nvSpPr>
        <p:spPr bwMode="auto">
          <a:xfrm>
            <a:off x="7124700" y="3414713"/>
            <a:ext cx="685800" cy="485775"/>
          </a:xfrm>
          <a:prstGeom prst="rect">
            <a:avLst/>
          </a:prstGeom>
          <a:solidFill>
            <a:schemeClr val="folHlink"/>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48" name="AutoShape 42"/>
          <p:cNvSpPr>
            <a:spLocks noChangeArrowheads="1"/>
          </p:cNvSpPr>
          <p:nvPr/>
        </p:nvSpPr>
        <p:spPr bwMode="auto">
          <a:xfrm>
            <a:off x="7162800" y="4143375"/>
            <a:ext cx="584200" cy="557213"/>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49" name="Line 43"/>
          <p:cNvSpPr>
            <a:spLocks noChangeShapeType="1"/>
          </p:cNvSpPr>
          <p:nvPr/>
        </p:nvSpPr>
        <p:spPr bwMode="auto">
          <a:xfrm>
            <a:off x="7480300" y="3036888"/>
            <a:ext cx="0" cy="32861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50" name="Line 44"/>
          <p:cNvSpPr>
            <a:spLocks noChangeShapeType="1"/>
          </p:cNvSpPr>
          <p:nvPr/>
        </p:nvSpPr>
        <p:spPr bwMode="auto">
          <a:xfrm>
            <a:off x="7467600" y="3922713"/>
            <a:ext cx="0" cy="2428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51" name="Freeform 45"/>
          <p:cNvSpPr>
            <a:spLocks/>
          </p:cNvSpPr>
          <p:nvPr/>
        </p:nvSpPr>
        <p:spPr bwMode="auto">
          <a:xfrm>
            <a:off x="6680200" y="1785938"/>
            <a:ext cx="522288" cy="2644775"/>
          </a:xfrm>
          <a:custGeom>
            <a:avLst/>
            <a:gdLst>
              <a:gd name="T0" fmla="*/ 826612041 w 329"/>
              <a:gd name="T1" fmla="*/ 2147483647 h 1481"/>
              <a:gd name="T2" fmla="*/ 0 w 329"/>
              <a:gd name="T3" fmla="*/ 2147483647 h 1481"/>
              <a:gd name="T4" fmla="*/ 0 w 329"/>
              <a:gd name="T5" fmla="*/ 0 h 1481"/>
              <a:gd name="T6" fmla="*/ 688004109 w 329"/>
              <a:gd name="T7" fmla="*/ 0 h 14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29" h="1481">
                <a:moveTo>
                  <a:pt x="328" y="1480"/>
                </a:moveTo>
                <a:lnTo>
                  <a:pt x="0" y="1480"/>
                </a:lnTo>
                <a:lnTo>
                  <a:pt x="0" y="0"/>
                </a:lnTo>
                <a:lnTo>
                  <a:pt x="273"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52" name="Line 46"/>
          <p:cNvSpPr>
            <a:spLocks noChangeShapeType="1"/>
          </p:cNvSpPr>
          <p:nvPr/>
        </p:nvSpPr>
        <p:spPr bwMode="auto">
          <a:xfrm>
            <a:off x="7486650" y="4751388"/>
            <a:ext cx="0"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
        <p:nvSpPr>
          <p:cNvPr id="21553" name="Freeform 47"/>
          <p:cNvSpPr>
            <a:spLocks/>
          </p:cNvSpPr>
          <p:nvPr/>
        </p:nvSpPr>
        <p:spPr bwMode="auto">
          <a:xfrm>
            <a:off x="7759700" y="2700338"/>
            <a:ext cx="534988" cy="1744662"/>
          </a:xfrm>
          <a:custGeom>
            <a:avLst/>
            <a:gdLst>
              <a:gd name="T0" fmla="*/ 0 w 337"/>
              <a:gd name="T1" fmla="*/ 0 h 977"/>
              <a:gd name="T2" fmla="*/ 846773291 w 337"/>
              <a:gd name="T3" fmla="*/ 0 h 977"/>
              <a:gd name="T4" fmla="*/ 826612023 w 337"/>
              <a:gd name="T5" fmla="*/ 2147483647 h 977"/>
              <a:gd name="T6" fmla="*/ 60483807 w 337"/>
              <a:gd name="T7" fmla="*/ 2147483647 h 97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37" h="977">
                <a:moveTo>
                  <a:pt x="0" y="0"/>
                </a:moveTo>
                <a:lnTo>
                  <a:pt x="336" y="0"/>
                </a:lnTo>
                <a:lnTo>
                  <a:pt x="328" y="976"/>
                </a:lnTo>
                <a:lnTo>
                  <a:pt x="24" y="976"/>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54" name="AutoShape 48"/>
          <p:cNvSpPr>
            <a:spLocks noChangeArrowheads="1"/>
          </p:cNvSpPr>
          <p:nvPr/>
        </p:nvSpPr>
        <p:spPr bwMode="auto">
          <a:xfrm>
            <a:off x="7188200" y="5014913"/>
            <a:ext cx="584200" cy="557212"/>
          </a:xfrm>
          <a:prstGeom prst="diamond">
            <a:avLst/>
          </a:prstGeom>
          <a:solidFill>
            <a:schemeClr val="tx2"/>
          </a:solidFill>
          <a:ln w="28575">
            <a:solidFill>
              <a:schemeClr val="tx1"/>
            </a:solidFill>
            <a:miter lim="800000"/>
            <a:headEnd/>
            <a:tailEnd/>
          </a:ln>
          <a:effectLst>
            <a:outerShdw dist="53882" dir="2700000" algn="ctr" rotWithShape="0">
              <a:schemeClr val="bg2"/>
            </a:outerShdw>
          </a:effectLst>
        </p:spPr>
        <p:txBody>
          <a:bodyPr wrap="none" anchor="ctr"/>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algn="l" rtl="0" eaLnBrk="0" fontAlgn="base" hangingPunct="0">
              <a:spcBef>
                <a:spcPct val="0"/>
              </a:spcBef>
              <a:spcAft>
                <a:spcPct val="0"/>
              </a:spcAft>
              <a:defRPr sz="2400">
                <a:solidFill>
                  <a:schemeClr val="tx1"/>
                </a:solidFill>
                <a:latin typeface="Arial" pitchFamily="34" charset="0"/>
                <a:ea typeface="MS PGothic" pitchFamily="34" charset="-128"/>
              </a:defRPr>
            </a:lvl9pPr>
          </a:lstStyle>
          <a:p>
            <a:endParaRPr lang="x-none" altLang="x-none"/>
          </a:p>
        </p:txBody>
      </p:sp>
      <p:sp>
        <p:nvSpPr>
          <p:cNvPr id="21555" name="Freeform 49"/>
          <p:cNvSpPr>
            <a:spLocks/>
          </p:cNvSpPr>
          <p:nvPr/>
        </p:nvSpPr>
        <p:spPr bwMode="auto">
          <a:xfrm>
            <a:off x="7785100" y="3686175"/>
            <a:ext cx="801688" cy="1644650"/>
          </a:xfrm>
          <a:custGeom>
            <a:avLst/>
            <a:gdLst>
              <a:gd name="T0" fmla="*/ 0 w 505"/>
              <a:gd name="T1" fmla="*/ 2147483647 h 921"/>
              <a:gd name="T2" fmla="*/ 1270159542 w 505"/>
              <a:gd name="T3" fmla="*/ 2147483647 h 921"/>
              <a:gd name="T4" fmla="*/ 1270159542 w 505"/>
              <a:gd name="T5" fmla="*/ 0 h 921"/>
              <a:gd name="T6" fmla="*/ 120967575 w 505"/>
              <a:gd name="T7" fmla="*/ 0 h 92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5" h="921">
                <a:moveTo>
                  <a:pt x="0" y="920"/>
                </a:moveTo>
                <a:lnTo>
                  <a:pt x="504" y="920"/>
                </a:lnTo>
                <a:lnTo>
                  <a:pt x="504" y="0"/>
                </a:lnTo>
                <a:lnTo>
                  <a:pt x="48"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56" name="Freeform 50"/>
          <p:cNvSpPr>
            <a:spLocks/>
          </p:cNvSpPr>
          <p:nvPr/>
        </p:nvSpPr>
        <p:spPr bwMode="auto">
          <a:xfrm>
            <a:off x="6502400" y="2328863"/>
            <a:ext cx="954088" cy="2973387"/>
          </a:xfrm>
          <a:custGeom>
            <a:avLst/>
            <a:gdLst>
              <a:gd name="T0" fmla="*/ 1068546810 w 601"/>
              <a:gd name="T1" fmla="*/ 2147483647 h 1665"/>
              <a:gd name="T2" fmla="*/ 0 w 601"/>
              <a:gd name="T3" fmla="*/ 2147483647 h 1665"/>
              <a:gd name="T4" fmla="*/ 20161261 w 601"/>
              <a:gd name="T5" fmla="*/ 0 h 1665"/>
              <a:gd name="T6" fmla="*/ 1512094542 w 601"/>
              <a:gd name="T7" fmla="*/ 0 h 166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01" h="1665">
                <a:moveTo>
                  <a:pt x="424" y="1664"/>
                </a:moveTo>
                <a:lnTo>
                  <a:pt x="0" y="1664"/>
                </a:lnTo>
                <a:lnTo>
                  <a:pt x="8" y="0"/>
                </a:lnTo>
                <a:lnTo>
                  <a:pt x="600" y="0"/>
                </a:lnTo>
              </a:path>
            </a:pathLst>
          </a:custGeom>
          <a:noFill/>
          <a:ln w="28575" cap="rnd" cmpd="sng">
            <a:solidFill>
              <a:schemeClr val="tx1"/>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1557" name="Line 51"/>
          <p:cNvSpPr>
            <a:spLocks noChangeShapeType="1"/>
          </p:cNvSpPr>
          <p:nvPr/>
        </p:nvSpPr>
        <p:spPr bwMode="auto">
          <a:xfrm>
            <a:off x="7499350" y="5537200"/>
            <a:ext cx="0" cy="300038"/>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x-none"/>
          </a:p>
        </p:txBody>
      </p:sp>
    </p:spTree>
    <p:extLst>
      <p:ext uri="{BB962C8B-B14F-4D97-AF65-F5344CB8AC3E}">
        <p14:creationId xmlns:p14="http://schemas.microsoft.com/office/powerpoint/2010/main" val="72813374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1219200" y="990600"/>
            <a:ext cx="6508750" cy="760413"/>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Loop Testing: Simple Loops</a:t>
            </a:r>
          </a:p>
        </p:txBody>
      </p:sp>
      <p:sp>
        <p:nvSpPr>
          <p:cNvPr id="17" name="Slide Number Placeholder 4"/>
          <p:cNvSpPr>
            <a:spLocks noGrp="1"/>
          </p:cNvSpPr>
          <p:nvPr>
            <p:ph type="sldNum" sz="quarter" idx="12"/>
          </p:nvPr>
        </p:nvSpPr>
        <p:spPr>
          <a:prstGeom prst="rect">
            <a:avLst/>
          </a:prstGeom>
        </p:spPr>
        <p:txBody>
          <a:bodyPr/>
          <a:lstStyle/>
          <a:p>
            <a:pPr>
              <a:defRPr/>
            </a:pPr>
            <a:fld id="{4E4653F4-CB09-45C9-95E3-1078B8AF7751}" type="slidenum">
              <a:rPr lang="en-US"/>
              <a:pPr>
                <a:defRPr/>
              </a:pPr>
              <a:t>26</a:t>
            </a:fld>
            <a:endParaRPr lang="en-US"/>
          </a:p>
        </p:txBody>
      </p:sp>
      <p:sp>
        <p:nvSpPr>
          <p:cNvPr id="16"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88419" name="Rectangle 3"/>
          <p:cNvSpPr>
            <a:spLocks noChangeArrowheads="1"/>
          </p:cNvSpPr>
          <p:nvPr/>
        </p:nvSpPr>
        <p:spPr bwMode="auto">
          <a:xfrm>
            <a:off x="1981200" y="1828800"/>
            <a:ext cx="5446713"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i="1" u="sng">
                <a:effectLst>
                  <a:outerShdw blurRad="38100" dist="38100" dir="2700000" algn="tl">
                    <a:srgbClr val="FFFFFF"/>
                  </a:outerShdw>
                </a:effectLst>
                <a:latin typeface="Helvetica" pitchFamily="-128" charset="0"/>
                <a:ea typeface="ＭＳ Ｐゴシック" pitchFamily="-128" charset="-128"/>
              </a:rPr>
              <a:t>Minimum conditions—Simple Loops</a:t>
            </a:r>
          </a:p>
        </p:txBody>
      </p:sp>
      <p:sp>
        <p:nvSpPr>
          <p:cNvPr id="188420" name="Rectangle 4"/>
          <p:cNvSpPr>
            <a:spLocks noChangeArrowheads="1"/>
          </p:cNvSpPr>
          <p:nvPr/>
        </p:nvSpPr>
        <p:spPr bwMode="auto">
          <a:xfrm>
            <a:off x="2349500" y="2386013"/>
            <a:ext cx="3652838"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1.  skip the loop entirely</a:t>
            </a: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1" name="Rectangle 5"/>
          <p:cNvSpPr>
            <a:spLocks noChangeArrowheads="1"/>
          </p:cNvSpPr>
          <p:nvPr/>
        </p:nvSpPr>
        <p:spPr bwMode="auto">
          <a:xfrm>
            <a:off x="2362200" y="2500313"/>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b="1">
              <a:effectLst>
                <a:outerShdw blurRad="38100" dist="38100" dir="2700000" algn="tl">
                  <a:srgbClr val="FFFFFF"/>
                </a:outerShdw>
              </a:effectLst>
              <a:latin typeface="Helvetica" pitchFamily="-128" charset="0"/>
              <a:ea typeface="ＭＳ Ｐゴシック" pitchFamily="-128" charset="-128"/>
            </a:endParaRP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2" name="Rectangle 6"/>
          <p:cNvSpPr>
            <a:spLocks noChangeArrowheads="1"/>
          </p:cNvSpPr>
          <p:nvPr/>
        </p:nvSpPr>
        <p:spPr bwMode="auto">
          <a:xfrm>
            <a:off x="2362200" y="2857500"/>
            <a:ext cx="5141913"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2.  only one pass through the loop</a:t>
            </a: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3" name="Rectangle 7"/>
          <p:cNvSpPr>
            <a:spLocks noChangeArrowheads="1"/>
          </p:cNvSpPr>
          <p:nvPr/>
        </p:nvSpPr>
        <p:spPr bwMode="auto">
          <a:xfrm>
            <a:off x="2362200" y="3214688"/>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b="1">
              <a:effectLst>
                <a:outerShdw blurRad="38100" dist="38100" dir="2700000" algn="tl">
                  <a:srgbClr val="FFFFFF"/>
                </a:outerShdw>
              </a:effectLst>
              <a:latin typeface="Helvetica" pitchFamily="-128" charset="0"/>
              <a:ea typeface="ＭＳ Ｐゴシック" pitchFamily="-128" charset="-128"/>
            </a:endParaRP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4" name="Rectangle 8"/>
          <p:cNvSpPr>
            <a:spLocks noChangeArrowheads="1"/>
          </p:cNvSpPr>
          <p:nvPr/>
        </p:nvSpPr>
        <p:spPr bwMode="auto">
          <a:xfrm>
            <a:off x="2362200" y="3314700"/>
            <a:ext cx="4752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3.  two passes through the loop</a:t>
            </a: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5" name="Rectangle 9"/>
          <p:cNvSpPr>
            <a:spLocks noChangeArrowheads="1"/>
          </p:cNvSpPr>
          <p:nvPr/>
        </p:nvSpPr>
        <p:spPr bwMode="auto">
          <a:xfrm>
            <a:off x="2362200" y="3929063"/>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b="1">
              <a:effectLst>
                <a:outerShdw blurRad="38100" dist="38100" dir="2700000" algn="tl">
                  <a:srgbClr val="FFFFFF"/>
                </a:outerShdw>
              </a:effectLst>
              <a:latin typeface="Helvetica" pitchFamily="-128" charset="0"/>
              <a:ea typeface="ＭＳ Ｐゴシック" pitchFamily="-128" charset="-128"/>
            </a:endParaRP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6" name="Rectangle 10"/>
          <p:cNvSpPr>
            <a:spLocks noChangeArrowheads="1"/>
          </p:cNvSpPr>
          <p:nvPr/>
        </p:nvSpPr>
        <p:spPr bwMode="auto">
          <a:xfrm>
            <a:off x="2336800" y="3757613"/>
            <a:ext cx="5473700"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4.  m passes through the loop  m &lt; n</a:t>
            </a: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7" name="Rectangle 11"/>
          <p:cNvSpPr>
            <a:spLocks noChangeArrowheads="1"/>
          </p:cNvSpPr>
          <p:nvPr/>
        </p:nvSpPr>
        <p:spPr bwMode="auto">
          <a:xfrm>
            <a:off x="2362200" y="4643438"/>
            <a:ext cx="180975" cy="8191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b="1">
              <a:effectLst>
                <a:outerShdw blurRad="38100" dist="38100" dir="2700000" algn="tl">
                  <a:srgbClr val="FFFFFF"/>
                </a:outerShdw>
              </a:effectLst>
              <a:latin typeface="Helvetica" pitchFamily="-128" charset="0"/>
              <a:ea typeface="ＭＳ Ｐゴシック" pitchFamily="-128" charset="-128"/>
            </a:endParaRPr>
          </a:p>
          <a:p>
            <a:pPr>
              <a:defRPr/>
            </a:pPr>
            <a:endParaRPr lang="en-US" b="1">
              <a:effectLst>
                <a:outerShdw blurRad="38100" dist="38100" dir="2700000" algn="tl">
                  <a:srgbClr val="FFFFFF"/>
                </a:outerShdw>
              </a:effectLst>
              <a:latin typeface="Helvetica" pitchFamily="-128" charset="0"/>
              <a:ea typeface="ＭＳ Ｐゴシック" pitchFamily="-128" charset="-128"/>
            </a:endParaRPr>
          </a:p>
        </p:txBody>
      </p:sp>
      <p:sp>
        <p:nvSpPr>
          <p:cNvPr id="188428" name="Rectangle 12"/>
          <p:cNvSpPr>
            <a:spLocks noChangeArrowheads="1"/>
          </p:cNvSpPr>
          <p:nvPr/>
        </p:nvSpPr>
        <p:spPr bwMode="auto">
          <a:xfrm>
            <a:off x="2362200" y="4214813"/>
            <a:ext cx="6015038"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5.  (n-1), n, and (n+1) passes through      </a:t>
            </a:r>
          </a:p>
        </p:txBody>
      </p:sp>
      <p:sp>
        <p:nvSpPr>
          <p:cNvPr id="188429" name="Rectangle 13"/>
          <p:cNvSpPr>
            <a:spLocks noChangeArrowheads="1"/>
          </p:cNvSpPr>
          <p:nvPr/>
        </p:nvSpPr>
        <p:spPr bwMode="auto">
          <a:xfrm>
            <a:off x="2362200" y="4572000"/>
            <a:ext cx="1366838"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the loop</a:t>
            </a:r>
          </a:p>
        </p:txBody>
      </p:sp>
      <p:sp>
        <p:nvSpPr>
          <p:cNvPr id="188430" name="Rectangle 14"/>
          <p:cNvSpPr>
            <a:spLocks noChangeArrowheads="1"/>
          </p:cNvSpPr>
          <p:nvPr/>
        </p:nvSpPr>
        <p:spPr bwMode="auto">
          <a:xfrm>
            <a:off x="2413000" y="5143500"/>
            <a:ext cx="5008563"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where n is the maximum number </a:t>
            </a:r>
          </a:p>
        </p:txBody>
      </p:sp>
      <p:sp>
        <p:nvSpPr>
          <p:cNvPr id="188431" name="Rectangle 15"/>
          <p:cNvSpPr>
            <a:spLocks noChangeArrowheads="1"/>
          </p:cNvSpPr>
          <p:nvPr/>
        </p:nvSpPr>
        <p:spPr bwMode="auto">
          <a:xfrm>
            <a:off x="2425700" y="5514975"/>
            <a:ext cx="3043238" cy="4540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b="1">
                <a:effectLst>
                  <a:outerShdw blurRad="38100" dist="38100" dir="2700000" algn="tl">
                    <a:srgbClr val="FFFFFF"/>
                  </a:outerShdw>
                </a:effectLst>
                <a:latin typeface="Helvetica" pitchFamily="-128" charset="0"/>
                <a:ea typeface="ＭＳ Ｐゴシック" pitchFamily="-128" charset="-128"/>
              </a:rPr>
              <a:t>of allowable passes</a:t>
            </a:r>
          </a:p>
        </p:txBody>
      </p:sp>
    </p:spTree>
    <p:extLst>
      <p:ext uri="{BB962C8B-B14F-4D97-AF65-F5344CB8AC3E}">
        <p14:creationId xmlns:p14="http://schemas.microsoft.com/office/powerpoint/2010/main" val="150267140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1219200" y="990600"/>
            <a:ext cx="6905625" cy="704850"/>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Loop Testing: Nested Loops</a:t>
            </a:r>
          </a:p>
        </p:txBody>
      </p:sp>
      <p:sp>
        <p:nvSpPr>
          <p:cNvPr id="23" name="Slide Number Placeholder 4"/>
          <p:cNvSpPr>
            <a:spLocks noGrp="1"/>
          </p:cNvSpPr>
          <p:nvPr>
            <p:ph type="sldNum" sz="quarter" idx="12"/>
          </p:nvPr>
        </p:nvSpPr>
        <p:spPr>
          <a:prstGeom prst="rect">
            <a:avLst/>
          </a:prstGeom>
        </p:spPr>
        <p:txBody>
          <a:bodyPr/>
          <a:lstStyle/>
          <a:p>
            <a:pPr>
              <a:defRPr/>
            </a:pPr>
            <a:fld id="{C5159B33-0F56-4D60-AE47-5197437F17C4}" type="slidenum">
              <a:rPr lang="en-US"/>
              <a:pPr>
                <a:defRPr/>
              </a:pPr>
              <a:t>27</a:t>
            </a:fld>
            <a:endParaRPr lang="en-US"/>
          </a:p>
        </p:txBody>
      </p:sp>
      <p:sp>
        <p:nvSpPr>
          <p:cNvPr id="22"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89443" name="Rectangle 3"/>
          <p:cNvSpPr>
            <a:spLocks noChangeArrowheads="1"/>
          </p:cNvSpPr>
          <p:nvPr/>
        </p:nvSpPr>
        <p:spPr bwMode="auto">
          <a:xfrm>
            <a:off x="2362200" y="1905000"/>
            <a:ext cx="60991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dirty="0">
                <a:effectLst>
                  <a:outerShdw blurRad="38100" dist="38100" dir="2700000" algn="tl">
                    <a:srgbClr val="FFFFFF"/>
                  </a:outerShdw>
                </a:effectLst>
                <a:latin typeface="Helvetica" pitchFamily="-128" charset="0"/>
                <a:ea typeface="ＭＳ Ｐゴシック" pitchFamily="-128" charset="-128"/>
              </a:rPr>
              <a:t>Start at the innermost loop. Set all outer loops to their </a:t>
            </a:r>
          </a:p>
        </p:txBody>
      </p:sp>
      <p:sp>
        <p:nvSpPr>
          <p:cNvPr id="189444" name="Rectangle 4"/>
          <p:cNvSpPr>
            <a:spLocks noChangeArrowheads="1"/>
          </p:cNvSpPr>
          <p:nvPr/>
        </p:nvSpPr>
        <p:spPr bwMode="auto">
          <a:xfrm>
            <a:off x="2362200" y="2162175"/>
            <a:ext cx="4170363"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minimum iteration parameter values.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45" name="Rectangle 5"/>
          <p:cNvSpPr>
            <a:spLocks noChangeArrowheads="1"/>
          </p:cNvSpPr>
          <p:nvPr/>
        </p:nvSpPr>
        <p:spPr bwMode="auto">
          <a:xfrm>
            <a:off x="2362200" y="2276475"/>
            <a:ext cx="1809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46" name="Rectangle 6"/>
          <p:cNvSpPr>
            <a:spLocks noChangeArrowheads="1"/>
          </p:cNvSpPr>
          <p:nvPr/>
        </p:nvSpPr>
        <p:spPr bwMode="auto">
          <a:xfrm>
            <a:off x="2362200" y="2533650"/>
            <a:ext cx="5256213"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Test the min+1, typical, max-1 and max for the </a:t>
            </a:r>
          </a:p>
        </p:txBody>
      </p:sp>
      <p:sp>
        <p:nvSpPr>
          <p:cNvPr id="189447" name="Rectangle 7"/>
          <p:cNvSpPr>
            <a:spLocks noChangeArrowheads="1"/>
          </p:cNvSpPr>
          <p:nvPr/>
        </p:nvSpPr>
        <p:spPr bwMode="auto">
          <a:xfrm>
            <a:off x="2362200" y="2790825"/>
            <a:ext cx="60229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innermost loop, while holding the outer loops at their </a:t>
            </a:r>
          </a:p>
        </p:txBody>
      </p:sp>
      <p:sp>
        <p:nvSpPr>
          <p:cNvPr id="189448" name="Rectangle 8"/>
          <p:cNvSpPr>
            <a:spLocks noChangeArrowheads="1"/>
          </p:cNvSpPr>
          <p:nvPr/>
        </p:nvSpPr>
        <p:spPr bwMode="auto">
          <a:xfrm>
            <a:off x="2362200" y="3048000"/>
            <a:ext cx="20351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minimum values.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49" name="Rectangle 9"/>
          <p:cNvSpPr>
            <a:spLocks noChangeArrowheads="1"/>
          </p:cNvSpPr>
          <p:nvPr/>
        </p:nvSpPr>
        <p:spPr bwMode="auto">
          <a:xfrm>
            <a:off x="2362200" y="3305175"/>
            <a:ext cx="1809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50" name="Rectangle 10"/>
          <p:cNvSpPr>
            <a:spLocks noChangeArrowheads="1"/>
          </p:cNvSpPr>
          <p:nvPr/>
        </p:nvSpPr>
        <p:spPr bwMode="auto">
          <a:xfrm>
            <a:off x="2362200" y="3390900"/>
            <a:ext cx="62515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Move out one loop and set it up as in step 2, holding all </a:t>
            </a:r>
          </a:p>
        </p:txBody>
      </p:sp>
      <p:sp>
        <p:nvSpPr>
          <p:cNvPr id="189451" name="Rectangle 11"/>
          <p:cNvSpPr>
            <a:spLocks noChangeArrowheads="1"/>
          </p:cNvSpPr>
          <p:nvPr/>
        </p:nvSpPr>
        <p:spPr bwMode="auto">
          <a:xfrm>
            <a:off x="2362200" y="3648075"/>
            <a:ext cx="59848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other loops at typical values. Continue this step until </a:t>
            </a:r>
          </a:p>
        </p:txBody>
      </p:sp>
      <p:sp>
        <p:nvSpPr>
          <p:cNvPr id="189452" name="Rectangle 12"/>
          <p:cNvSpPr>
            <a:spLocks noChangeArrowheads="1"/>
          </p:cNvSpPr>
          <p:nvPr/>
        </p:nvSpPr>
        <p:spPr bwMode="auto">
          <a:xfrm>
            <a:off x="2362200" y="3905250"/>
            <a:ext cx="41052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the outermost loop has been tested.</a:t>
            </a:r>
          </a:p>
        </p:txBody>
      </p:sp>
      <p:sp>
        <p:nvSpPr>
          <p:cNvPr id="189453" name="Rectangle 13"/>
          <p:cNvSpPr>
            <a:spLocks noChangeArrowheads="1"/>
          </p:cNvSpPr>
          <p:nvPr/>
        </p:nvSpPr>
        <p:spPr bwMode="auto">
          <a:xfrm>
            <a:off x="2362200" y="4662488"/>
            <a:ext cx="49434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If the loops are independent of one another </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54" name="Rectangle 14"/>
          <p:cNvSpPr>
            <a:spLocks noChangeArrowheads="1"/>
          </p:cNvSpPr>
          <p:nvPr/>
        </p:nvSpPr>
        <p:spPr bwMode="auto">
          <a:xfrm>
            <a:off x="2362200" y="4919663"/>
            <a:ext cx="3840163"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   then treat each as a simple loop</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55" name="Rectangle 15"/>
          <p:cNvSpPr>
            <a:spLocks noChangeArrowheads="1"/>
          </p:cNvSpPr>
          <p:nvPr/>
        </p:nvSpPr>
        <p:spPr bwMode="auto">
          <a:xfrm>
            <a:off x="2362200" y="5176838"/>
            <a:ext cx="3255963"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   else* treat as nested loops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56" name="Rectangle 16"/>
          <p:cNvSpPr>
            <a:spLocks noChangeArrowheads="1"/>
          </p:cNvSpPr>
          <p:nvPr/>
        </p:nvSpPr>
        <p:spPr bwMode="auto">
          <a:xfrm>
            <a:off x="2362200" y="5434013"/>
            <a:ext cx="8794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err="1">
                <a:effectLst>
                  <a:outerShdw blurRad="38100" dist="38100" dir="2700000" algn="tl">
                    <a:srgbClr val="FFFFFF"/>
                  </a:outerShdw>
                </a:effectLst>
                <a:latin typeface="Helvetica" pitchFamily="-128" charset="0"/>
                <a:ea typeface="ＭＳ Ｐゴシック" pitchFamily="-128" charset="-128"/>
              </a:rPr>
              <a:t>endif</a:t>
            </a:r>
            <a:r>
              <a:rPr lang="en-US" sz="1800" b="1">
                <a:effectLst>
                  <a:outerShdw blurRad="38100" dist="38100" dir="2700000" algn="tl">
                    <a:srgbClr val="FFFFFF"/>
                  </a:outerShdw>
                </a:effectLst>
                <a:latin typeface="Helvetica" pitchFamily="-128" charset="0"/>
                <a:ea typeface="ＭＳ Ｐゴシック" pitchFamily="-128" charset="-128"/>
              </a:rPr>
              <a:t>* </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57" name="Rectangle 17"/>
          <p:cNvSpPr>
            <a:spLocks noChangeArrowheads="1"/>
          </p:cNvSpPr>
          <p:nvPr/>
        </p:nvSpPr>
        <p:spPr bwMode="auto">
          <a:xfrm>
            <a:off x="2362200" y="5691188"/>
            <a:ext cx="1809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89458" name="Rectangle 18"/>
          <p:cNvSpPr>
            <a:spLocks noChangeArrowheads="1"/>
          </p:cNvSpPr>
          <p:nvPr/>
        </p:nvSpPr>
        <p:spPr bwMode="auto">
          <a:xfrm>
            <a:off x="2362200" y="5819775"/>
            <a:ext cx="5897563"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i="1">
                <a:effectLst>
                  <a:outerShdw blurRad="38100" dist="38100" dir="2700000" algn="tl">
                    <a:srgbClr val="FFFFFF"/>
                  </a:outerShdw>
                </a:effectLst>
                <a:latin typeface="Helvetica" pitchFamily="-128" charset="0"/>
                <a:ea typeface="ＭＳ Ｐゴシック" pitchFamily="-128" charset="-128"/>
              </a:rPr>
              <a:t>for example, the final loop counter value of loop 1 is </a:t>
            </a:r>
          </a:p>
        </p:txBody>
      </p:sp>
      <p:sp>
        <p:nvSpPr>
          <p:cNvPr id="189459" name="Rectangle 19"/>
          <p:cNvSpPr>
            <a:spLocks noChangeArrowheads="1"/>
          </p:cNvSpPr>
          <p:nvPr/>
        </p:nvSpPr>
        <p:spPr bwMode="auto">
          <a:xfrm>
            <a:off x="2362200" y="6062663"/>
            <a:ext cx="2759075" cy="363537"/>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i="1">
                <a:effectLst>
                  <a:outerShdw blurRad="38100" dist="38100" dir="2700000" algn="tl">
                    <a:srgbClr val="FFFFFF"/>
                  </a:outerShdw>
                </a:effectLst>
                <a:latin typeface="Helvetica" pitchFamily="-128" charset="0"/>
                <a:ea typeface="ＭＳ Ｐゴシック" pitchFamily="-128" charset="-128"/>
              </a:rPr>
              <a:t>used to initialize loop 2.</a:t>
            </a:r>
          </a:p>
        </p:txBody>
      </p:sp>
      <p:sp>
        <p:nvSpPr>
          <p:cNvPr id="189460" name="Rectangle 20"/>
          <p:cNvSpPr>
            <a:spLocks noChangeArrowheads="1"/>
          </p:cNvSpPr>
          <p:nvPr/>
        </p:nvSpPr>
        <p:spPr bwMode="auto">
          <a:xfrm>
            <a:off x="1676400" y="1676400"/>
            <a:ext cx="16922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i="1" u="sng">
                <a:effectLst>
                  <a:outerShdw blurRad="38100" dist="38100" dir="2700000" algn="tl">
                    <a:srgbClr val="FFFFFF"/>
                  </a:outerShdw>
                </a:effectLst>
                <a:latin typeface="Helvetica" pitchFamily="-128" charset="0"/>
                <a:ea typeface="ＭＳ Ｐゴシック" pitchFamily="-128" charset="-128"/>
              </a:rPr>
              <a:t>Nested Loops</a:t>
            </a:r>
          </a:p>
        </p:txBody>
      </p:sp>
      <p:sp>
        <p:nvSpPr>
          <p:cNvPr id="189461" name="Rectangle 21"/>
          <p:cNvSpPr>
            <a:spLocks noChangeArrowheads="1"/>
          </p:cNvSpPr>
          <p:nvPr/>
        </p:nvSpPr>
        <p:spPr bwMode="auto">
          <a:xfrm>
            <a:off x="1739900" y="4248150"/>
            <a:ext cx="24415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i="1" u="sng">
                <a:effectLst>
                  <a:outerShdw blurRad="38100" dist="38100" dir="2700000" algn="tl">
                    <a:srgbClr val="FFFFFF"/>
                  </a:outerShdw>
                </a:effectLst>
                <a:latin typeface="Helvetica" pitchFamily="-128" charset="0"/>
                <a:ea typeface="ＭＳ Ｐゴシック" pitchFamily="-128" charset="-128"/>
              </a:rPr>
              <a:t>Concatenated Loops</a:t>
            </a:r>
          </a:p>
        </p:txBody>
      </p:sp>
    </p:spTree>
    <p:extLst>
      <p:ext uri="{BB962C8B-B14F-4D97-AF65-F5344CB8AC3E}">
        <p14:creationId xmlns:p14="http://schemas.microsoft.com/office/powerpoint/2010/main" val="257747687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457200"/>
          </a:xfrm>
        </p:spPr>
        <p:txBody>
          <a:bodyPr>
            <a:normAutofit fontScale="90000"/>
          </a:bodyPr>
          <a:lstStyle/>
          <a:p>
            <a:r>
              <a:rPr lang="en-US" sz="3100" b="1" kern="10" dirty="0">
                <a:ln w="12700">
                  <a:noFill/>
                  <a:round/>
                  <a:headEnd/>
                  <a:tailEnd/>
                </a:ln>
                <a:solidFill>
                  <a:srgbClr val="A04DA3"/>
                </a:solidFill>
                <a:latin typeface="+mn-lt"/>
                <a:ea typeface="Arial Black"/>
                <a:cs typeface="Arial Black"/>
              </a:rPr>
              <a:t>Example: </a:t>
            </a:r>
            <a:r>
              <a:rPr lang="en-US" sz="3100" b="1" kern="10" dirty="0">
                <a:ln w="12700">
                  <a:noFill/>
                  <a:round/>
                  <a:headEnd/>
                  <a:tailEnd/>
                </a:ln>
                <a:solidFill>
                  <a:schemeClr val="accent3">
                    <a:lumMod val="60000"/>
                    <a:lumOff val="40000"/>
                  </a:schemeClr>
                </a:solidFill>
                <a:latin typeface="+mn-lt"/>
                <a:ea typeface="Arial Black"/>
                <a:cs typeface="Arial Black"/>
              </a:rPr>
              <a:t>The Imperial Taxi Services (ITS) taximeter</a:t>
            </a:r>
            <a:br>
              <a:rPr lang="en-US" sz="3600" dirty="0">
                <a:solidFill>
                  <a:schemeClr val="accent3">
                    <a:lumMod val="60000"/>
                    <a:lumOff val="40000"/>
                  </a:schemeClr>
                </a:solidFill>
              </a:rPr>
            </a:br>
            <a:r>
              <a:rPr lang="en-US" sz="3600" b="1" kern="10" dirty="0">
                <a:ln w="12700">
                  <a:noFill/>
                  <a:round/>
                  <a:headEnd/>
                  <a:tailEnd/>
                </a:ln>
                <a:solidFill>
                  <a:schemeClr val="accent3">
                    <a:lumMod val="60000"/>
                    <a:lumOff val="40000"/>
                  </a:schemeClr>
                </a:solidFill>
                <a:latin typeface="+mn-lt"/>
                <a:ea typeface="Arial Black"/>
                <a:cs typeface="Arial Black"/>
              </a:rPr>
              <a:t> </a:t>
            </a:r>
          </a:p>
        </p:txBody>
      </p:sp>
      <p:sp>
        <p:nvSpPr>
          <p:cNvPr id="11265" name="Rectangle 2"/>
          <p:cNvSpPr>
            <a:spLocks noGrp="1" noChangeArrowheads="1"/>
          </p:cNvSpPr>
          <p:nvPr>
            <p:ph idx="1"/>
          </p:nvPr>
        </p:nvSpPr>
        <p:spPr bwMode="auto">
          <a:xfrm>
            <a:off x="304800" y="1828800"/>
            <a:ext cx="8610600" cy="4419600"/>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91440" tIns="45720" rIns="91440" bIns="45720" numCol="1" anchor="t" anchorCtr="0" compatLnSpc="1">
            <a:prstTxWarp prst="textNoShape">
              <a:avLst/>
            </a:prstTxWarp>
            <a:normAutofit/>
          </a:bodyPr>
          <a:lstStyle/>
          <a:p>
            <a:pPr marL="0" indent="0" rtl="0">
              <a:lnSpc>
                <a:spcPct val="110000"/>
              </a:lnSpc>
              <a:buNone/>
              <a:tabLst>
                <a:tab pos="457200" algn="l"/>
              </a:tabLst>
              <a:defRPr/>
            </a:pPr>
            <a:r>
              <a:rPr lang="en-US" sz="2000" dirty="0">
                <a:solidFill>
                  <a:schemeClr val="tx1">
                    <a:lumMod val="75000"/>
                    <a:lumOff val="25000"/>
                  </a:schemeClr>
                </a:solidFill>
                <a:latin typeface="+mn-lt"/>
                <a:cs typeface="+mn-cs"/>
              </a:rPr>
              <a:t>ITS taxi fares for one-time passengers are calculated as follows:</a:t>
            </a:r>
          </a:p>
          <a:p>
            <a:pPr marL="457200" indent="-457200" rtl="0">
              <a:lnSpc>
                <a:spcPct val="110000"/>
              </a:lnSpc>
              <a:buFont typeface="+mj-lt"/>
              <a:buAutoNum type="arabicPeriod"/>
              <a:tabLst>
                <a:tab pos="457200" algn="l"/>
              </a:tabLst>
              <a:defRPr/>
            </a:pPr>
            <a:r>
              <a:rPr lang="en-US" sz="2000" b="1" dirty="0">
                <a:solidFill>
                  <a:schemeClr val="accent1">
                    <a:lumMod val="75000"/>
                  </a:schemeClr>
                </a:solidFill>
                <a:latin typeface="+mn-lt"/>
                <a:cs typeface="+mn-cs"/>
              </a:rPr>
              <a:t>Minimal fare:  </a:t>
            </a:r>
            <a:r>
              <a:rPr lang="en-US" sz="2000" dirty="0">
                <a:solidFill>
                  <a:schemeClr val="accent1">
                    <a:lumMod val="75000"/>
                  </a:schemeClr>
                </a:solidFill>
                <a:latin typeface="+mn-lt"/>
                <a:cs typeface="+mn-cs"/>
              </a:rPr>
              <a:t>$2.  This fare covers the distance traveled up to 1000 yards and waiting time (stopping for traffic lights or traffic jams, etc.) of up to 3 minutes.</a:t>
            </a:r>
          </a:p>
          <a:p>
            <a:pPr marL="457200" indent="-457200" rtl="0">
              <a:lnSpc>
                <a:spcPct val="110000"/>
              </a:lnSpc>
              <a:buFont typeface="+mj-lt"/>
              <a:buAutoNum type="arabicPeriod"/>
              <a:tabLst>
                <a:tab pos="457200" algn="l"/>
              </a:tabLst>
              <a:defRPr/>
            </a:pPr>
            <a:r>
              <a:rPr lang="en-US" sz="2000" b="1" dirty="0">
                <a:solidFill>
                  <a:schemeClr val="accent1">
                    <a:lumMod val="75000"/>
                  </a:schemeClr>
                </a:solidFill>
                <a:latin typeface="+mn-lt"/>
                <a:cs typeface="+mn-cs"/>
              </a:rPr>
              <a:t>For very additional 250 yards or part of it:</a:t>
            </a:r>
            <a:r>
              <a:rPr lang="en-US" sz="2000" dirty="0">
                <a:solidFill>
                  <a:schemeClr val="accent1">
                    <a:lumMod val="75000"/>
                  </a:schemeClr>
                </a:solidFill>
                <a:latin typeface="+mn-lt"/>
                <a:cs typeface="+mn-cs"/>
              </a:rPr>
              <a:t>  25 cents.</a:t>
            </a:r>
          </a:p>
          <a:p>
            <a:pPr marL="457200" indent="-457200" rtl="0">
              <a:lnSpc>
                <a:spcPct val="110000"/>
              </a:lnSpc>
              <a:buFont typeface="+mj-lt"/>
              <a:buAutoNum type="arabicPeriod"/>
              <a:tabLst>
                <a:tab pos="457200" algn="l"/>
              </a:tabLst>
              <a:defRPr/>
            </a:pPr>
            <a:r>
              <a:rPr lang="en-US" sz="2000" b="1" dirty="0">
                <a:solidFill>
                  <a:schemeClr val="accent1">
                    <a:lumMod val="75000"/>
                  </a:schemeClr>
                </a:solidFill>
                <a:latin typeface="+mn-lt"/>
                <a:cs typeface="+mn-cs"/>
              </a:rPr>
              <a:t>For every additional 2 minutes of stopping or waiting or part thereof:</a:t>
            </a:r>
            <a:r>
              <a:rPr lang="en-US" sz="2000" dirty="0">
                <a:solidFill>
                  <a:schemeClr val="accent1">
                    <a:lumMod val="75000"/>
                  </a:schemeClr>
                </a:solidFill>
                <a:latin typeface="+mn-lt"/>
                <a:cs typeface="+mn-cs"/>
              </a:rPr>
              <a:t>  20 cents.</a:t>
            </a:r>
          </a:p>
          <a:p>
            <a:pPr marL="457200" indent="-457200" rtl="0">
              <a:lnSpc>
                <a:spcPct val="110000"/>
              </a:lnSpc>
              <a:buFont typeface="+mj-lt"/>
              <a:buAutoNum type="arabicPeriod"/>
              <a:tabLst>
                <a:tab pos="457200" algn="l"/>
              </a:tabLst>
              <a:defRPr/>
            </a:pPr>
            <a:r>
              <a:rPr lang="en-US" sz="2000" b="1" dirty="0">
                <a:solidFill>
                  <a:schemeClr val="accent1">
                    <a:lumMod val="75000"/>
                  </a:schemeClr>
                </a:solidFill>
                <a:latin typeface="+mn-lt"/>
                <a:cs typeface="+mn-cs"/>
              </a:rPr>
              <a:t>One suitcase:  </a:t>
            </a:r>
            <a:r>
              <a:rPr lang="en-US" sz="2000" dirty="0">
                <a:solidFill>
                  <a:schemeClr val="accent1">
                    <a:lumMod val="75000"/>
                  </a:schemeClr>
                </a:solidFill>
                <a:latin typeface="+mn-lt"/>
                <a:cs typeface="+mn-cs"/>
              </a:rPr>
              <a:t>0 change; each additional suitcase:  $1.</a:t>
            </a:r>
          </a:p>
          <a:p>
            <a:pPr marL="457200" indent="-457200" rtl="0">
              <a:lnSpc>
                <a:spcPct val="110000"/>
              </a:lnSpc>
              <a:buFont typeface="+mj-lt"/>
              <a:buAutoNum type="arabicPeriod"/>
              <a:tabLst>
                <a:tab pos="457200" algn="l"/>
              </a:tabLst>
              <a:defRPr/>
            </a:pPr>
            <a:r>
              <a:rPr lang="en-US" sz="2000" b="1" dirty="0">
                <a:solidFill>
                  <a:schemeClr val="accent1">
                    <a:lumMod val="75000"/>
                  </a:schemeClr>
                </a:solidFill>
                <a:latin typeface="+mn-lt"/>
                <a:cs typeface="+mn-cs"/>
              </a:rPr>
              <a:t>Night supplement:  </a:t>
            </a:r>
            <a:r>
              <a:rPr lang="en-US" sz="2000" dirty="0">
                <a:solidFill>
                  <a:schemeClr val="accent1">
                    <a:lumMod val="75000"/>
                  </a:schemeClr>
                </a:solidFill>
                <a:latin typeface="+mn-lt"/>
                <a:cs typeface="+mn-cs"/>
              </a:rPr>
              <a:t>25%, effective for journeys between 21.00 and 06.00. </a:t>
            </a:r>
          </a:p>
          <a:p>
            <a:pPr marL="0" indent="0" rtl="0">
              <a:lnSpc>
                <a:spcPct val="110000"/>
              </a:lnSpc>
              <a:buNone/>
              <a:tabLst>
                <a:tab pos="457200" algn="l"/>
              </a:tabLst>
              <a:defRPr/>
            </a:pPr>
            <a:r>
              <a:rPr lang="en-US" sz="2000" dirty="0">
                <a:solidFill>
                  <a:schemeClr val="tx1">
                    <a:lumMod val="75000"/>
                    <a:lumOff val="25000"/>
                  </a:schemeClr>
                </a:solidFill>
                <a:latin typeface="+mn-lt"/>
                <a:cs typeface="+mn-cs"/>
              </a:rPr>
              <a:t>Regular clients are entitled to a 10% discount and are not charged the night supplement. </a:t>
            </a:r>
          </a:p>
          <a:p>
            <a:pPr marL="0" indent="0" rtl="0">
              <a:lnSpc>
                <a:spcPct val="110000"/>
              </a:lnSpc>
              <a:buClrTx/>
              <a:buNone/>
            </a:pPr>
            <a:endParaRPr lang="en-US" sz="2000" dirty="0">
              <a:solidFill>
                <a:schemeClr val="tx1">
                  <a:lumMod val="75000"/>
                  <a:lumOff val="25000"/>
                </a:schemeClr>
              </a:solidFill>
            </a:endParaRPr>
          </a:p>
        </p:txBody>
      </p:sp>
    </p:spTree>
    <p:extLst>
      <p:ext uri="{BB962C8B-B14F-4D97-AF65-F5344CB8AC3E}">
        <p14:creationId xmlns:p14="http://schemas.microsoft.com/office/powerpoint/2010/main" val="2204099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4-10-22 at 8.03.47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52700" y="0"/>
            <a:ext cx="4035490" cy="6858000"/>
          </a:xfrm>
          <a:prstGeom prst="rect">
            <a:avLst/>
          </a:prstGeom>
          <a:solidFill>
            <a:schemeClr val="bg1"/>
          </a:solidFill>
        </p:spPr>
      </p:pic>
      <p:sp>
        <p:nvSpPr>
          <p:cNvPr id="5" name="Rectangle 4"/>
          <p:cNvSpPr/>
          <p:nvPr/>
        </p:nvSpPr>
        <p:spPr>
          <a:xfrm>
            <a:off x="5334000" y="6477000"/>
            <a:ext cx="2209800" cy="381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WordArt 79"/>
          <p:cNvSpPr>
            <a:spLocks noChangeArrowheads="1" noChangeShapeType="1" noTextEdit="1"/>
          </p:cNvSpPr>
          <p:nvPr/>
        </p:nvSpPr>
        <p:spPr bwMode="auto">
          <a:xfrm rot="16200000">
            <a:off x="-1481931" y="3082131"/>
            <a:ext cx="4114800" cy="388937"/>
          </a:xfrm>
          <a:prstGeom prst="rect">
            <a:avLst/>
          </a:prstGeom>
          <a:ln>
            <a:noFill/>
          </a:ln>
        </p:spPr>
        <p:txBody>
          <a:bodyPr wrap="none" fromWordArt="1">
            <a:prstTxWarp prst="textPlain">
              <a:avLst>
                <a:gd name="adj" fmla="val 50000"/>
              </a:avLst>
            </a:prstTxWarp>
          </a:bodyPr>
          <a:lstStyle/>
          <a:p>
            <a:pPr algn="ctr"/>
            <a:r>
              <a:rPr lang="en-US" sz="3600" kern="10">
                <a:ln w="12700">
                  <a:solidFill>
                    <a:srgbClr val="FFFFFF"/>
                  </a:solidFill>
                  <a:round/>
                  <a:headEnd/>
                  <a:tailEnd/>
                </a:ln>
                <a:solidFill>
                  <a:schemeClr val="accent2"/>
                </a:solidFill>
                <a:latin typeface="Arial Black"/>
                <a:ea typeface="Arial Black"/>
                <a:cs typeface="Arial Black"/>
              </a:rPr>
              <a:t>ITS -  Flow chart</a:t>
            </a:r>
          </a:p>
        </p:txBody>
      </p:sp>
    </p:spTree>
    <p:extLst>
      <p:ext uri="{BB962C8B-B14F-4D97-AF65-F5344CB8AC3E}">
        <p14:creationId xmlns:p14="http://schemas.microsoft.com/office/powerpoint/2010/main" val="2967795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Oval 3"/>
          <p:cNvSpPr>
            <a:spLocks noChangeArrowheads="1"/>
          </p:cNvSpPr>
          <p:nvPr/>
        </p:nvSpPr>
        <p:spPr bwMode="auto">
          <a:xfrm>
            <a:off x="2411413" y="2941638"/>
            <a:ext cx="360362"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3</a:t>
            </a:r>
          </a:p>
        </p:txBody>
      </p:sp>
      <p:sp>
        <p:nvSpPr>
          <p:cNvPr id="88071" name="Oval 7"/>
          <p:cNvSpPr>
            <a:spLocks noChangeArrowheads="1"/>
          </p:cNvSpPr>
          <p:nvPr/>
        </p:nvSpPr>
        <p:spPr bwMode="auto">
          <a:xfrm>
            <a:off x="2411413" y="3602038"/>
            <a:ext cx="360362" cy="36195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6</a:t>
            </a:r>
          </a:p>
        </p:txBody>
      </p:sp>
      <p:sp>
        <p:nvSpPr>
          <p:cNvPr id="88072" name="Oval 8"/>
          <p:cNvSpPr>
            <a:spLocks noChangeArrowheads="1"/>
          </p:cNvSpPr>
          <p:nvPr/>
        </p:nvSpPr>
        <p:spPr bwMode="auto">
          <a:xfrm>
            <a:off x="2411413" y="4264025"/>
            <a:ext cx="360362" cy="36195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9</a:t>
            </a:r>
          </a:p>
        </p:txBody>
      </p:sp>
      <p:sp>
        <p:nvSpPr>
          <p:cNvPr id="88073" name="Oval 9"/>
          <p:cNvSpPr>
            <a:spLocks noChangeArrowheads="1"/>
          </p:cNvSpPr>
          <p:nvPr/>
        </p:nvSpPr>
        <p:spPr bwMode="auto">
          <a:xfrm>
            <a:off x="2411413" y="4986338"/>
            <a:ext cx="360362"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12</a:t>
            </a:r>
          </a:p>
        </p:txBody>
      </p:sp>
      <p:sp>
        <p:nvSpPr>
          <p:cNvPr id="88074" name="Oval 10"/>
          <p:cNvSpPr>
            <a:spLocks noChangeArrowheads="1"/>
          </p:cNvSpPr>
          <p:nvPr/>
        </p:nvSpPr>
        <p:spPr bwMode="auto">
          <a:xfrm>
            <a:off x="4335463" y="3181350"/>
            <a:ext cx="360362" cy="360363"/>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5</a:t>
            </a:r>
          </a:p>
        </p:txBody>
      </p:sp>
      <p:sp>
        <p:nvSpPr>
          <p:cNvPr id="88075" name="Oval 11"/>
          <p:cNvSpPr>
            <a:spLocks noChangeArrowheads="1"/>
          </p:cNvSpPr>
          <p:nvPr/>
        </p:nvSpPr>
        <p:spPr bwMode="auto">
          <a:xfrm>
            <a:off x="4335463" y="2519363"/>
            <a:ext cx="360362" cy="36195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2</a:t>
            </a:r>
          </a:p>
        </p:txBody>
      </p:sp>
      <p:sp>
        <p:nvSpPr>
          <p:cNvPr id="88076" name="Oval 12"/>
          <p:cNvSpPr>
            <a:spLocks noChangeArrowheads="1"/>
          </p:cNvSpPr>
          <p:nvPr/>
        </p:nvSpPr>
        <p:spPr bwMode="auto">
          <a:xfrm>
            <a:off x="4335463" y="1858963"/>
            <a:ext cx="360362"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a:t>
            </a:r>
          </a:p>
        </p:txBody>
      </p:sp>
      <p:sp>
        <p:nvSpPr>
          <p:cNvPr id="88077" name="Oval 13"/>
          <p:cNvSpPr>
            <a:spLocks noChangeArrowheads="1"/>
          </p:cNvSpPr>
          <p:nvPr/>
        </p:nvSpPr>
        <p:spPr bwMode="auto">
          <a:xfrm>
            <a:off x="4335463" y="3903663"/>
            <a:ext cx="360362"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8</a:t>
            </a:r>
          </a:p>
        </p:txBody>
      </p:sp>
      <p:sp>
        <p:nvSpPr>
          <p:cNvPr id="88078" name="Oval 14"/>
          <p:cNvSpPr>
            <a:spLocks noChangeArrowheads="1"/>
          </p:cNvSpPr>
          <p:nvPr/>
        </p:nvSpPr>
        <p:spPr bwMode="auto">
          <a:xfrm>
            <a:off x="4395788" y="4625975"/>
            <a:ext cx="360362" cy="360363"/>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11</a:t>
            </a:r>
          </a:p>
        </p:txBody>
      </p:sp>
      <p:sp>
        <p:nvSpPr>
          <p:cNvPr id="88079" name="Oval 15"/>
          <p:cNvSpPr>
            <a:spLocks noChangeArrowheads="1"/>
          </p:cNvSpPr>
          <p:nvPr/>
        </p:nvSpPr>
        <p:spPr bwMode="auto">
          <a:xfrm>
            <a:off x="4395788" y="5286375"/>
            <a:ext cx="360362" cy="36195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15</a:t>
            </a:r>
          </a:p>
        </p:txBody>
      </p:sp>
      <p:sp>
        <p:nvSpPr>
          <p:cNvPr id="88080" name="Oval 16"/>
          <p:cNvSpPr>
            <a:spLocks noChangeArrowheads="1"/>
          </p:cNvSpPr>
          <p:nvPr/>
        </p:nvSpPr>
        <p:spPr bwMode="auto">
          <a:xfrm>
            <a:off x="6261100" y="2760663"/>
            <a:ext cx="360363"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4</a:t>
            </a:r>
          </a:p>
        </p:txBody>
      </p:sp>
      <p:sp>
        <p:nvSpPr>
          <p:cNvPr id="88081" name="Oval 17"/>
          <p:cNvSpPr>
            <a:spLocks noChangeArrowheads="1"/>
          </p:cNvSpPr>
          <p:nvPr/>
        </p:nvSpPr>
        <p:spPr bwMode="auto">
          <a:xfrm>
            <a:off x="4395788" y="5948363"/>
            <a:ext cx="360362"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17</a:t>
            </a:r>
          </a:p>
        </p:txBody>
      </p:sp>
      <p:sp>
        <p:nvSpPr>
          <p:cNvPr id="88082" name="Oval 18"/>
          <p:cNvSpPr>
            <a:spLocks noChangeArrowheads="1"/>
          </p:cNvSpPr>
          <p:nvPr/>
        </p:nvSpPr>
        <p:spPr bwMode="auto">
          <a:xfrm>
            <a:off x="6321425" y="3482975"/>
            <a:ext cx="360363" cy="360363"/>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7</a:t>
            </a:r>
          </a:p>
        </p:txBody>
      </p:sp>
      <p:sp>
        <p:nvSpPr>
          <p:cNvPr id="88083" name="Oval 19"/>
          <p:cNvSpPr>
            <a:spLocks noChangeArrowheads="1"/>
          </p:cNvSpPr>
          <p:nvPr/>
        </p:nvSpPr>
        <p:spPr bwMode="auto">
          <a:xfrm>
            <a:off x="6321425" y="5527675"/>
            <a:ext cx="360363" cy="360363"/>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16</a:t>
            </a:r>
          </a:p>
        </p:txBody>
      </p:sp>
      <p:sp>
        <p:nvSpPr>
          <p:cNvPr id="88084" name="Oval 20"/>
          <p:cNvSpPr>
            <a:spLocks noChangeArrowheads="1"/>
          </p:cNvSpPr>
          <p:nvPr/>
        </p:nvSpPr>
        <p:spPr bwMode="auto">
          <a:xfrm>
            <a:off x="6321425" y="4264025"/>
            <a:ext cx="360363" cy="36195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10</a:t>
            </a:r>
          </a:p>
        </p:txBody>
      </p:sp>
      <p:sp>
        <p:nvSpPr>
          <p:cNvPr id="88085" name="Oval 21"/>
          <p:cNvSpPr>
            <a:spLocks noChangeArrowheads="1"/>
          </p:cNvSpPr>
          <p:nvPr/>
        </p:nvSpPr>
        <p:spPr bwMode="auto">
          <a:xfrm>
            <a:off x="6321425" y="4926013"/>
            <a:ext cx="360363"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13</a:t>
            </a:r>
          </a:p>
        </p:txBody>
      </p:sp>
      <p:sp>
        <p:nvSpPr>
          <p:cNvPr id="88086" name="Oval 22"/>
          <p:cNvSpPr>
            <a:spLocks noChangeArrowheads="1"/>
          </p:cNvSpPr>
          <p:nvPr/>
        </p:nvSpPr>
        <p:spPr bwMode="auto">
          <a:xfrm>
            <a:off x="5357813" y="5167313"/>
            <a:ext cx="361950" cy="360362"/>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14</a:t>
            </a:r>
          </a:p>
        </p:txBody>
      </p:sp>
      <p:sp>
        <p:nvSpPr>
          <p:cNvPr id="88087" name="Line 23"/>
          <p:cNvSpPr>
            <a:spLocks noChangeShapeType="1"/>
          </p:cNvSpPr>
          <p:nvPr/>
        </p:nvSpPr>
        <p:spPr bwMode="auto">
          <a:xfrm flipH="1">
            <a:off x="2771775" y="2760663"/>
            <a:ext cx="1563688"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88" name="Line 24"/>
          <p:cNvSpPr>
            <a:spLocks noChangeShapeType="1"/>
          </p:cNvSpPr>
          <p:nvPr/>
        </p:nvSpPr>
        <p:spPr bwMode="auto">
          <a:xfrm flipH="1">
            <a:off x="2771775" y="4865688"/>
            <a:ext cx="1624013" cy="301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89" name="Line 25"/>
          <p:cNvSpPr>
            <a:spLocks noChangeShapeType="1"/>
          </p:cNvSpPr>
          <p:nvPr/>
        </p:nvSpPr>
        <p:spPr bwMode="auto">
          <a:xfrm flipH="1">
            <a:off x="2771775" y="4084638"/>
            <a:ext cx="1563688" cy="3000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0" name="Line 26"/>
          <p:cNvSpPr>
            <a:spLocks noChangeShapeType="1"/>
          </p:cNvSpPr>
          <p:nvPr/>
        </p:nvSpPr>
        <p:spPr bwMode="auto">
          <a:xfrm flipH="1">
            <a:off x="4695825" y="2941638"/>
            <a:ext cx="1565275" cy="3603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1" name="Line 27"/>
          <p:cNvSpPr>
            <a:spLocks noChangeShapeType="1"/>
          </p:cNvSpPr>
          <p:nvPr/>
        </p:nvSpPr>
        <p:spPr bwMode="auto">
          <a:xfrm flipH="1">
            <a:off x="4695825" y="3722688"/>
            <a:ext cx="1625600" cy="301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2" name="Line 28"/>
          <p:cNvSpPr>
            <a:spLocks noChangeShapeType="1"/>
          </p:cNvSpPr>
          <p:nvPr/>
        </p:nvSpPr>
        <p:spPr bwMode="auto">
          <a:xfrm flipH="1">
            <a:off x="2771775" y="3422650"/>
            <a:ext cx="1563688" cy="300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3" name="Line 29"/>
          <p:cNvSpPr>
            <a:spLocks noChangeShapeType="1"/>
          </p:cNvSpPr>
          <p:nvPr/>
        </p:nvSpPr>
        <p:spPr bwMode="auto">
          <a:xfrm>
            <a:off x="2771775" y="3843338"/>
            <a:ext cx="1563688"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4" name="Line 30"/>
          <p:cNvSpPr>
            <a:spLocks noChangeShapeType="1"/>
          </p:cNvSpPr>
          <p:nvPr/>
        </p:nvSpPr>
        <p:spPr bwMode="auto">
          <a:xfrm flipH="1">
            <a:off x="4756150" y="5767388"/>
            <a:ext cx="1565275" cy="301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5" name="Line 31"/>
          <p:cNvSpPr>
            <a:spLocks noChangeShapeType="1"/>
          </p:cNvSpPr>
          <p:nvPr/>
        </p:nvSpPr>
        <p:spPr bwMode="auto">
          <a:xfrm flipH="1">
            <a:off x="4756150" y="5346700"/>
            <a:ext cx="601663" cy="1206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6" name="Line 32"/>
          <p:cNvSpPr>
            <a:spLocks noChangeShapeType="1"/>
          </p:cNvSpPr>
          <p:nvPr/>
        </p:nvSpPr>
        <p:spPr bwMode="auto">
          <a:xfrm flipH="1">
            <a:off x="5719763" y="5167313"/>
            <a:ext cx="601662" cy="1190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7" name="Line 33"/>
          <p:cNvSpPr>
            <a:spLocks noChangeShapeType="1"/>
          </p:cNvSpPr>
          <p:nvPr/>
        </p:nvSpPr>
        <p:spPr bwMode="auto">
          <a:xfrm flipH="1">
            <a:off x="4756150" y="4505325"/>
            <a:ext cx="1565275" cy="300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8" name="Line 34"/>
          <p:cNvSpPr>
            <a:spLocks noChangeShapeType="1"/>
          </p:cNvSpPr>
          <p:nvPr/>
        </p:nvSpPr>
        <p:spPr bwMode="auto">
          <a:xfrm>
            <a:off x="2771775" y="5226050"/>
            <a:ext cx="1624013" cy="84296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099" name="Line 35"/>
          <p:cNvSpPr>
            <a:spLocks noChangeShapeType="1"/>
          </p:cNvSpPr>
          <p:nvPr/>
        </p:nvSpPr>
        <p:spPr bwMode="auto">
          <a:xfrm>
            <a:off x="4695825" y="3422650"/>
            <a:ext cx="1625600" cy="1793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0" name="Line 36"/>
          <p:cNvSpPr>
            <a:spLocks noChangeShapeType="1"/>
          </p:cNvSpPr>
          <p:nvPr/>
        </p:nvSpPr>
        <p:spPr bwMode="auto">
          <a:xfrm>
            <a:off x="2771775" y="3181350"/>
            <a:ext cx="1563688"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1" name="Line 37"/>
          <p:cNvSpPr>
            <a:spLocks noChangeShapeType="1"/>
          </p:cNvSpPr>
          <p:nvPr/>
        </p:nvSpPr>
        <p:spPr bwMode="auto">
          <a:xfrm>
            <a:off x="4695825" y="4143375"/>
            <a:ext cx="1625600" cy="3016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2" name="Line 38"/>
          <p:cNvSpPr>
            <a:spLocks noChangeShapeType="1"/>
          </p:cNvSpPr>
          <p:nvPr/>
        </p:nvSpPr>
        <p:spPr bwMode="auto">
          <a:xfrm>
            <a:off x="4756150" y="4865688"/>
            <a:ext cx="1565275"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3" name="Line 39"/>
          <p:cNvSpPr>
            <a:spLocks noChangeShapeType="1"/>
          </p:cNvSpPr>
          <p:nvPr/>
        </p:nvSpPr>
        <p:spPr bwMode="auto">
          <a:xfrm>
            <a:off x="2771775" y="4505325"/>
            <a:ext cx="1624013" cy="23971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4" name="Line 40"/>
          <p:cNvSpPr>
            <a:spLocks noChangeShapeType="1"/>
          </p:cNvSpPr>
          <p:nvPr/>
        </p:nvSpPr>
        <p:spPr bwMode="auto">
          <a:xfrm>
            <a:off x="4695825" y="2700338"/>
            <a:ext cx="1565275"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5" name="Line 41"/>
          <p:cNvSpPr>
            <a:spLocks noChangeShapeType="1"/>
          </p:cNvSpPr>
          <p:nvPr/>
        </p:nvSpPr>
        <p:spPr bwMode="auto">
          <a:xfrm>
            <a:off x="5659438" y="5467350"/>
            <a:ext cx="661987" cy="1809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6" name="Line 42"/>
          <p:cNvSpPr>
            <a:spLocks noChangeShapeType="1"/>
          </p:cNvSpPr>
          <p:nvPr/>
        </p:nvSpPr>
        <p:spPr bwMode="auto">
          <a:xfrm flipH="1">
            <a:off x="4516438" y="2219325"/>
            <a:ext cx="0" cy="300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7" name="Line 43"/>
          <p:cNvSpPr>
            <a:spLocks noChangeShapeType="1"/>
          </p:cNvSpPr>
          <p:nvPr/>
        </p:nvSpPr>
        <p:spPr bwMode="auto">
          <a:xfrm flipH="1">
            <a:off x="4516438" y="1617663"/>
            <a:ext cx="0" cy="2413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8" name="Line 44"/>
          <p:cNvSpPr>
            <a:spLocks noChangeShapeType="1"/>
          </p:cNvSpPr>
          <p:nvPr/>
        </p:nvSpPr>
        <p:spPr bwMode="auto">
          <a:xfrm flipH="1">
            <a:off x="4576763" y="6308725"/>
            <a:ext cx="0" cy="24130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09" name="Line 45"/>
          <p:cNvSpPr>
            <a:spLocks noChangeShapeType="1"/>
          </p:cNvSpPr>
          <p:nvPr/>
        </p:nvSpPr>
        <p:spPr bwMode="auto">
          <a:xfrm flipH="1">
            <a:off x="4576763" y="5648325"/>
            <a:ext cx="0" cy="30003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8110" name="Text Box 46"/>
          <p:cNvSpPr txBox="1">
            <a:spLocks noChangeArrowheads="1"/>
          </p:cNvSpPr>
          <p:nvPr/>
        </p:nvSpPr>
        <p:spPr bwMode="auto">
          <a:xfrm>
            <a:off x="4637088" y="2820988"/>
            <a:ext cx="79851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R1</a:t>
            </a:r>
          </a:p>
        </p:txBody>
      </p:sp>
      <p:sp>
        <p:nvSpPr>
          <p:cNvPr id="88111" name="Text Box 47"/>
          <p:cNvSpPr txBox="1">
            <a:spLocks noChangeArrowheads="1"/>
          </p:cNvSpPr>
          <p:nvPr/>
        </p:nvSpPr>
        <p:spPr bwMode="auto">
          <a:xfrm>
            <a:off x="4637088" y="3541713"/>
            <a:ext cx="87153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R2</a:t>
            </a:r>
          </a:p>
        </p:txBody>
      </p:sp>
      <p:sp>
        <p:nvSpPr>
          <p:cNvPr id="88112" name="Text Box 48"/>
          <p:cNvSpPr txBox="1">
            <a:spLocks noChangeArrowheads="1"/>
          </p:cNvSpPr>
          <p:nvPr/>
        </p:nvSpPr>
        <p:spPr bwMode="auto">
          <a:xfrm>
            <a:off x="4756150" y="4264025"/>
            <a:ext cx="8953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R3</a:t>
            </a:r>
          </a:p>
        </p:txBody>
      </p:sp>
      <p:sp>
        <p:nvSpPr>
          <p:cNvPr id="88113" name="Text Box 49"/>
          <p:cNvSpPr txBox="1">
            <a:spLocks noChangeArrowheads="1"/>
          </p:cNvSpPr>
          <p:nvPr/>
        </p:nvSpPr>
        <p:spPr bwMode="auto">
          <a:xfrm>
            <a:off x="4937125" y="5529263"/>
            <a:ext cx="85883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R5</a:t>
            </a:r>
          </a:p>
        </p:txBody>
      </p:sp>
      <p:sp>
        <p:nvSpPr>
          <p:cNvPr id="88114" name="Text Box 50"/>
          <p:cNvSpPr txBox="1">
            <a:spLocks noChangeArrowheads="1"/>
          </p:cNvSpPr>
          <p:nvPr/>
        </p:nvSpPr>
        <p:spPr bwMode="auto">
          <a:xfrm>
            <a:off x="3673475" y="5167313"/>
            <a:ext cx="8985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R4</a:t>
            </a:r>
          </a:p>
        </p:txBody>
      </p:sp>
      <p:sp>
        <p:nvSpPr>
          <p:cNvPr id="88115" name="Text Box 51"/>
          <p:cNvSpPr txBox="1">
            <a:spLocks noChangeArrowheads="1"/>
          </p:cNvSpPr>
          <p:nvPr/>
        </p:nvSpPr>
        <p:spPr bwMode="auto">
          <a:xfrm>
            <a:off x="1568450" y="4143375"/>
            <a:ext cx="7000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R6</a:t>
            </a:r>
          </a:p>
        </p:txBody>
      </p:sp>
      <p:sp>
        <p:nvSpPr>
          <p:cNvPr id="15407" name="WordArt 53"/>
          <p:cNvSpPr>
            <a:spLocks noChangeArrowheads="1" noChangeShapeType="1" noTextEdit="1"/>
          </p:cNvSpPr>
          <p:nvPr/>
        </p:nvSpPr>
        <p:spPr bwMode="auto">
          <a:xfrm rot="16200000">
            <a:off x="-2476498" y="3390898"/>
            <a:ext cx="6095998" cy="533400"/>
          </a:xfrm>
          <a:prstGeom prst="rect">
            <a:avLst/>
          </a:prstGeom>
          <a:ln>
            <a:noFill/>
          </a:ln>
        </p:spPr>
        <p:txBody>
          <a:bodyPr wrap="none" numCol="1" fromWordArt="1">
            <a:prstTxWarp prst="textPlain">
              <a:avLst>
                <a:gd name="adj" fmla="val 50000"/>
              </a:avLst>
            </a:prstTxWarp>
          </a:bodyPr>
          <a:lstStyle/>
          <a:p>
            <a:pPr algn="ctr"/>
            <a:r>
              <a:rPr lang="en-US" sz="3600" kern="10">
                <a:ln w="12700">
                  <a:noFill/>
                  <a:round/>
                  <a:headEnd/>
                  <a:tailEnd/>
                </a:ln>
                <a:solidFill>
                  <a:schemeClr val="accent2"/>
                </a:solidFill>
                <a:latin typeface="Arial Black"/>
                <a:ea typeface="Arial Black"/>
                <a:cs typeface="Arial Black"/>
              </a:rPr>
              <a:t>ITS – Program flow graph</a:t>
            </a:r>
          </a:p>
        </p:txBody>
      </p:sp>
      <p:sp>
        <p:nvSpPr>
          <p:cNvPr id="49" name="Text Placeholder 5"/>
          <p:cNvSpPr txBox="1">
            <a:spLocks/>
          </p:cNvSpPr>
          <p:nvPr/>
        </p:nvSpPr>
        <p:spPr>
          <a:xfrm>
            <a:off x="1066800" y="762000"/>
            <a:ext cx="7772400" cy="1295400"/>
          </a:xfrm>
          <a:prstGeom prst="rect">
            <a:avLst/>
          </a:prstGeom>
        </p:spPr>
        <p:txBody>
          <a:bodyPr>
            <a:normAutofit/>
          </a:bodyPr>
          <a:lst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a:lstStyle>
          <a:p>
            <a:pPr marL="109728" indent="0">
              <a:buNone/>
            </a:pPr>
            <a:r>
              <a:rPr lang="en-US" sz="2000" b="1" dirty="0">
                <a:solidFill>
                  <a:srgbClr val="53548A"/>
                </a:solidFill>
              </a:rPr>
              <a:t>Full line coverage </a:t>
            </a:r>
            <a:r>
              <a:rPr lang="en-US" sz="2000" dirty="0"/>
              <a:t>of the ITS software module can be reached by inspecting </a:t>
            </a:r>
            <a:r>
              <a:rPr lang="en-US" sz="2000" b="1" dirty="0">
                <a:solidFill>
                  <a:schemeClr val="accent3"/>
                </a:solidFill>
              </a:rPr>
              <a:t>the minimum number of paths.</a:t>
            </a:r>
            <a:endParaRPr lang="en-US" sz="2000" dirty="0">
              <a:solidFill>
                <a:schemeClr val="accent3"/>
              </a:solidFill>
            </a:endParaRPr>
          </a:p>
        </p:txBody>
      </p:sp>
    </p:spTree>
    <p:extLst>
      <p:ext uri="{BB962C8B-B14F-4D97-AF65-F5344CB8AC3E}">
        <p14:creationId xmlns:p14="http://schemas.microsoft.com/office/powerpoint/2010/main" val="757681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Oval 3"/>
          <p:cNvSpPr>
            <a:spLocks noChangeArrowheads="1"/>
          </p:cNvSpPr>
          <p:nvPr/>
        </p:nvSpPr>
        <p:spPr bwMode="auto">
          <a:xfrm>
            <a:off x="2428875" y="3184525"/>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3</a:t>
            </a:r>
          </a:p>
        </p:txBody>
      </p:sp>
      <p:sp>
        <p:nvSpPr>
          <p:cNvPr id="91140" name="Oval 4"/>
          <p:cNvSpPr>
            <a:spLocks noChangeArrowheads="1"/>
          </p:cNvSpPr>
          <p:nvPr/>
        </p:nvSpPr>
        <p:spPr bwMode="auto">
          <a:xfrm>
            <a:off x="2428875" y="3836988"/>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6</a:t>
            </a:r>
          </a:p>
        </p:txBody>
      </p:sp>
      <p:sp>
        <p:nvSpPr>
          <p:cNvPr id="91141" name="Oval 5"/>
          <p:cNvSpPr>
            <a:spLocks noChangeArrowheads="1"/>
          </p:cNvSpPr>
          <p:nvPr/>
        </p:nvSpPr>
        <p:spPr bwMode="auto">
          <a:xfrm>
            <a:off x="2428875" y="448945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9</a:t>
            </a:r>
          </a:p>
        </p:txBody>
      </p:sp>
      <p:sp>
        <p:nvSpPr>
          <p:cNvPr id="91142" name="Oval 6"/>
          <p:cNvSpPr>
            <a:spLocks noChangeArrowheads="1"/>
          </p:cNvSpPr>
          <p:nvPr/>
        </p:nvSpPr>
        <p:spPr bwMode="auto">
          <a:xfrm>
            <a:off x="2428875" y="520065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12</a:t>
            </a:r>
          </a:p>
        </p:txBody>
      </p:sp>
      <p:sp>
        <p:nvSpPr>
          <p:cNvPr id="91143" name="Oval 7"/>
          <p:cNvSpPr>
            <a:spLocks noChangeArrowheads="1"/>
          </p:cNvSpPr>
          <p:nvPr/>
        </p:nvSpPr>
        <p:spPr bwMode="auto">
          <a:xfrm>
            <a:off x="4325938" y="3421063"/>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5</a:t>
            </a:r>
          </a:p>
        </p:txBody>
      </p:sp>
      <p:sp>
        <p:nvSpPr>
          <p:cNvPr id="91144" name="Oval 8"/>
          <p:cNvSpPr>
            <a:spLocks noChangeArrowheads="1"/>
          </p:cNvSpPr>
          <p:nvPr/>
        </p:nvSpPr>
        <p:spPr bwMode="auto">
          <a:xfrm>
            <a:off x="4325938" y="276860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2</a:t>
            </a:r>
          </a:p>
        </p:txBody>
      </p:sp>
      <p:sp>
        <p:nvSpPr>
          <p:cNvPr id="91145" name="Oval 9"/>
          <p:cNvSpPr>
            <a:spLocks noChangeArrowheads="1"/>
          </p:cNvSpPr>
          <p:nvPr/>
        </p:nvSpPr>
        <p:spPr bwMode="auto">
          <a:xfrm>
            <a:off x="4325938" y="2116138"/>
            <a:ext cx="355600" cy="357187"/>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a:t>
            </a:r>
          </a:p>
        </p:txBody>
      </p:sp>
      <p:sp>
        <p:nvSpPr>
          <p:cNvPr id="91146" name="Oval 10"/>
          <p:cNvSpPr>
            <a:spLocks noChangeArrowheads="1"/>
          </p:cNvSpPr>
          <p:nvPr/>
        </p:nvSpPr>
        <p:spPr bwMode="auto">
          <a:xfrm>
            <a:off x="4325938" y="4132263"/>
            <a:ext cx="355600" cy="357187"/>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8</a:t>
            </a:r>
          </a:p>
        </p:txBody>
      </p:sp>
      <p:sp>
        <p:nvSpPr>
          <p:cNvPr id="91147" name="Oval 11"/>
          <p:cNvSpPr>
            <a:spLocks noChangeArrowheads="1"/>
          </p:cNvSpPr>
          <p:nvPr/>
        </p:nvSpPr>
        <p:spPr bwMode="auto">
          <a:xfrm>
            <a:off x="4386263" y="484505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11</a:t>
            </a:r>
          </a:p>
        </p:txBody>
      </p:sp>
      <p:sp>
        <p:nvSpPr>
          <p:cNvPr id="91148" name="Oval 12"/>
          <p:cNvSpPr>
            <a:spLocks noChangeArrowheads="1"/>
          </p:cNvSpPr>
          <p:nvPr/>
        </p:nvSpPr>
        <p:spPr bwMode="auto">
          <a:xfrm>
            <a:off x="4386263" y="5497513"/>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15</a:t>
            </a:r>
          </a:p>
        </p:txBody>
      </p:sp>
      <p:sp>
        <p:nvSpPr>
          <p:cNvPr id="91149" name="Oval 13"/>
          <p:cNvSpPr>
            <a:spLocks noChangeArrowheads="1"/>
          </p:cNvSpPr>
          <p:nvPr/>
        </p:nvSpPr>
        <p:spPr bwMode="auto">
          <a:xfrm>
            <a:off x="6224588" y="3006725"/>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4</a:t>
            </a:r>
          </a:p>
        </p:txBody>
      </p:sp>
      <p:sp>
        <p:nvSpPr>
          <p:cNvPr id="91150" name="Oval 14"/>
          <p:cNvSpPr>
            <a:spLocks noChangeArrowheads="1"/>
          </p:cNvSpPr>
          <p:nvPr/>
        </p:nvSpPr>
        <p:spPr bwMode="auto">
          <a:xfrm>
            <a:off x="4386263" y="6148388"/>
            <a:ext cx="355600" cy="357187"/>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17</a:t>
            </a:r>
          </a:p>
        </p:txBody>
      </p:sp>
      <p:sp>
        <p:nvSpPr>
          <p:cNvPr id="91151" name="Oval 15"/>
          <p:cNvSpPr>
            <a:spLocks noChangeArrowheads="1"/>
          </p:cNvSpPr>
          <p:nvPr/>
        </p:nvSpPr>
        <p:spPr bwMode="auto">
          <a:xfrm>
            <a:off x="6283325" y="3717925"/>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7</a:t>
            </a:r>
          </a:p>
        </p:txBody>
      </p:sp>
      <p:sp>
        <p:nvSpPr>
          <p:cNvPr id="91152" name="Oval 16"/>
          <p:cNvSpPr>
            <a:spLocks noChangeArrowheads="1"/>
          </p:cNvSpPr>
          <p:nvPr/>
        </p:nvSpPr>
        <p:spPr bwMode="auto">
          <a:xfrm>
            <a:off x="6283325" y="573405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16</a:t>
            </a:r>
          </a:p>
        </p:txBody>
      </p:sp>
      <p:sp>
        <p:nvSpPr>
          <p:cNvPr id="91153" name="Oval 17"/>
          <p:cNvSpPr>
            <a:spLocks noChangeArrowheads="1"/>
          </p:cNvSpPr>
          <p:nvPr/>
        </p:nvSpPr>
        <p:spPr bwMode="auto">
          <a:xfrm>
            <a:off x="6283325" y="448945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10</a:t>
            </a:r>
          </a:p>
        </p:txBody>
      </p:sp>
      <p:sp>
        <p:nvSpPr>
          <p:cNvPr id="91154" name="Oval 18"/>
          <p:cNvSpPr>
            <a:spLocks noChangeArrowheads="1"/>
          </p:cNvSpPr>
          <p:nvPr/>
        </p:nvSpPr>
        <p:spPr bwMode="auto">
          <a:xfrm>
            <a:off x="6283325" y="5140325"/>
            <a:ext cx="355600" cy="357188"/>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13</a:t>
            </a:r>
          </a:p>
        </p:txBody>
      </p:sp>
      <p:sp>
        <p:nvSpPr>
          <p:cNvPr id="91155" name="Oval 19"/>
          <p:cNvSpPr>
            <a:spLocks noChangeArrowheads="1"/>
          </p:cNvSpPr>
          <p:nvPr/>
        </p:nvSpPr>
        <p:spPr bwMode="auto">
          <a:xfrm>
            <a:off x="5334000" y="5378450"/>
            <a:ext cx="355600" cy="355600"/>
          </a:xfrm>
          <a:prstGeom prst="ellipse">
            <a:avLst/>
          </a:prstGeom>
          <a:solidFill>
            <a:srgbClr val="FFF907"/>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a:cs typeface="Times New Roman" charset="0"/>
              </a:rPr>
              <a:t>14</a:t>
            </a:r>
          </a:p>
        </p:txBody>
      </p:sp>
      <p:sp>
        <p:nvSpPr>
          <p:cNvPr id="91156" name="Line 20"/>
          <p:cNvSpPr>
            <a:spLocks noChangeShapeType="1"/>
          </p:cNvSpPr>
          <p:nvPr/>
        </p:nvSpPr>
        <p:spPr bwMode="auto">
          <a:xfrm flipH="1">
            <a:off x="2784475" y="3006725"/>
            <a:ext cx="1541463" cy="2952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57" name="Line 21"/>
          <p:cNvSpPr>
            <a:spLocks noChangeShapeType="1"/>
          </p:cNvSpPr>
          <p:nvPr/>
        </p:nvSpPr>
        <p:spPr bwMode="auto">
          <a:xfrm flipH="1">
            <a:off x="2784475" y="5081588"/>
            <a:ext cx="1601788" cy="2968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58" name="Line 22"/>
          <p:cNvSpPr>
            <a:spLocks noChangeShapeType="1"/>
          </p:cNvSpPr>
          <p:nvPr/>
        </p:nvSpPr>
        <p:spPr bwMode="auto">
          <a:xfrm flipH="1">
            <a:off x="2784475" y="4311650"/>
            <a:ext cx="1541463" cy="2952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59" name="Line 23"/>
          <p:cNvSpPr>
            <a:spLocks noChangeShapeType="1"/>
          </p:cNvSpPr>
          <p:nvPr/>
        </p:nvSpPr>
        <p:spPr bwMode="auto">
          <a:xfrm flipH="1">
            <a:off x="4681538" y="3184525"/>
            <a:ext cx="1543050" cy="3556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0" name="Line 24"/>
          <p:cNvSpPr>
            <a:spLocks noChangeShapeType="1"/>
          </p:cNvSpPr>
          <p:nvPr/>
        </p:nvSpPr>
        <p:spPr bwMode="auto">
          <a:xfrm flipH="1">
            <a:off x="4681538" y="3954463"/>
            <a:ext cx="1601787" cy="2968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1" name="Line 25"/>
          <p:cNvSpPr>
            <a:spLocks noChangeShapeType="1"/>
          </p:cNvSpPr>
          <p:nvPr/>
        </p:nvSpPr>
        <p:spPr bwMode="auto">
          <a:xfrm flipH="1">
            <a:off x="2784475" y="3659188"/>
            <a:ext cx="1541463" cy="2952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2" name="Line 26"/>
          <p:cNvSpPr>
            <a:spLocks noChangeShapeType="1"/>
          </p:cNvSpPr>
          <p:nvPr/>
        </p:nvSpPr>
        <p:spPr bwMode="auto">
          <a:xfrm>
            <a:off x="2784475" y="4073525"/>
            <a:ext cx="1541463" cy="177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3" name="Line 27"/>
          <p:cNvSpPr>
            <a:spLocks noChangeShapeType="1"/>
          </p:cNvSpPr>
          <p:nvPr/>
        </p:nvSpPr>
        <p:spPr bwMode="auto">
          <a:xfrm flipH="1">
            <a:off x="4741863" y="5970588"/>
            <a:ext cx="1541462" cy="2968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4" name="Line 28"/>
          <p:cNvSpPr>
            <a:spLocks noChangeShapeType="1"/>
          </p:cNvSpPr>
          <p:nvPr/>
        </p:nvSpPr>
        <p:spPr bwMode="auto">
          <a:xfrm flipH="1">
            <a:off x="4741863" y="5556250"/>
            <a:ext cx="592137" cy="11906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5" name="Line 29"/>
          <p:cNvSpPr>
            <a:spLocks noChangeShapeType="1"/>
          </p:cNvSpPr>
          <p:nvPr/>
        </p:nvSpPr>
        <p:spPr bwMode="auto">
          <a:xfrm flipH="1">
            <a:off x="5689600" y="5437188"/>
            <a:ext cx="652463" cy="603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6" name="Line 30"/>
          <p:cNvSpPr>
            <a:spLocks noChangeShapeType="1"/>
          </p:cNvSpPr>
          <p:nvPr/>
        </p:nvSpPr>
        <p:spPr bwMode="auto">
          <a:xfrm flipH="1">
            <a:off x="4741863" y="4725988"/>
            <a:ext cx="1541462" cy="2968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7" name="Line 31"/>
          <p:cNvSpPr>
            <a:spLocks noChangeShapeType="1"/>
          </p:cNvSpPr>
          <p:nvPr/>
        </p:nvSpPr>
        <p:spPr bwMode="auto">
          <a:xfrm>
            <a:off x="2784475" y="5437188"/>
            <a:ext cx="1601788" cy="8302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8" name="Line 32"/>
          <p:cNvSpPr>
            <a:spLocks noChangeShapeType="1"/>
          </p:cNvSpPr>
          <p:nvPr/>
        </p:nvSpPr>
        <p:spPr bwMode="auto">
          <a:xfrm>
            <a:off x="4681538" y="3659188"/>
            <a:ext cx="1601787" cy="177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69" name="Line 33"/>
          <p:cNvSpPr>
            <a:spLocks noChangeShapeType="1"/>
          </p:cNvSpPr>
          <p:nvPr/>
        </p:nvSpPr>
        <p:spPr bwMode="auto">
          <a:xfrm>
            <a:off x="2784475" y="3421063"/>
            <a:ext cx="1541463" cy="177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0" name="Line 34"/>
          <p:cNvSpPr>
            <a:spLocks noChangeShapeType="1"/>
          </p:cNvSpPr>
          <p:nvPr/>
        </p:nvSpPr>
        <p:spPr bwMode="auto">
          <a:xfrm>
            <a:off x="4681538" y="4370388"/>
            <a:ext cx="1601787" cy="29686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1" name="Line 35"/>
          <p:cNvSpPr>
            <a:spLocks noChangeShapeType="1"/>
          </p:cNvSpPr>
          <p:nvPr/>
        </p:nvSpPr>
        <p:spPr bwMode="auto">
          <a:xfrm>
            <a:off x="4741863" y="5081588"/>
            <a:ext cx="1541462" cy="177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2" name="Line 36"/>
          <p:cNvSpPr>
            <a:spLocks noChangeShapeType="1"/>
          </p:cNvSpPr>
          <p:nvPr/>
        </p:nvSpPr>
        <p:spPr bwMode="auto">
          <a:xfrm>
            <a:off x="2784475" y="4725988"/>
            <a:ext cx="1601788" cy="23653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3" name="Line 37"/>
          <p:cNvSpPr>
            <a:spLocks noChangeShapeType="1"/>
          </p:cNvSpPr>
          <p:nvPr/>
        </p:nvSpPr>
        <p:spPr bwMode="auto">
          <a:xfrm>
            <a:off x="4681538" y="2946400"/>
            <a:ext cx="1543050" cy="177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4" name="Line 38"/>
          <p:cNvSpPr>
            <a:spLocks noChangeShapeType="1"/>
          </p:cNvSpPr>
          <p:nvPr/>
        </p:nvSpPr>
        <p:spPr bwMode="auto">
          <a:xfrm>
            <a:off x="5630863" y="5675313"/>
            <a:ext cx="652462" cy="1778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5" name="Line 39"/>
          <p:cNvSpPr>
            <a:spLocks noChangeShapeType="1"/>
          </p:cNvSpPr>
          <p:nvPr/>
        </p:nvSpPr>
        <p:spPr bwMode="auto">
          <a:xfrm flipH="1">
            <a:off x="4503738" y="2473325"/>
            <a:ext cx="0" cy="2952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6" name="Line 40"/>
          <p:cNvSpPr>
            <a:spLocks noChangeShapeType="1"/>
          </p:cNvSpPr>
          <p:nvPr/>
        </p:nvSpPr>
        <p:spPr bwMode="auto">
          <a:xfrm flipH="1">
            <a:off x="4503738" y="1879600"/>
            <a:ext cx="0" cy="23653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7" name="Line 41"/>
          <p:cNvSpPr>
            <a:spLocks noChangeShapeType="1"/>
          </p:cNvSpPr>
          <p:nvPr/>
        </p:nvSpPr>
        <p:spPr bwMode="auto">
          <a:xfrm flipH="1">
            <a:off x="4564063" y="6505575"/>
            <a:ext cx="0" cy="23653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8" name="Line 42"/>
          <p:cNvSpPr>
            <a:spLocks noChangeShapeType="1"/>
          </p:cNvSpPr>
          <p:nvPr/>
        </p:nvSpPr>
        <p:spPr bwMode="auto">
          <a:xfrm flipH="1">
            <a:off x="4564063" y="5853113"/>
            <a:ext cx="0" cy="2952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79" name="Text Box 43"/>
          <p:cNvSpPr txBox="1">
            <a:spLocks noChangeArrowheads="1"/>
          </p:cNvSpPr>
          <p:nvPr/>
        </p:nvSpPr>
        <p:spPr bwMode="auto">
          <a:xfrm>
            <a:off x="4622800" y="3065463"/>
            <a:ext cx="741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R1</a:t>
            </a:r>
          </a:p>
        </p:txBody>
      </p:sp>
      <p:sp>
        <p:nvSpPr>
          <p:cNvPr id="91180" name="Text Box 44"/>
          <p:cNvSpPr txBox="1">
            <a:spLocks noChangeArrowheads="1"/>
          </p:cNvSpPr>
          <p:nvPr/>
        </p:nvSpPr>
        <p:spPr bwMode="auto">
          <a:xfrm>
            <a:off x="4572000" y="3729038"/>
            <a:ext cx="6699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R2</a:t>
            </a:r>
          </a:p>
        </p:txBody>
      </p:sp>
      <p:sp>
        <p:nvSpPr>
          <p:cNvPr id="91181" name="Text Box 45"/>
          <p:cNvSpPr txBox="1">
            <a:spLocks noChangeArrowheads="1"/>
          </p:cNvSpPr>
          <p:nvPr/>
        </p:nvSpPr>
        <p:spPr bwMode="auto">
          <a:xfrm>
            <a:off x="4741863" y="4489450"/>
            <a:ext cx="69373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R3</a:t>
            </a:r>
          </a:p>
        </p:txBody>
      </p:sp>
      <p:sp>
        <p:nvSpPr>
          <p:cNvPr id="91182" name="Text Box 46"/>
          <p:cNvSpPr txBox="1">
            <a:spLocks noChangeArrowheads="1"/>
          </p:cNvSpPr>
          <p:nvPr/>
        </p:nvSpPr>
        <p:spPr bwMode="auto">
          <a:xfrm>
            <a:off x="4919663" y="5734050"/>
            <a:ext cx="73183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R5</a:t>
            </a:r>
          </a:p>
        </p:txBody>
      </p:sp>
      <p:sp>
        <p:nvSpPr>
          <p:cNvPr id="91183" name="Text Box 47"/>
          <p:cNvSpPr txBox="1">
            <a:spLocks noChangeArrowheads="1"/>
          </p:cNvSpPr>
          <p:nvPr/>
        </p:nvSpPr>
        <p:spPr bwMode="auto">
          <a:xfrm>
            <a:off x="3673475" y="5378450"/>
            <a:ext cx="6826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R4</a:t>
            </a:r>
          </a:p>
        </p:txBody>
      </p:sp>
      <p:sp>
        <p:nvSpPr>
          <p:cNvPr id="91184" name="Text Box 48"/>
          <p:cNvSpPr txBox="1">
            <a:spLocks noChangeArrowheads="1"/>
          </p:cNvSpPr>
          <p:nvPr/>
        </p:nvSpPr>
        <p:spPr bwMode="auto">
          <a:xfrm>
            <a:off x="1598613" y="4368800"/>
            <a:ext cx="741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Times New Roman" charset="0"/>
              </a:rPr>
              <a:t>R6</a:t>
            </a:r>
          </a:p>
        </p:txBody>
      </p:sp>
      <p:sp>
        <p:nvSpPr>
          <p:cNvPr id="91185" name="Line 49"/>
          <p:cNvSpPr>
            <a:spLocks noChangeShapeType="1"/>
          </p:cNvSpPr>
          <p:nvPr/>
        </p:nvSpPr>
        <p:spPr bwMode="auto">
          <a:xfrm flipH="1">
            <a:off x="2725738" y="4370388"/>
            <a:ext cx="1660525" cy="296862"/>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86" name="Line 50"/>
          <p:cNvSpPr>
            <a:spLocks noChangeShapeType="1"/>
          </p:cNvSpPr>
          <p:nvPr/>
        </p:nvSpPr>
        <p:spPr bwMode="auto">
          <a:xfrm>
            <a:off x="2725738" y="4014788"/>
            <a:ext cx="1719262" cy="17780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87" name="Line 51"/>
          <p:cNvSpPr>
            <a:spLocks noChangeShapeType="1"/>
          </p:cNvSpPr>
          <p:nvPr/>
        </p:nvSpPr>
        <p:spPr bwMode="auto">
          <a:xfrm flipH="1">
            <a:off x="2665413" y="3598863"/>
            <a:ext cx="1720850" cy="296862"/>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88" name="Line 52"/>
          <p:cNvSpPr>
            <a:spLocks noChangeShapeType="1"/>
          </p:cNvSpPr>
          <p:nvPr/>
        </p:nvSpPr>
        <p:spPr bwMode="auto">
          <a:xfrm>
            <a:off x="2725738" y="3362325"/>
            <a:ext cx="1660525" cy="17780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89" name="Line 53"/>
          <p:cNvSpPr>
            <a:spLocks noChangeShapeType="1"/>
          </p:cNvSpPr>
          <p:nvPr/>
        </p:nvSpPr>
        <p:spPr bwMode="auto">
          <a:xfrm flipH="1">
            <a:off x="2606675" y="2887663"/>
            <a:ext cx="1779588" cy="355600"/>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0" name="Line 54"/>
          <p:cNvSpPr>
            <a:spLocks noChangeShapeType="1"/>
          </p:cNvSpPr>
          <p:nvPr/>
        </p:nvSpPr>
        <p:spPr bwMode="auto">
          <a:xfrm>
            <a:off x="4445000" y="2413000"/>
            <a:ext cx="0" cy="474663"/>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1" name="Line 55"/>
          <p:cNvSpPr>
            <a:spLocks noChangeShapeType="1"/>
          </p:cNvSpPr>
          <p:nvPr/>
        </p:nvSpPr>
        <p:spPr bwMode="auto">
          <a:xfrm>
            <a:off x="2725738" y="5497513"/>
            <a:ext cx="1719262" cy="830262"/>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2" name="Line 56"/>
          <p:cNvSpPr>
            <a:spLocks noChangeShapeType="1"/>
          </p:cNvSpPr>
          <p:nvPr/>
        </p:nvSpPr>
        <p:spPr bwMode="auto">
          <a:xfrm flipH="1">
            <a:off x="2725738" y="5140325"/>
            <a:ext cx="1719262" cy="296863"/>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3" name="Line 57"/>
          <p:cNvSpPr>
            <a:spLocks noChangeShapeType="1"/>
          </p:cNvSpPr>
          <p:nvPr/>
        </p:nvSpPr>
        <p:spPr bwMode="auto">
          <a:xfrm>
            <a:off x="2665413" y="4784725"/>
            <a:ext cx="1779587" cy="238125"/>
          </a:xfrm>
          <a:prstGeom prst="line">
            <a:avLst/>
          </a:prstGeom>
          <a:noFill/>
          <a:ln w="28575">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5" name="Line 59"/>
          <p:cNvSpPr>
            <a:spLocks noChangeShapeType="1"/>
          </p:cNvSpPr>
          <p:nvPr/>
        </p:nvSpPr>
        <p:spPr bwMode="auto">
          <a:xfrm flipH="1">
            <a:off x="4681538" y="5497513"/>
            <a:ext cx="712787" cy="117475"/>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6" name="Line 60"/>
          <p:cNvSpPr>
            <a:spLocks noChangeShapeType="1"/>
          </p:cNvSpPr>
          <p:nvPr/>
        </p:nvSpPr>
        <p:spPr bwMode="auto">
          <a:xfrm flipH="1">
            <a:off x="4622800" y="2354263"/>
            <a:ext cx="0" cy="533400"/>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7" name="Line 61"/>
          <p:cNvSpPr>
            <a:spLocks noChangeShapeType="1"/>
          </p:cNvSpPr>
          <p:nvPr/>
        </p:nvSpPr>
        <p:spPr bwMode="auto">
          <a:xfrm flipH="1">
            <a:off x="4622800" y="3243263"/>
            <a:ext cx="1660525" cy="355600"/>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8" name="Line 62"/>
          <p:cNvSpPr>
            <a:spLocks noChangeShapeType="1"/>
          </p:cNvSpPr>
          <p:nvPr/>
        </p:nvSpPr>
        <p:spPr bwMode="auto">
          <a:xfrm flipH="1" flipV="1">
            <a:off x="4622800" y="2887663"/>
            <a:ext cx="1719263" cy="177800"/>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199" name="Line 63"/>
          <p:cNvSpPr>
            <a:spLocks noChangeShapeType="1"/>
          </p:cNvSpPr>
          <p:nvPr/>
        </p:nvSpPr>
        <p:spPr bwMode="auto">
          <a:xfrm flipH="1" flipV="1">
            <a:off x="4564063" y="2413000"/>
            <a:ext cx="0" cy="474663"/>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0" name="Line 64"/>
          <p:cNvSpPr>
            <a:spLocks noChangeShapeType="1"/>
          </p:cNvSpPr>
          <p:nvPr/>
        </p:nvSpPr>
        <p:spPr bwMode="auto">
          <a:xfrm flipH="1">
            <a:off x="4681538" y="4784725"/>
            <a:ext cx="1660525" cy="296863"/>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1" name="Line 65"/>
          <p:cNvSpPr>
            <a:spLocks noChangeShapeType="1"/>
          </p:cNvSpPr>
          <p:nvPr/>
        </p:nvSpPr>
        <p:spPr bwMode="auto">
          <a:xfrm flipH="1" flipV="1">
            <a:off x="4681538" y="4311650"/>
            <a:ext cx="1660525" cy="295275"/>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2" name="Line 66"/>
          <p:cNvSpPr>
            <a:spLocks noChangeShapeType="1"/>
          </p:cNvSpPr>
          <p:nvPr/>
        </p:nvSpPr>
        <p:spPr bwMode="auto">
          <a:xfrm flipH="1">
            <a:off x="4622800" y="3984625"/>
            <a:ext cx="1779588" cy="327025"/>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3" name="Line 67"/>
          <p:cNvSpPr>
            <a:spLocks noChangeShapeType="1"/>
          </p:cNvSpPr>
          <p:nvPr/>
        </p:nvSpPr>
        <p:spPr bwMode="auto">
          <a:xfrm flipH="1" flipV="1">
            <a:off x="4564063" y="3717925"/>
            <a:ext cx="1778000" cy="177800"/>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4" name="Line 68"/>
          <p:cNvSpPr>
            <a:spLocks noChangeShapeType="1"/>
          </p:cNvSpPr>
          <p:nvPr/>
        </p:nvSpPr>
        <p:spPr bwMode="auto">
          <a:xfrm flipH="1">
            <a:off x="4503738" y="5792788"/>
            <a:ext cx="0" cy="415925"/>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5" name="Line 69"/>
          <p:cNvSpPr>
            <a:spLocks noChangeShapeType="1"/>
          </p:cNvSpPr>
          <p:nvPr/>
        </p:nvSpPr>
        <p:spPr bwMode="auto">
          <a:xfrm flipH="1">
            <a:off x="5572125" y="5378450"/>
            <a:ext cx="711200" cy="58738"/>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6" name="Line 70"/>
          <p:cNvSpPr>
            <a:spLocks noChangeShapeType="1"/>
          </p:cNvSpPr>
          <p:nvPr/>
        </p:nvSpPr>
        <p:spPr bwMode="auto">
          <a:xfrm flipH="1" flipV="1">
            <a:off x="4622800" y="5140325"/>
            <a:ext cx="1719263" cy="179388"/>
          </a:xfrm>
          <a:prstGeom prst="line">
            <a:avLst/>
          </a:prstGeom>
          <a:noFill/>
          <a:ln w="28575">
            <a:solidFill>
              <a:srgbClr val="FF66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7" name="Line 71"/>
          <p:cNvSpPr>
            <a:spLocks noChangeShapeType="1"/>
          </p:cNvSpPr>
          <p:nvPr/>
        </p:nvSpPr>
        <p:spPr bwMode="auto">
          <a:xfrm flipH="1">
            <a:off x="4741863" y="6010275"/>
            <a:ext cx="1620837" cy="317500"/>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8" name="Line 72"/>
          <p:cNvSpPr>
            <a:spLocks noChangeShapeType="1"/>
          </p:cNvSpPr>
          <p:nvPr/>
        </p:nvSpPr>
        <p:spPr bwMode="auto">
          <a:xfrm>
            <a:off x="4622800" y="4429125"/>
            <a:ext cx="1719263" cy="296863"/>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09" name="Line 73"/>
          <p:cNvSpPr>
            <a:spLocks noChangeShapeType="1"/>
          </p:cNvSpPr>
          <p:nvPr/>
        </p:nvSpPr>
        <p:spPr bwMode="auto">
          <a:xfrm flipH="1">
            <a:off x="4622800" y="3895725"/>
            <a:ext cx="1719263" cy="296863"/>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0" name="Line 74"/>
          <p:cNvSpPr>
            <a:spLocks noChangeShapeType="1"/>
          </p:cNvSpPr>
          <p:nvPr/>
        </p:nvSpPr>
        <p:spPr bwMode="auto">
          <a:xfrm>
            <a:off x="4681538" y="3598863"/>
            <a:ext cx="1720850" cy="177800"/>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1" name="Line 75"/>
          <p:cNvSpPr>
            <a:spLocks noChangeShapeType="1"/>
          </p:cNvSpPr>
          <p:nvPr/>
        </p:nvSpPr>
        <p:spPr bwMode="auto">
          <a:xfrm flipH="1">
            <a:off x="4622800" y="3302000"/>
            <a:ext cx="1719263" cy="357188"/>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2" name="Line 76"/>
          <p:cNvSpPr>
            <a:spLocks noChangeShapeType="1"/>
          </p:cNvSpPr>
          <p:nvPr/>
        </p:nvSpPr>
        <p:spPr bwMode="auto">
          <a:xfrm>
            <a:off x="4564063" y="3006725"/>
            <a:ext cx="1719262" cy="177800"/>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3" name="Line 77"/>
          <p:cNvSpPr>
            <a:spLocks noChangeShapeType="1"/>
          </p:cNvSpPr>
          <p:nvPr/>
        </p:nvSpPr>
        <p:spPr bwMode="auto">
          <a:xfrm>
            <a:off x="4622800" y="5200650"/>
            <a:ext cx="1660525" cy="177800"/>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4" name="Line 78"/>
          <p:cNvSpPr>
            <a:spLocks noChangeShapeType="1"/>
          </p:cNvSpPr>
          <p:nvPr/>
        </p:nvSpPr>
        <p:spPr bwMode="auto">
          <a:xfrm flipH="1">
            <a:off x="4681538" y="4667250"/>
            <a:ext cx="1601787" cy="295275"/>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5" name="Line 79"/>
          <p:cNvSpPr>
            <a:spLocks noChangeShapeType="1"/>
          </p:cNvSpPr>
          <p:nvPr/>
        </p:nvSpPr>
        <p:spPr bwMode="auto">
          <a:xfrm>
            <a:off x="5689600" y="5614988"/>
            <a:ext cx="652463" cy="177800"/>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91216" name="Line 80"/>
          <p:cNvSpPr>
            <a:spLocks noChangeShapeType="1"/>
          </p:cNvSpPr>
          <p:nvPr/>
        </p:nvSpPr>
        <p:spPr bwMode="auto">
          <a:xfrm flipH="1">
            <a:off x="5689600" y="5497513"/>
            <a:ext cx="712788" cy="58737"/>
          </a:xfrm>
          <a:prstGeom prst="line">
            <a:avLst/>
          </a:prstGeom>
          <a:noFill/>
          <a:ln w="28575">
            <a:solidFill>
              <a:schemeClr val="accent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cs typeface="Times New Roman" charset="0"/>
            </a:endParaRPr>
          </a:p>
        </p:txBody>
      </p:sp>
      <p:sp>
        <p:nvSpPr>
          <p:cNvPr id="82" name="WordArt 53"/>
          <p:cNvSpPr>
            <a:spLocks noChangeArrowheads="1" noChangeShapeType="1" noTextEdit="1"/>
          </p:cNvSpPr>
          <p:nvPr/>
        </p:nvSpPr>
        <p:spPr bwMode="auto">
          <a:xfrm rot="16200000">
            <a:off x="-2476498" y="3390898"/>
            <a:ext cx="6095998" cy="533400"/>
          </a:xfrm>
          <a:prstGeom prst="rect">
            <a:avLst/>
          </a:prstGeom>
          <a:ln>
            <a:noFill/>
          </a:ln>
        </p:spPr>
        <p:txBody>
          <a:bodyPr wrap="none" numCol="1" fromWordArt="1">
            <a:prstTxWarp prst="textPlain">
              <a:avLst>
                <a:gd name="adj" fmla="val 50000"/>
              </a:avLst>
            </a:prstTxWarp>
          </a:bodyPr>
          <a:lstStyle/>
          <a:p>
            <a:pPr algn="ctr"/>
            <a:r>
              <a:rPr lang="en-US" sz="3600" kern="10">
                <a:ln w="12700">
                  <a:noFill/>
                  <a:round/>
                  <a:headEnd/>
                  <a:tailEnd/>
                </a:ln>
                <a:solidFill>
                  <a:schemeClr val="accent2"/>
                </a:solidFill>
                <a:latin typeface="Arial Black"/>
                <a:ea typeface="Arial Black"/>
                <a:cs typeface="Arial Black"/>
              </a:rPr>
              <a:t>ITS – Program flow graph</a:t>
            </a:r>
          </a:p>
        </p:txBody>
      </p:sp>
    </p:spTree>
    <p:extLst>
      <p:ext uri="{BB962C8B-B14F-4D97-AF65-F5344CB8AC3E}">
        <p14:creationId xmlns:p14="http://schemas.microsoft.com/office/powerpoint/2010/main" val="4029424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0237" name="Group 1149">
            <a:extLst>
              <a:ext uri="{FF2B5EF4-FFF2-40B4-BE49-F238E27FC236}">
                <a16:creationId xmlns:a16="http://schemas.microsoft.com/office/drawing/2014/main" id="{78DE9AD5-E078-F4F0-8539-A95F266A7B2F}"/>
              </a:ext>
            </a:extLst>
          </p:cNvPr>
          <p:cNvGrpSpPr>
            <a:grpSpLocks/>
          </p:cNvGrpSpPr>
          <p:nvPr/>
        </p:nvGrpSpPr>
        <p:grpSpPr bwMode="auto">
          <a:xfrm>
            <a:off x="1354138" y="1435100"/>
            <a:ext cx="5462587" cy="5270500"/>
            <a:chOff x="528" y="288"/>
            <a:chExt cx="4080" cy="3936"/>
          </a:xfrm>
        </p:grpSpPr>
        <p:sp>
          <p:nvSpPr>
            <p:cNvPr id="90115" name="Oval 1027">
              <a:extLst>
                <a:ext uri="{FF2B5EF4-FFF2-40B4-BE49-F238E27FC236}">
                  <a16:creationId xmlns:a16="http://schemas.microsoft.com/office/drawing/2014/main" id="{101A5219-A2A6-8D2D-A872-0626FB42CDC2}"/>
                </a:ext>
              </a:extLst>
            </p:cNvPr>
            <p:cNvSpPr>
              <a:spLocks noChangeArrowheads="1"/>
            </p:cNvSpPr>
            <p:nvPr/>
          </p:nvSpPr>
          <p:spPr bwMode="auto">
            <a:xfrm>
              <a:off x="1200" y="1344"/>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3</a:t>
              </a:r>
            </a:p>
          </p:txBody>
        </p:sp>
        <p:sp>
          <p:nvSpPr>
            <p:cNvPr id="90116" name="Oval 1028">
              <a:extLst>
                <a:ext uri="{FF2B5EF4-FFF2-40B4-BE49-F238E27FC236}">
                  <a16:creationId xmlns:a16="http://schemas.microsoft.com/office/drawing/2014/main" id="{4ECFEB57-2870-CE91-1DAC-752E9B0C8CF0}"/>
                </a:ext>
              </a:extLst>
            </p:cNvPr>
            <p:cNvSpPr>
              <a:spLocks noChangeArrowheads="1"/>
            </p:cNvSpPr>
            <p:nvPr/>
          </p:nvSpPr>
          <p:spPr bwMode="auto">
            <a:xfrm>
              <a:off x="1200" y="1872"/>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6</a:t>
              </a:r>
            </a:p>
          </p:txBody>
        </p:sp>
        <p:sp>
          <p:nvSpPr>
            <p:cNvPr id="90117" name="Oval 1029">
              <a:extLst>
                <a:ext uri="{FF2B5EF4-FFF2-40B4-BE49-F238E27FC236}">
                  <a16:creationId xmlns:a16="http://schemas.microsoft.com/office/drawing/2014/main" id="{70035E2C-2969-7A12-0368-1E86FD9FDFB8}"/>
                </a:ext>
              </a:extLst>
            </p:cNvPr>
            <p:cNvSpPr>
              <a:spLocks noChangeArrowheads="1"/>
            </p:cNvSpPr>
            <p:nvPr/>
          </p:nvSpPr>
          <p:spPr bwMode="auto">
            <a:xfrm>
              <a:off x="1200" y="2400"/>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9</a:t>
              </a:r>
            </a:p>
          </p:txBody>
        </p:sp>
        <p:sp>
          <p:nvSpPr>
            <p:cNvPr id="90118" name="Oval 1030">
              <a:extLst>
                <a:ext uri="{FF2B5EF4-FFF2-40B4-BE49-F238E27FC236}">
                  <a16:creationId xmlns:a16="http://schemas.microsoft.com/office/drawing/2014/main" id="{BC33D98C-E4B0-3484-145B-59D99CB70BC9}"/>
                </a:ext>
              </a:extLst>
            </p:cNvPr>
            <p:cNvSpPr>
              <a:spLocks noChangeArrowheads="1"/>
            </p:cNvSpPr>
            <p:nvPr/>
          </p:nvSpPr>
          <p:spPr bwMode="auto">
            <a:xfrm>
              <a:off x="1200" y="2976"/>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12</a:t>
              </a:r>
            </a:p>
          </p:txBody>
        </p:sp>
        <p:sp>
          <p:nvSpPr>
            <p:cNvPr id="90119" name="Oval 1031">
              <a:extLst>
                <a:ext uri="{FF2B5EF4-FFF2-40B4-BE49-F238E27FC236}">
                  <a16:creationId xmlns:a16="http://schemas.microsoft.com/office/drawing/2014/main" id="{60CD9C71-4554-BB11-F346-3660A43847DA}"/>
                </a:ext>
              </a:extLst>
            </p:cNvPr>
            <p:cNvSpPr>
              <a:spLocks noChangeArrowheads="1"/>
            </p:cNvSpPr>
            <p:nvPr/>
          </p:nvSpPr>
          <p:spPr bwMode="auto">
            <a:xfrm>
              <a:off x="2736" y="1536"/>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5</a:t>
              </a:r>
            </a:p>
          </p:txBody>
        </p:sp>
        <p:sp>
          <p:nvSpPr>
            <p:cNvPr id="90120" name="Oval 1032">
              <a:extLst>
                <a:ext uri="{FF2B5EF4-FFF2-40B4-BE49-F238E27FC236}">
                  <a16:creationId xmlns:a16="http://schemas.microsoft.com/office/drawing/2014/main" id="{44276D08-7004-AA80-90E8-72106C704C59}"/>
                </a:ext>
              </a:extLst>
            </p:cNvPr>
            <p:cNvSpPr>
              <a:spLocks noChangeArrowheads="1"/>
            </p:cNvSpPr>
            <p:nvPr/>
          </p:nvSpPr>
          <p:spPr bwMode="auto">
            <a:xfrm>
              <a:off x="2736" y="100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2</a:t>
              </a:r>
            </a:p>
          </p:txBody>
        </p:sp>
        <p:sp>
          <p:nvSpPr>
            <p:cNvPr id="90121" name="Oval 1033">
              <a:extLst>
                <a:ext uri="{FF2B5EF4-FFF2-40B4-BE49-F238E27FC236}">
                  <a16:creationId xmlns:a16="http://schemas.microsoft.com/office/drawing/2014/main" id="{1BC693F8-2A26-36E0-9DD6-A3F3878E8494}"/>
                </a:ext>
              </a:extLst>
            </p:cNvPr>
            <p:cNvSpPr>
              <a:spLocks noChangeArrowheads="1"/>
            </p:cNvSpPr>
            <p:nvPr/>
          </p:nvSpPr>
          <p:spPr bwMode="auto">
            <a:xfrm>
              <a:off x="2736" y="480"/>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a:t>
              </a:r>
            </a:p>
          </p:txBody>
        </p:sp>
        <p:sp>
          <p:nvSpPr>
            <p:cNvPr id="90122" name="Oval 1034">
              <a:extLst>
                <a:ext uri="{FF2B5EF4-FFF2-40B4-BE49-F238E27FC236}">
                  <a16:creationId xmlns:a16="http://schemas.microsoft.com/office/drawing/2014/main" id="{2522C6B7-3336-7876-8FD7-A241FF0F9CE8}"/>
                </a:ext>
              </a:extLst>
            </p:cNvPr>
            <p:cNvSpPr>
              <a:spLocks noChangeArrowheads="1"/>
            </p:cNvSpPr>
            <p:nvPr/>
          </p:nvSpPr>
          <p:spPr bwMode="auto">
            <a:xfrm>
              <a:off x="2736" y="2112"/>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8</a:t>
              </a:r>
            </a:p>
          </p:txBody>
        </p:sp>
        <p:sp>
          <p:nvSpPr>
            <p:cNvPr id="90123" name="Oval 1035">
              <a:extLst>
                <a:ext uri="{FF2B5EF4-FFF2-40B4-BE49-F238E27FC236}">
                  <a16:creationId xmlns:a16="http://schemas.microsoft.com/office/drawing/2014/main" id="{3EBC92CB-51AD-2FCF-683B-3122621EBA04}"/>
                </a:ext>
              </a:extLst>
            </p:cNvPr>
            <p:cNvSpPr>
              <a:spLocks noChangeArrowheads="1"/>
            </p:cNvSpPr>
            <p:nvPr/>
          </p:nvSpPr>
          <p:spPr bwMode="auto">
            <a:xfrm>
              <a:off x="2784" y="268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11</a:t>
              </a:r>
            </a:p>
          </p:txBody>
        </p:sp>
        <p:sp>
          <p:nvSpPr>
            <p:cNvPr id="90124" name="Oval 1036">
              <a:extLst>
                <a:ext uri="{FF2B5EF4-FFF2-40B4-BE49-F238E27FC236}">
                  <a16:creationId xmlns:a16="http://schemas.microsoft.com/office/drawing/2014/main" id="{A6860F0C-A173-E269-6C86-4C4814E97492}"/>
                </a:ext>
              </a:extLst>
            </p:cNvPr>
            <p:cNvSpPr>
              <a:spLocks noChangeArrowheads="1"/>
            </p:cNvSpPr>
            <p:nvPr/>
          </p:nvSpPr>
          <p:spPr bwMode="auto">
            <a:xfrm>
              <a:off x="2784" y="3216"/>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15</a:t>
              </a:r>
            </a:p>
          </p:txBody>
        </p:sp>
        <p:sp>
          <p:nvSpPr>
            <p:cNvPr id="90125" name="Oval 1037">
              <a:extLst>
                <a:ext uri="{FF2B5EF4-FFF2-40B4-BE49-F238E27FC236}">
                  <a16:creationId xmlns:a16="http://schemas.microsoft.com/office/drawing/2014/main" id="{2A07CB99-E3FF-0E66-A171-5889F0A05EE4}"/>
                </a:ext>
              </a:extLst>
            </p:cNvPr>
            <p:cNvSpPr>
              <a:spLocks noChangeArrowheads="1"/>
            </p:cNvSpPr>
            <p:nvPr/>
          </p:nvSpPr>
          <p:spPr bwMode="auto">
            <a:xfrm>
              <a:off x="4272" y="1200"/>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4</a:t>
              </a:r>
            </a:p>
          </p:txBody>
        </p:sp>
        <p:sp>
          <p:nvSpPr>
            <p:cNvPr id="90126" name="Oval 1038">
              <a:extLst>
                <a:ext uri="{FF2B5EF4-FFF2-40B4-BE49-F238E27FC236}">
                  <a16:creationId xmlns:a16="http://schemas.microsoft.com/office/drawing/2014/main" id="{E90CE22E-EF3B-579A-DD95-7BC4E24EDC0A}"/>
                </a:ext>
              </a:extLst>
            </p:cNvPr>
            <p:cNvSpPr>
              <a:spLocks noChangeArrowheads="1"/>
            </p:cNvSpPr>
            <p:nvPr/>
          </p:nvSpPr>
          <p:spPr bwMode="auto">
            <a:xfrm>
              <a:off x="2784" y="3744"/>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17</a:t>
              </a:r>
            </a:p>
          </p:txBody>
        </p:sp>
        <p:sp>
          <p:nvSpPr>
            <p:cNvPr id="90127" name="Oval 1039">
              <a:extLst>
                <a:ext uri="{FF2B5EF4-FFF2-40B4-BE49-F238E27FC236}">
                  <a16:creationId xmlns:a16="http://schemas.microsoft.com/office/drawing/2014/main" id="{4984677F-F181-5A85-403B-95E135B1A987}"/>
                </a:ext>
              </a:extLst>
            </p:cNvPr>
            <p:cNvSpPr>
              <a:spLocks noChangeArrowheads="1"/>
            </p:cNvSpPr>
            <p:nvPr/>
          </p:nvSpPr>
          <p:spPr bwMode="auto">
            <a:xfrm>
              <a:off x="4320" y="1776"/>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7</a:t>
              </a:r>
            </a:p>
          </p:txBody>
        </p:sp>
        <p:sp>
          <p:nvSpPr>
            <p:cNvPr id="90128" name="Oval 1040">
              <a:extLst>
                <a:ext uri="{FF2B5EF4-FFF2-40B4-BE49-F238E27FC236}">
                  <a16:creationId xmlns:a16="http://schemas.microsoft.com/office/drawing/2014/main" id="{C7C1CE10-F9A1-774F-BB14-75E347425226}"/>
                </a:ext>
              </a:extLst>
            </p:cNvPr>
            <p:cNvSpPr>
              <a:spLocks noChangeArrowheads="1"/>
            </p:cNvSpPr>
            <p:nvPr/>
          </p:nvSpPr>
          <p:spPr bwMode="auto">
            <a:xfrm>
              <a:off x="4320" y="340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16</a:t>
              </a:r>
            </a:p>
          </p:txBody>
        </p:sp>
        <p:sp>
          <p:nvSpPr>
            <p:cNvPr id="90129" name="Oval 1041">
              <a:extLst>
                <a:ext uri="{FF2B5EF4-FFF2-40B4-BE49-F238E27FC236}">
                  <a16:creationId xmlns:a16="http://schemas.microsoft.com/office/drawing/2014/main" id="{5683741E-427D-9707-094D-7822D0366BFB}"/>
                </a:ext>
              </a:extLst>
            </p:cNvPr>
            <p:cNvSpPr>
              <a:spLocks noChangeArrowheads="1"/>
            </p:cNvSpPr>
            <p:nvPr/>
          </p:nvSpPr>
          <p:spPr bwMode="auto">
            <a:xfrm>
              <a:off x="4320" y="2400"/>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10</a:t>
              </a:r>
            </a:p>
          </p:txBody>
        </p:sp>
        <p:sp>
          <p:nvSpPr>
            <p:cNvPr id="90130" name="Oval 1042">
              <a:extLst>
                <a:ext uri="{FF2B5EF4-FFF2-40B4-BE49-F238E27FC236}">
                  <a16:creationId xmlns:a16="http://schemas.microsoft.com/office/drawing/2014/main" id="{99F3F87C-CFC3-EA1F-3A6B-A3AF9CA2BB29}"/>
                </a:ext>
              </a:extLst>
            </p:cNvPr>
            <p:cNvSpPr>
              <a:spLocks noChangeArrowheads="1"/>
            </p:cNvSpPr>
            <p:nvPr/>
          </p:nvSpPr>
          <p:spPr bwMode="auto">
            <a:xfrm>
              <a:off x="4320" y="2928"/>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13</a:t>
              </a:r>
            </a:p>
          </p:txBody>
        </p:sp>
        <p:sp>
          <p:nvSpPr>
            <p:cNvPr id="90131" name="Oval 1043">
              <a:extLst>
                <a:ext uri="{FF2B5EF4-FFF2-40B4-BE49-F238E27FC236}">
                  <a16:creationId xmlns:a16="http://schemas.microsoft.com/office/drawing/2014/main" id="{6DBE226D-CAFF-E64D-96EB-896BC50E87CC}"/>
                </a:ext>
              </a:extLst>
            </p:cNvPr>
            <p:cNvSpPr>
              <a:spLocks noChangeArrowheads="1"/>
            </p:cNvSpPr>
            <p:nvPr/>
          </p:nvSpPr>
          <p:spPr bwMode="auto">
            <a:xfrm>
              <a:off x="3552" y="3120"/>
              <a:ext cx="288" cy="288"/>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t>14</a:t>
              </a:r>
            </a:p>
          </p:txBody>
        </p:sp>
        <p:sp>
          <p:nvSpPr>
            <p:cNvPr id="90132" name="Line 1044">
              <a:extLst>
                <a:ext uri="{FF2B5EF4-FFF2-40B4-BE49-F238E27FC236}">
                  <a16:creationId xmlns:a16="http://schemas.microsoft.com/office/drawing/2014/main" id="{78F01ACA-72F0-3594-4FA3-BE131CFA9AAE}"/>
                </a:ext>
              </a:extLst>
            </p:cNvPr>
            <p:cNvSpPr>
              <a:spLocks noChangeShapeType="1"/>
            </p:cNvSpPr>
            <p:nvPr/>
          </p:nvSpPr>
          <p:spPr bwMode="auto">
            <a:xfrm flipH="1">
              <a:off x="1488" y="1200"/>
              <a:ext cx="1248"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3" name="Line 1045">
              <a:extLst>
                <a:ext uri="{FF2B5EF4-FFF2-40B4-BE49-F238E27FC236}">
                  <a16:creationId xmlns:a16="http://schemas.microsoft.com/office/drawing/2014/main" id="{A1A8E23D-7AD8-1C68-BE36-D4A3C9524F3F}"/>
                </a:ext>
              </a:extLst>
            </p:cNvPr>
            <p:cNvSpPr>
              <a:spLocks noChangeShapeType="1"/>
            </p:cNvSpPr>
            <p:nvPr/>
          </p:nvSpPr>
          <p:spPr bwMode="auto">
            <a:xfrm flipH="1">
              <a:off x="1488" y="2880"/>
              <a:ext cx="1296"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4" name="Line 1046">
              <a:extLst>
                <a:ext uri="{FF2B5EF4-FFF2-40B4-BE49-F238E27FC236}">
                  <a16:creationId xmlns:a16="http://schemas.microsoft.com/office/drawing/2014/main" id="{C8D58C0D-B991-31FF-C27E-5BCA9C10CB2E}"/>
                </a:ext>
              </a:extLst>
            </p:cNvPr>
            <p:cNvSpPr>
              <a:spLocks noChangeShapeType="1"/>
            </p:cNvSpPr>
            <p:nvPr/>
          </p:nvSpPr>
          <p:spPr bwMode="auto">
            <a:xfrm flipH="1">
              <a:off x="1488" y="2256"/>
              <a:ext cx="1248"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5" name="Line 1047">
              <a:extLst>
                <a:ext uri="{FF2B5EF4-FFF2-40B4-BE49-F238E27FC236}">
                  <a16:creationId xmlns:a16="http://schemas.microsoft.com/office/drawing/2014/main" id="{EE09E186-F153-868C-756A-D104574A9E59}"/>
                </a:ext>
              </a:extLst>
            </p:cNvPr>
            <p:cNvSpPr>
              <a:spLocks noChangeShapeType="1"/>
            </p:cNvSpPr>
            <p:nvPr/>
          </p:nvSpPr>
          <p:spPr bwMode="auto">
            <a:xfrm flipH="1">
              <a:off x="3024" y="1344"/>
              <a:ext cx="1248"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6" name="Line 1048">
              <a:extLst>
                <a:ext uri="{FF2B5EF4-FFF2-40B4-BE49-F238E27FC236}">
                  <a16:creationId xmlns:a16="http://schemas.microsoft.com/office/drawing/2014/main" id="{960712CB-0E23-3774-1343-9CED0EFFB925}"/>
                </a:ext>
              </a:extLst>
            </p:cNvPr>
            <p:cNvSpPr>
              <a:spLocks noChangeShapeType="1"/>
            </p:cNvSpPr>
            <p:nvPr/>
          </p:nvSpPr>
          <p:spPr bwMode="auto">
            <a:xfrm flipH="1">
              <a:off x="3024" y="1968"/>
              <a:ext cx="1296"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7" name="Line 1049">
              <a:extLst>
                <a:ext uri="{FF2B5EF4-FFF2-40B4-BE49-F238E27FC236}">
                  <a16:creationId xmlns:a16="http://schemas.microsoft.com/office/drawing/2014/main" id="{4A60C859-E025-692A-1622-51B66359FF3D}"/>
                </a:ext>
              </a:extLst>
            </p:cNvPr>
            <p:cNvSpPr>
              <a:spLocks noChangeShapeType="1"/>
            </p:cNvSpPr>
            <p:nvPr/>
          </p:nvSpPr>
          <p:spPr bwMode="auto">
            <a:xfrm flipH="1">
              <a:off x="1488" y="1728"/>
              <a:ext cx="1248"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8" name="Line 1050">
              <a:extLst>
                <a:ext uri="{FF2B5EF4-FFF2-40B4-BE49-F238E27FC236}">
                  <a16:creationId xmlns:a16="http://schemas.microsoft.com/office/drawing/2014/main" id="{87FBDA2C-61B2-3EB0-A8A7-E1D90CF404AE}"/>
                </a:ext>
              </a:extLst>
            </p:cNvPr>
            <p:cNvSpPr>
              <a:spLocks noChangeShapeType="1"/>
            </p:cNvSpPr>
            <p:nvPr/>
          </p:nvSpPr>
          <p:spPr bwMode="auto">
            <a:xfrm>
              <a:off x="1488" y="2064"/>
              <a:ext cx="1248"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39" name="Line 1051">
              <a:extLst>
                <a:ext uri="{FF2B5EF4-FFF2-40B4-BE49-F238E27FC236}">
                  <a16:creationId xmlns:a16="http://schemas.microsoft.com/office/drawing/2014/main" id="{4BDAFD94-84E8-7F43-2704-FAD17210F26C}"/>
                </a:ext>
              </a:extLst>
            </p:cNvPr>
            <p:cNvSpPr>
              <a:spLocks noChangeShapeType="1"/>
            </p:cNvSpPr>
            <p:nvPr/>
          </p:nvSpPr>
          <p:spPr bwMode="auto">
            <a:xfrm flipH="1">
              <a:off x="3072" y="3600"/>
              <a:ext cx="1248"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0" name="Line 1052">
              <a:extLst>
                <a:ext uri="{FF2B5EF4-FFF2-40B4-BE49-F238E27FC236}">
                  <a16:creationId xmlns:a16="http://schemas.microsoft.com/office/drawing/2014/main" id="{E9FB3C98-7956-6B8D-B5C2-79FA6AC2FFCC}"/>
                </a:ext>
              </a:extLst>
            </p:cNvPr>
            <p:cNvSpPr>
              <a:spLocks noChangeShapeType="1"/>
            </p:cNvSpPr>
            <p:nvPr/>
          </p:nvSpPr>
          <p:spPr bwMode="auto">
            <a:xfrm flipH="1">
              <a:off x="3072" y="3264"/>
              <a:ext cx="480" cy="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1" name="Line 1053">
              <a:extLst>
                <a:ext uri="{FF2B5EF4-FFF2-40B4-BE49-F238E27FC236}">
                  <a16:creationId xmlns:a16="http://schemas.microsoft.com/office/drawing/2014/main" id="{355846CF-1B8F-4EE1-33AD-4BACBE336E5F}"/>
                </a:ext>
              </a:extLst>
            </p:cNvPr>
            <p:cNvSpPr>
              <a:spLocks noChangeShapeType="1"/>
            </p:cNvSpPr>
            <p:nvPr/>
          </p:nvSpPr>
          <p:spPr bwMode="auto">
            <a:xfrm flipH="1">
              <a:off x="3840" y="3120"/>
              <a:ext cx="480" cy="96"/>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2" name="Line 1054">
              <a:extLst>
                <a:ext uri="{FF2B5EF4-FFF2-40B4-BE49-F238E27FC236}">
                  <a16:creationId xmlns:a16="http://schemas.microsoft.com/office/drawing/2014/main" id="{AA49795D-A544-B0F7-5379-51569977E097}"/>
                </a:ext>
              </a:extLst>
            </p:cNvPr>
            <p:cNvSpPr>
              <a:spLocks noChangeShapeType="1"/>
            </p:cNvSpPr>
            <p:nvPr/>
          </p:nvSpPr>
          <p:spPr bwMode="auto">
            <a:xfrm flipH="1">
              <a:off x="3072" y="2592"/>
              <a:ext cx="1248"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3" name="Line 1055">
              <a:extLst>
                <a:ext uri="{FF2B5EF4-FFF2-40B4-BE49-F238E27FC236}">
                  <a16:creationId xmlns:a16="http://schemas.microsoft.com/office/drawing/2014/main" id="{1193DDBA-5592-066B-090A-B0EA0A49FEDA}"/>
                </a:ext>
              </a:extLst>
            </p:cNvPr>
            <p:cNvSpPr>
              <a:spLocks noChangeShapeType="1"/>
            </p:cNvSpPr>
            <p:nvPr/>
          </p:nvSpPr>
          <p:spPr bwMode="auto">
            <a:xfrm>
              <a:off x="1488" y="3168"/>
              <a:ext cx="1296" cy="67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4" name="Line 1056">
              <a:extLst>
                <a:ext uri="{FF2B5EF4-FFF2-40B4-BE49-F238E27FC236}">
                  <a16:creationId xmlns:a16="http://schemas.microsoft.com/office/drawing/2014/main" id="{C2C2F233-873A-0D84-04AB-71986BEF0AF2}"/>
                </a:ext>
              </a:extLst>
            </p:cNvPr>
            <p:cNvSpPr>
              <a:spLocks noChangeShapeType="1"/>
            </p:cNvSpPr>
            <p:nvPr/>
          </p:nvSpPr>
          <p:spPr bwMode="auto">
            <a:xfrm>
              <a:off x="3024" y="1728"/>
              <a:ext cx="1296"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5" name="Line 1057">
              <a:extLst>
                <a:ext uri="{FF2B5EF4-FFF2-40B4-BE49-F238E27FC236}">
                  <a16:creationId xmlns:a16="http://schemas.microsoft.com/office/drawing/2014/main" id="{9041D42B-B836-4219-E829-1428DE56DED2}"/>
                </a:ext>
              </a:extLst>
            </p:cNvPr>
            <p:cNvSpPr>
              <a:spLocks noChangeShapeType="1"/>
            </p:cNvSpPr>
            <p:nvPr/>
          </p:nvSpPr>
          <p:spPr bwMode="auto">
            <a:xfrm>
              <a:off x="1488" y="1536"/>
              <a:ext cx="1248"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6" name="Line 1058">
              <a:extLst>
                <a:ext uri="{FF2B5EF4-FFF2-40B4-BE49-F238E27FC236}">
                  <a16:creationId xmlns:a16="http://schemas.microsoft.com/office/drawing/2014/main" id="{D3D14958-E26B-1BD0-780B-A28D91CDAA95}"/>
                </a:ext>
              </a:extLst>
            </p:cNvPr>
            <p:cNvSpPr>
              <a:spLocks noChangeShapeType="1"/>
            </p:cNvSpPr>
            <p:nvPr/>
          </p:nvSpPr>
          <p:spPr bwMode="auto">
            <a:xfrm>
              <a:off x="3024" y="2304"/>
              <a:ext cx="1296"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7" name="Line 1059">
              <a:extLst>
                <a:ext uri="{FF2B5EF4-FFF2-40B4-BE49-F238E27FC236}">
                  <a16:creationId xmlns:a16="http://schemas.microsoft.com/office/drawing/2014/main" id="{7BF9B307-0958-E9B8-28E5-69655C5836F0}"/>
                </a:ext>
              </a:extLst>
            </p:cNvPr>
            <p:cNvSpPr>
              <a:spLocks noChangeShapeType="1"/>
            </p:cNvSpPr>
            <p:nvPr/>
          </p:nvSpPr>
          <p:spPr bwMode="auto">
            <a:xfrm>
              <a:off x="3072" y="2880"/>
              <a:ext cx="1248"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8" name="Line 1060">
              <a:extLst>
                <a:ext uri="{FF2B5EF4-FFF2-40B4-BE49-F238E27FC236}">
                  <a16:creationId xmlns:a16="http://schemas.microsoft.com/office/drawing/2014/main" id="{1CDA2435-94F9-9334-B0BF-09FA65AACB53}"/>
                </a:ext>
              </a:extLst>
            </p:cNvPr>
            <p:cNvSpPr>
              <a:spLocks noChangeShapeType="1"/>
            </p:cNvSpPr>
            <p:nvPr/>
          </p:nvSpPr>
          <p:spPr bwMode="auto">
            <a:xfrm>
              <a:off x="1488" y="2592"/>
              <a:ext cx="1296"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49" name="Line 1061">
              <a:extLst>
                <a:ext uri="{FF2B5EF4-FFF2-40B4-BE49-F238E27FC236}">
                  <a16:creationId xmlns:a16="http://schemas.microsoft.com/office/drawing/2014/main" id="{F1E4C48B-44B0-4054-46D5-FF3C5DFFA764}"/>
                </a:ext>
              </a:extLst>
            </p:cNvPr>
            <p:cNvSpPr>
              <a:spLocks noChangeShapeType="1"/>
            </p:cNvSpPr>
            <p:nvPr/>
          </p:nvSpPr>
          <p:spPr bwMode="auto">
            <a:xfrm>
              <a:off x="3024" y="1152"/>
              <a:ext cx="1248"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50" name="Line 1062">
              <a:extLst>
                <a:ext uri="{FF2B5EF4-FFF2-40B4-BE49-F238E27FC236}">
                  <a16:creationId xmlns:a16="http://schemas.microsoft.com/office/drawing/2014/main" id="{8579DD3D-6A02-9D0C-13EB-37DF8E7BF7E8}"/>
                </a:ext>
              </a:extLst>
            </p:cNvPr>
            <p:cNvSpPr>
              <a:spLocks noChangeShapeType="1"/>
            </p:cNvSpPr>
            <p:nvPr/>
          </p:nvSpPr>
          <p:spPr bwMode="auto">
            <a:xfrm>
              <a:off x="3792" y="3360"/>
              <a:ext cx="528" cy="144"/>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51" name="Line 1063">
              <a:extLst>
                <a:ext uri="{FF2B5EF4-FFF2-40B4-BE49-F238E27FC236}">
                  <a16:creationId xmlns:a16="http://schemas.microsoft.com/office/drawing/2014/main" id="{8E7261E4-D0E4-65FE-16BA-0C942F59CED0}"/>
                </a:ext>
              </a:extLst>
            </p:cNvPr>
            <p:cNvSpPr>
              <a:spLocks noChangeShapeType="1"/>
            </p:cNvSpPr>
            <p:nvPr/>
          </p:nvSpPr>
          <p:spPr bwMode="auto">
            <a:xfrm flipH="1">
              <a:off x="2880" y="768"/>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52" name="Line 1064">
              <a:extLst>
                <a:ext uri="{FF2B5EF4-FFF2-40B4-BE49-F238E27FC236}">
                  <a16:creationId xmlns:a16="http://schemas.microsoft.com/office/drawing/2014/main" id="{DAD73100-32C0-CF50-ACFA-D0C6EE490BC2}"/>
                </a:ext>
              </a:extLst>
            </p:cNvPr>
            <p:cNvSpPr>
              <a:spLocks noChangeShapeType="1"/>
            </p:cNvSpPr>
            <p:nvPr/>
          </p:nvSpPr>
          <p:spPr bwMode="auto">
            <a:xfrm flipH="1">
              <a:off x="2880" y="288"/>
              <a:ext cx="0" cy="19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53" name="Line 1065">
              <a:extLst>
                <a:ext uri="{FF2B5EF4-FFF2-40B4-BE49-F238E27FC236}">
                  <a16:creationId xmlns:a16="http://schemas.microsoft.com/office/drawing/2014/main" id="{981CCAE7-B1D8-470B-AA13-73CACCA01E90}"/>
                </a:ext>
              </a:extLst>
            </p:cNvPr>
            <p:cNvSpPr>
              <a:spLocks noChangeShapeType="1"/>
            </p:cNvSpPr>
            <p:nvPr/>
          </p:nvSpPr>
          <p:spPr bwMode="auto">
            <a:xfrm flipH="1">
              <a:off x="2928" y="4032"/>
              <a:ext cx="0" cy="19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54" name="Line 1066">
              <a:extLst>
                <a:ext uri="{FF2B5EF4-FFF2-40B4-BE49-F238E27FC236}">
                  <a16:creationId xmlns:a16="http://schemas.microsoft.com/office/drawing/2014/main" id="{CFE48C9B-8175-E946-0701-6F39BE7DC81B}"/>
                </a:ext>
              </a:extLst>
            </p:cNvPr>
            <p:cNvSpPr>
              <a:spLocks noChangeShapeType="1"/>
            </p:cNvSpPr>
            <p:nvPr/>
          </p:nvSpPr>
          <p:spPr bwMode="auto">
            <a:xfrm flipH="1">
              <a:off x="2928" y="350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55" name="Text Box 1067">
              <a:extLst>
                <a:ext uri="{FF2B5EF4-FFF2-40B4-BE49-F238E27FC236}">
                  <a16:creationId xmlns:a16="http://schemas.microsoft.com/office/drawing/2014/main" id="{96E037F7-595C-78DD-2A08-CE5042F92F7F}"/>
                </a:ext>
              </a:extLst>
            </p:cNvPr>
            <p:cNvSpPr txBox="1">
              <a:spLocks noChangeArrowheads="1"/>
            </p:cNvSpPr>
            <p:nvPr/>
          </p:nvSpPr>
          <p:spPr bwMode="auto">
            <a:xfrm>
              <a:off x="2976" y="1248"/>
              <a:ext cx="432"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R1</a:t>
              </a:r>
            </a:p>
          </p:txBody>
        </p:sp>
        <p:sp>
          <p:nvSpPr>
            <p:cNvPr id="90156" name="Text Box 1068">
              <a:extLst>
                <a:ext uri="{FF2B5EF4-FFF2-40B4-BE49-F238E27FC236}">
                  <a16:creationId xmlns:a16="http://schemas.microsoft.com/office/drawing/2014/main" id="{7C79CFA4-6A51-FEAA-C561-294DCE735029}"/>
                </a:ext>
              </a:extLst>
            </p:cNvPr>
            <p:cNvSpPr txBox="1">
              <a:spLocks noChangeArrowheads="1"/>
            </p:cNvSpPr>
            <p:nvPr/>
          </p:nvSpPr>
          <p:spPr bwMode="auto">
            <a:xfrm>
              <a:off x="2976" y="1824"/>
              <a:ext cx="432"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R2</a:t>
              </a:r>
            </a:p>
          </p:txBody>
        </p:sp>
        <p:sp>
          <p:nvSpPr>
            <p:cNvPr id="90157" name="Text Box 1069">
              <a:extLst>
                <a:ext uri="{FF2B5EF4-FFF2-40B4-BE49-F238E27FC236}">
                  <a16:creationId xmlns:a16="http://schemas.microsoft.com/office/drawing/2014/main" id="{F4C6FEED-B621-425B-23CD-E6C5A3AD642C}"/>
                </a:ext>
              </a:extLst>
            </p:cNvPr>
            <p:cNvSpPr txBox="1">
              <a:spLocks noChangeArrowheads="1"/>
            </p:cNvSpPr>
            <p:nvPr/>
          </p:nvSpPr>
          <p:spPr bwMode="auto">
            <a:xfrm>
              <a:off x="3073" y="2399"/>
              <a:ext cx="431"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R3</a:t>
              </a:r>
            </a:p>
          </p:txBody>
        </p:sp>
        <p:sp>
          <p:nvSpPr>
            <p:cNvPr id="90158" name="Text Box 1070">
              <a:extLst>
                <a:ext uri="{FF2B5EF4-FFF2-40B4-BE49-F238E27FC236}">
                  <a16:creationId xmlns:a16="http://schemas.microsoft.com/office/drawing/2014/main" id="{B8C373D2-A3C8-679E-2089-D5AAF5A11798}"/>
                </a:ext>
              </a:extLst>
            </p:cNvPr>
            <p:cNvSpPr txBox="1">
              <a:spLocks noChangeArrowheads="1"/>
            </p:cNvSpPr>
            <p:nvPr/>
          </p:nvSpPr>
          <p:spPr bwMode="auto">
            <a:xfrm>
              <a:off x="3216" y="3408"/>
              <a:ext cx="432"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R5</a:t>
              </a:r>
            </a:p>
          </p:txBody>
        </p:sp>
        <p:sp>
          <p:nvSpPr>
            <p:cNvPr id="90159" name="Text Box 1071">
              <a:extLst>
                <a:ext uri="{FF2B5EF4-FFF2-40B4-BE49-F238E27FC236}">
                  <a16:creationId xmlns:a16="http://schemas.microsoft.com/office/drawing/2014/main" id="{A27CE82E-5F4D-AC86-4D4B-B8CD77CD2B31}"/>
                </a:ext>
              </a:extLst>
            </p:cNvPr>
            <p:cNvSpPr txBox="1">
              <a:spLocks noChangeArrowheads="1"/>
            </p:cNvSpPr>
            <p:nvPr/>
          </p:nvSpPr>
          <p:spPr bwMode="auto">
            <a:xfrm>
              <a:off x="2208" y="3120"/>
              <a:ext cx="432"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R4</a:t>
              </a:r>
            </a:p>
          </p:txBody>
        </p:sp>
        <p:sp>
          <p:nvSpPr>
            <p:cNvPr id="90160" name="Text Box 1072">
              <a:extLst>
                <a:ext uri="{FF2B5EF4-FFF2-40B4-BE49-F238E27FC236}">
                  <a16:creationId xmlns:a16="http://schemas.microsoft.com/office/drawing/2014/main" id="{A5EC290C-A60F-9B2E-43E0-AF9B448FB667}"/>
                </a:ext>
              </a:extLst>
            </p:cNvPr>
            <p:cNvSpPr txBox="1">
              <a:spLocks noChangeArrowheads="1"/>
            </p:cNvSpPr>
            <p:nvPr/>
          </p:nvSpPr>
          <p:spPr bwMode="auto">
            <a:xfrm>
              <a:off x="528" y="2303"/>
              <a:ext cx="432"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R6</a:t>
              </a:r>
            </a:p>
          </p:txBody>
        </p:sp>
        <p:sp>
          <p:nvSpPr>
            <p:cNvPr id="90161" name="Line 1073">
              <a:extLst>
                <a:ext uri="{FF2B5EF4-FFF2-40B4-BE49-F238E27FC236}">
                  <a16:creationId xmlns:a16="http://schemas.microsoft.com/office/drawing/2014/main" id="{7CE1900E-DA2A-46E7-B37D-6EDB1DEFF18C}"/>
                </a:ext>
              </a:extLst>
            </p:cNvPr>
            <p:cNvSpPr>
              <a:spLocks noChangeShapeType="1"/>
            </p:cNvSpPr>
            <p:nvPr/>
          </p:nvSpPr>
          <p:spPr bwMode="auto">
            <a:xfrm>
              <a:off x="1488" y="3120"/>
              <a:ext cx="1296" cy="672"/>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2" name="Line 1074">
              <a:extLst>
                <a:ext uri="{FF2B5EF4-FFF2-40B4-BE49-F238E27FC236}">
                  <a16:creationId xmlns:a16="http://schemas.microsoft.com/office/drawing/2014/main" id="{8251E721-27EA-E317-1D6D-2EA8BAB96FEC}"/>
                </a:ext>
              </a:extLst>
            </p:cNvPr>
            <p:cNvSpPr>
              <a:spLocks noChangeShapeType="1"/>
            </p:cNvSpPr>
            <p:nvPr/>
          </p:nvSpPr>
          <p:spPr bwMode="auto">
            <a:xfrm flipH="1">
              <a:off x="1488" y="2832"/>
              <a:ext cx="1296" cy="24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3" name="Line 1075">
              <a:extLst>
                <a:ext uri="{FF2B5EF4-FFF2-40B4-BE49-F238E27FC236}">
                  <a16:creationId xmlns:a16="http://schemas.microsoft.com/office/drawing/2014/main" id="{6D85693C-76B3-80F3-34E7-E6311CB8ED93}"/>
                </a:ext>
              </a:extLst>
            </p:cNvPr>
            <p:cNvSpPr>
              <a:spLocks noChangeShapeType="1"/>
            </p:cNvSpPr>
            <p:nvPr/>
          </p:nvSpPr>
          <p:spPr bwMode="auto">
            <a:xfrm>
              <a:off x="1344" y="2688"/>
              <a:ext cx="1344" cy="192"/>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4" name="Line 1076">
              <a:extLst>
                <a:ext uri="{FF2B5EF4-FFF2-40B4-BE49-F238E27FC236}">
                  <a16:creationId xmlns:a16="http://schemas.microsoft.com/office/drawing/2014/main" id="{78AAE2F9-1C06-B595-402F-DAB616C99466}"/>
                </a:ext>
              </a:extLst>
            </p:cNvPr>
            <p:cNvSpPr>
              <a:spLocks noChangeShapeType="1"/>
            </p:cNvSpPr>
            <p:nvPr/>
          </p:nvSpPr>
          <p:spPr bwMode="auto">
            <a:xfrm flipH="1">
              <a:off x="1440" y="2208"/>
              <a:ext cx="1296" cy="24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5" name="Line 1077">
              <a:extLst>
                <a:ext uri="{FF2B5EF4-FFF2-40B4-BE49-F238E27FC236}">
                  <a16:creationId xmlns:a16="http://schemas.microsoft.com/office/drawing/2014/main" id="{657FEA67-F156-C392-3092-FEA6C7A14D98}"/>
                </a:ext>
              </a:extLst>
            </p:cNvPr>
            <p:cNvSpPr>
              <a:spLocks noChangeShapeType="1"/>
            </p:cNvSpPr>
            <p:nvPr/>
          </p:nvSpPr>
          <p:spPr bwMode="auto">
            <a:xfrm>
              <a:off x="1488" y="2016"/>
              <a:ext cx="1296" cy="14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6" name="Line 1078">
              <a:extLst>
                <a:ext uri="{FF2B5EF4-FFF2-40B4-BE49-F238E27FC236}">
                  <a16:creationId xmlns:a16="http://schemas.microsoft.com/office/drawing/2014/main" id="{9B784E07-9F6F-3652-02B7-C3681FA4BBC3}"/>
                </a:ext>
              </a:extLst>
            </p:cNvPr>
            <p:cNvSpPr>
              <a:spLocks noChangeShapeType="1"/>
            </p:cNvSpPr>
            <p:nvPr/>
          </p:nvSpPr>
          <p:spPr bwMode="auto">
            <a:xfrm flipH="1">
              <a:off x="1440" y="1680"/>
              <a:ext cx="1296" cy="24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7" name="Line 1079">
              <a:extLst>
                <a:ext uri="{FF2B5EF4-FFF2-40B4-BE49-F238E27FC236}">
                  <a16:creationId xmlns:a16="http://schemas.microsoft.com/office/drawing/2014/main" id="{DDEA1AB0-8DE1-4B1D-DFBF-F7027E5627F1}"/>
                </a:ext>
              </a:extLst>
            </p:cNvPr>
            <p:cNvSpPr>
              <a:spLocks noChangeShapeType="1"/>
            </p:cNvSpPr>
            <p:nvPr/>
          </p:nvSpPr>
          <p:spPr bwMode="auto">
            <a:xfrm>
              <a:off x="1488" y="1488"/>
              <a:ext cx="1296" cy="14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8" name="Line 1080">
              <a:extLst>
                <a:ext uri="{FF2B5EF4-FFF2-40B4-BE49-F238E27FC236}">
                  <a16:creationId xmlns:a16="http://schemas.microsoft.com/office/drawing/2014/main" id="{492DA49D-8E74-1C54-D412-7C5047F3FC45}"/>
                </a:ext>
              </a:extLst>
            </p:cNvPr>
            <p:cNvSpPr>
              <a:spLocks noChangeShapeType="1"/>
            </p:cNvSpPr>
            <p:nvPr/>
          </p:nvSpPr>
          <p:spPr bwMode="auto">
            <a:xfrm flipH="1">
              <a:off x="1440" y="1152"/>
              <a:ext cx="1296" cy="24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69" name="Line 1081">
              <a:extLst>
                <a:ext uri="{FF2B5EF4-FFF2-40B4-BE49-F238E27FC236}">
                  <a16:creationId xmlns:a16="http://schemas.microsoft.com/office/drawing/2014/main" id="{3F50094A-C973-F384-62EA-492D62561065}"/>
                </a:ext>
              </a:extLst>
            </p:cNvPr>
            <p:cNvSpPr>
              <a:spLocks noChangeShapeType="1"/>
            </p:cNvSpPr>
            <p:nvPr/>
          </p:nvSpPr>
          <p:spPr bwMode="auto">
            <a:xfrm>
              <a:off x="2832" y="768"/>
              <a:ext cx="0" cy="24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0" name="Line 1082">
              <a:extLst>
                <a:ext uri="{FF2B5EF4-FFF2-40B4-BE49-F238E27FC236}">
                  <a16:creationId xmlns:a16="http://schemas.microsoft.com/office/drawing/2014/main" id="{3C851BD5-20EB-D35B-FB38-4FB85DC2D89A}"/>
                </a:ext>
              </a:extLst>
            </p:cNvPr>
            <p:cNvSpPr>
              <a:spLocks noChangeShapeType="1"/>
            </p:cNvSpPr>
            <p:nvPr/>
          </p:nvSpPr>
          <p:spPr bwMode="auto">
            <a:xfrm>
              <a:off x="3024" y="1104"/>
              <a:ext cx="1296" cy="14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2" name="Line 1084">
              <a:extLst>
                <a:ext uri="{FF2B5EF4-FFF2-40B4-BE49-F238E27FC236}">
                  <a16:creationId xmlns:a16="http://schemas.microsoft.com/office/drawing/2014/main" id="{4737B766-B626-1906-2B77-718A80F5A5C8}"/>
                </a:ext>
              </a:extLst>
            </p:cNvPr>
            <p:cNvSpPr>
              <a:spLocks noChangeShapeType="1"/>
            </p:cNvSpPr>
            <p:nvPr/>
          </p:nvSpPr>
          <p:spPr bwMode="auto">
            <a:xfrm>
              <a:off x="1464" y="3200"/>
              <a:ext cx="1320" cy="688"/>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3" name="Line 1085">
              <a:extLst>
                <a:ext uri="{FF2B5EF4-FFF2-40B4-BE49-F238E27FC236}">
                  <a16:creationId xmlns:a16="http://schemas.microsoft.com/office/drawing/2014/main" id="{5B5B7027-6FC5-617E-356E-C326A435E2AA}"/>
                </a:ext>
              </a:extLst>
            </p:cNvPr>
            <p:cNvSpPr>
              <a:spLocks noChangeShapeType="1"/>
            </p:cNvSpPr>
            <p:nvPr/>
          </p:nvSpPr>
          <p:spPr bwMode="auto">
            <a:xfrm flipV="1">
              <a:off x="1536" y="2928"/>
              <a:ext cx="1248" cy="24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4" name="Line 1086">
              <a:extLst>
                <a:ext uri="{FF2B5EF4-FFF2-40B4-BE49-F238E27FC236}">
                  <a16:creationId xmlns:a16="http://schemas.microsoft.com/office/drawing/2014/main" id="{818D6F15-7E50-175D-DA35-FBC3A8188283}"/>
                </a:ext>
              </a:extLst>
            </p:cNvPr>
            <p:cNvSpPr>
              <a:spLocks noChangeShapeType="1"/>
            </p:cNvSpPr>
            <p:nvPr/>
          </p:nvSpPr>
          <p:spPr bwMode="auto">
            <a:xfrm>
              <a:off x="1488" y="2640"/>
              <a:ext cx="1296" cy="192"/>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5" name="Line 1087">
              <a:extLst>
                <a:ext uri="{FF2B5EF4-FFF2-40B4-BE49-F238E27FC236}">
                  <a16:creationId xmlns:a16="http://schemas.microsoft.com/office/drawing/2014/main" id="{8D9F91D2-715C-68A6-4DE3-1F5CE0E4B900}"/>
                </a:ext>
              </a:extLst>
            </p:cNvPr>
            <p:cNvSpPr>
              <a:spLocks noChangeShapeType="1"/>
            </p:cNvSpPr>
            <p:nvPr/>
          </p:nvSpPr>
          <p:spPr bwMode="auto">
            <a:xfrm flipV="1">
              <a:off x="1488" y="2304"/>
              <a:ext cx="1248" cy="24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6" name="Line 1088">
              <a:extLst>
                <a:ext uri="{FF2B5EF4-FFF2-40B4-BE49-F238E27FC236}">
                  <a16:creationId xmlns:a16="http://schemas.microsoft.com/office/drawing/2014/main" id="{D2E8F5B2-DED0-370F-DDD4-71DEC1B1C1BB}"/>
                </a:ext>
              </a:extLst>
            </p:cNvPr>
            <p:cNvSpPr>
              <a:spLocks noChangeShapeType="1"/>
            </p:cNvSpPr>
            <p:nvPr/>
          </p:nvSpPr>
          <p:spPr bwMode="auto">
            <a:xfrm>
              <a:off x="1584" y="1968"/>
              <a:ext cx="1200" cy="144"/>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7" name="Line 1089">
              <a:extLst>
                <a:ext uri="{FF2B5EF4-FFF2-40B4-BE49-F238E27FC236}">
                  <a16:creationId xmlns:a16="http://schemas.microsoft.com/office/drawing/2014/main" id="{F6F5E3BD-C6BF-A7AA-F303-ABA7B3F8D6E9}"/>
                </a:ext>
              </a:extLst>
            </p:cNvPr>
            <p:cNvSpPr>
              <a:spLocks noChangeShapeType="1"/>
            </p:cNvSpPr>
            <p:nvPr/>
          </p:nvSpPr>
          <p:spPr bwMode="auto">
            <a:xfrm flipV="1">
              <a:off x="1576" y="1744"/>
              <a:ext cx="1200" cy="24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78" name="Line 1090">
              <a:extLst>
                <a:ext uri="{FF2B5EF4-FFF2-40B4-BE49-F238E27FC236}">
                  <a16:creationId xmlns:a16="http://schemas.microsoft.com/office/drawing/2014/main" id="{4576D175-F6BB-F972-59EE-070CA8D24C5E}"/>
                </a:ext>
              </a:extLst>
            </p:cNvPr>
            <p:cNvSpPr>
              <a:spLocks noChangeShapeType="1"/>
            </p:cNvSpPr>
            <p:nvPr/>
          </p:nvSpPr>
          <p:spPr bwMode="auto">
            <a:xfrm flipV="1">
              <a:off x="3072" y="1344"/>
              <a:ext cx="1104" cy="240"/>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85" name="Line 1097">
              <a:extLst>
                <a:ext uri="{FF2B5EF4-FFF2-40B4-BE49-F238E27FC236}">
                  <a16:creationId xmlns:a16="http://schemas.microsoft.com/office/drawing/2014/main" id="{A5FC01A1-1B33-E457-9435-C96DB4BBD2E4}"/>
                </a:ext>
              </a:extLst>
            </p:cNvPr>
            <p:cNvSpPr>
              <a:spLocks noChangeShapeType="1"/>
            </p:cNvSpPr>
            <p:nvPr/>
          </p:nvSpPr>
          <p:spPr bwMode="auto">
            <a:xfrm>
              <a:off x="2784" y="720"/>
              <a:ext cx="0" cy="336"/>
            </a:xfrm>
            <a:prstGeom prst="line">
              <a:avLst/>
            </a:prstGeom>
            <a:noFill/>
            <a:ln w="28575">
              <a:solidFill>
                <a:srgbClr val="FF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86" name="Line 1098">
              <a:extLst>
                <a:ext uri="{FF2B5EF4-FFF2-40B4-BE49-F238E27FC236}">
                  <a16:creationId xmlns:a16="http://schemas.microsoft.com/office/drawing/2014/main" id="{D8D62B1C-FF60-54D6-54B4-6F2E8B60362D}"/>
                </a:ext>
              </a:extLst>
            </p:cNvPr>
            <p:cNvSpPr>
              <a:spLocks noChangeShapeType="1"/>
            </p:cNvSpPr>
            <p:nvPr/>
          </p:nvSpPr>
          <p:spPr bwMode="auto">
            <a:xfrm flipV="1">
              <a:off x="1424" y="1104"/>
              <a:ext cx="1360" cy="25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87" name="Line 1099">
              <a:extLst>
                <a:ext uri="{FF2B5EF4-FFF2-40B4-BE49-F238E27FC236}">
                  <a16:creationId xmlns:a16="http://schemas.microsoft.com/office/drawing/2014/main" id="{A60BA578-8F54-10DA-D2FF-DC26C72CFB1C}"/>
                </a:ext>
              </a:extLst>
            </p:cNvPr>
            <p:cNvSpPr>
              <a:spLocks noChangeShapeType="1"/>
            </p:cNvSpPr>
            <p:nvPr/>
          </p:nvSpPr>
          <p:spPr bwMode="auto">
            <a:xfrm>
              <a:off x="1416" y="2664"/>
              <a:ext cx="1368" cy="21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88" name="Line 1100">
              <a:extLst>
                <a:ext uri="{FF2B5EF4-FFF2-40B4-BE49-F238E27FC236}">
                  <a16:creationId xmlns:a16="http://schemas.microsoft.com/office/drawing/2014/main" id="{7D3ACF1D-1F2F-C3B5-E86A-89C8DF135225}"/>
                </a:ext>
              </a:extLst>
            </p:cNvPr>
            <p:cNvSpPr>
              <a:spLocks noChangeShapeType="1"/>
            </p:cNvSpPr>
            <p:nvPr/>
          </p:nvSpPr>
          <p:spPr bwMode="auto">
            <a:xfrm flipV="1">
              <a:off x="1488" y="2352"/>
              <a:ext cx="1296"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89" name="Line 1101">
              <a:extLst>
                <a:ext uri="{FF2B5EF4-FFF2-40B4-BE49-F238E27FC236}">
                  <a16:creationId xmlns:a16="http://schemas.microsoft.com/office/drawing/2014/main" id="{3A3E92BE-976A-F7F6-3EDB-9AE6AF1AA500}"/>
                </a:ext>
              </a:extLst>
            </p:cNvPr>
            <p:cNvSpPr>
              <a:spLocks noChangeShapeType="1"/>
            </p:cNvSpPr>
            <p:nvPr/>
          </p:nvSpPr>
          <p:spPr bwMode="auto">
            <a:xfrm flipV="1">
              <a:off x="2976" y="1920"/>
              <a:ext cx="1344" cy="24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0" name="Line 1102">
              <a:extLst>
                <a:ext uri="{FF2B5EF4-FFF2-40B4-BE49-F238E27FC236}">
                  <a16:creationId xmlns:a16="http://schemas.microsoft.com/office/drawing/2014/main" id="{261EAB3C-E5F1-50AE-37BA-4520E1B1502A}"/>
                </a:ext>
              </a:extLst>
            </p:cNvPr>
            <p:cNvSpPr>
              <a:spLocks noChangeShapeType="1"/>
            </p:cNvSpPr>
            <p:nvPr/>
          </p:nvSpPr>
          <p:spPr bwMode="auto">
            <a:xfrm>
              <a:off x="3024" y="1696"/>
              <a:ext cx="1344" cy="128"/>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1" name="Line 1103">
              <a:extLst>
                <a:ext uri="{FF2B5EF4-FFF2-40B4-BE49-F238E27FC236}">
                  <a16:creationId xmlns:a16="http://schemas.microsoft.com/office/drawing/2014/main" id="{E989EF2D-0B1B-FDAD-B3B0-1C9420FFA689}"/>
                </a:ext>
              </a:extLst>
            </p:cNvPr>
            <p:cNvSpPr>
              <a:spLocks noChangeShapeType="1"/>
            </p:cNvSpPr>
            <p:nvPr/>
          </p:nvSpPr>
          <p:spPr bwMode="auto">
            <a:xfrm>
              <a:off x="1520" y="1576"/>
              <a:ext cx="1216" cy="15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2" name="Line 1104">
              <a:extLst>
                <a:ext uri="{FF2B5EF4-FFF2-40B4-BE49-F238E27FC236}">
                  <a16:creationId xmlns:a16="http://schemas.microsoft.com/office/drawing/2014/main" id="{1C1A373D-15BB-52CA-F007-2AACD367FD99}"/>
                </a:ext>
              </a:extLst>
            </p:cNvPr>
            <p:cNvSpPr>
              <a:spLocks noChangeShapeType="1"/>
            </p:cNvSpPr>
            <p:nvPr/>
          </p:nvSpPr>
          <p:spPr bwMode="auto">
            <a:xfrm>
              <a:off x="2736" y="672"/>
              <a:ext cx="0" cy="43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3" name="Line 1105">
              <a:extLst>
                <a:ext uri="{FF2B5EF4-FFF2-40B4-BE49-F238E27FC236}">
                  <a16:creationId xmlns:a16="http://schemas.microsoft.com/office/drawing/2014/main" id="{F976BFF3-4C55-22A4-6840-D3BC9B41DF43}"/>
                </a:ext>
              </a:extLst>
            </p:cNvPr>
            <p:cNvSpPr>
              <a:spLocks noChangeShapeType="1"/>
            </p:cNvSpPr>
            <p:nvPr/>
          </p:nvSpPr>
          <p:spPr bwMode="auto">
            <a:xfrm>
              <a:off x="2928" y="768"/>
              <a:ext cx="0" cy="288"/>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4" name="Line 1106">
              <a:extLst>
                <a:ext uri="{FF2B5EF4-FFF2-40B4-BE49-F238E27FC236}">
                  <a16:creationId xmlns:a16="http://schemas.microsoft.com/office/drawing/2014/main" id="{E361B339-0C5E-2EE3-AA9A-C7E6E844092C}"/>
                </a:ext>
              </a:extLst>
            </p:cNvPr>
            <p:cNvSpPr>
              <a:spLocks noChangeShapeType="1"/>
            </p:cNvSpPr>
            <p:nvPr/>
          </p:nvSpPr>
          <p:spPr bwMode="auto">
            <a:xfrm>
              <a:off x="1440" y="3216"/>
              <a:ext cx="1344" cy="72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5" name="Line 1107">
              <a:extLst>
                <a:ext uri="{FF2B5EF4-FFF2-40B4-BE49-F238E27FC236}">
                  <a16:creationId xmlns:a16="http://schemas.microsoft.com/office/drawing/2014/main" id="{5BD6E910-5316-53D2-04B8-F9366168D688}"/>
                </a:ext>
              </a:extLst>
            </p:cNvPr>
            <p:cNvSpPr>
              <a:spLocks noChangeShapeType="1"/>
            </p:cNvSpPr>
            <p:nvPr/>
          </p:nvSpPr>
          <p:spPr bwMode="auto">
            <a:xfrm flipV="1">
              <a:off x="1488" y="2832"/>
              <a:ext cx="1008" cy="192"/>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6" name="Line 1108">
              <a:extLst>
                <a:ext uri="{FF2B5EF4-FFF2-40B4-BE49-F238E27FC236}">
                  <a16:creationId xmlns:a16="http://schemas.microsoft.com/office/drawing/2014/main" id="{E0007C6D-AD60-0A24-A810-6C0C2839782A}"/>
                </a:ext>
              </a:extLst>
            </p:cNvPr>
            <p:cNvSpPr>
              <a:spLocks noChangeShapeType="1"/>
            </p:cNvSpPr>
            <p:nvPr/>
          </p:nvSpPr>
          <p:spPr bwMode="auto">
            <a:xfrm flipV="1">
              <a:off x="1496" y="1224"/>
              <a:ext cx="1296" cy="240"/>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7" name="Line 1109">
              <a:extLst>
                <a:ext uri="{FF2B5EF4-FFF2-40B4-BE49-F238E27FC236}">
                  <a16:creationId xmlns:a16="http://schemas.microsoft.com/office/drawing/2014/main" id="{1DC11A5D-9C40-1CBC-234F-63CF4EDD00DC}"/>
                </a:ext>
              </a:extLst>
            </p:cNvPr>
            <p:cNvSpPr>
              <a:spLocks noChangeShapeType="1"/>
            </p:cNvSpPr>
            <p:nvPr/>
          </p:nvSpPr>
          <p:spPr bwMode="auto">
            <a:xfrm>
              <a:off x="1584" y="1456"/>
              <a:ext cx="1200" cy="144"/>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8" name="Line 1110">
              <a:extLst>
                <a:ext uri="{FF2B5EF4-FFF2-40B4-BE49-F238E27FC236}">
                  <a16:creationId xmlns:a16="http://schemas.microsoft.com/office/drawing/2014/main" id="{CB5105C9-AD92-4297-09D5-A0957330FBD4}"/>
                </a:ext>
              </a:extLst>
            </p:cNvPr>
            <p:cNvSpPr>
              <a:spLocks noChangeShapeType="1"/>
            </p:cNvSpPr>
            <p:nvPr/>
          </p:nvSpPr>
          <p:spPr bwMode="auto">
            <a:xfrm flipV="1">
              <a:off x="1640" y="1776"/>
              <a:ext cx="1192" cy="232"/>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199" name="Line 1111">
              <a:extLst>
                <a:ext uri="{FF2B5EF4-FFF2-40B4-BE49-F238E27FC236}">
                  <a16:creationId xmlns:a16="http://schemas.microsoft.com/office/drawing/2014/main" id="{3A7B77E0-78A8-CF84-F5DE-06486D1458BB}"/>
                </a:ext>
              </a:extLst>
            </p:cNvPr>
            <p:cNvSpPr>
              <a:spLocks noChangeShapeType="1"/>
            </p:cNvSpPr>
            <p:nvPr/>
          </p:nvSpPr>
          <p:spPr bwMode="auto">
            <a:xfrm>
              <a:off x="1496" y="2096"/>
              <a:ext cx="1048" cy="112"/>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0" name="Line 1112">
              <a:extLst>
                <a:ext uri="{FF2B5EF4-FFF2-40B4-BE49-F238E27FC236}">
                  <a16:creationId xmlns:a16="http://schemas.microsoft.com/office/drawing/2014/main" id="{9E5DD108-D0DF-D938-1601-45D61650C169}"/>
                </a:ext>
              </a:extLst>
            </p:cNvPr>
            <p:cNvSpPr>
              <a:spLocks noChangeShapeType="1"/>
            </p:cNvSpPr>
            <p:nvPr/>
          </p:nvSpPr>
          <p:spPr bwMode="auto">
            <a:xfrm flipV="1">
              <a:off x="3056" y="2560"/>
              <a:ext cx="1296" cy="240"/>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1" name="Line 1113">
              <a:extLst>
                <a:ext uri="{FF2B5EF4-FFF2-40B4-BE49-F238E27FC236}">
                  <a16:creationId xmlns:a16="http://schemas.microsoft.com/office/drawing/2014/main" id="{8854E99C-0C63-820B-F868-07F340C39849}"/>
                </a:ext>
              </a:extLst>
            </p:cNvPr>
            <p:cNvSpPr>
              <a:spLocks noChangeShapeType="1"/>
            </p:cNvSpPr>
            <p:nvPr/>
          </p:nvSpPr>
          <p:spPr bwMode="auto">
            <a:xfrm flipV="1">
              <a:off x="1576" y="2952"/>
              <a:ext cx="1296" cy="240"/>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2" name="Line 1114">
              <a:extLst>
                <a:ext uri="{FF2B5EF4-FFF2-40B4-BE49-F238E27FC236}">
                  <a16:creationId xmlns:a16="http://schemas.microsoft.com/office/drawing/2014/main" id="{FFC8A6B9-B54C-3174-39D8-AFB82952BE98}"/>
                </a:ext>
              </a:extLst>
            </p:cNvPr>
            <p:cNvSpPr>
              <a:spLocks noChangeShapeType="1"/>
            </p:cNvSpPr>
            <p:nvPr/>
          </p:nvSpPr>
          <p:spPr bwMode="auto">
            <a:xfrm flipH="1" flipV="1">
              <a:off x="1456" y="3272"/>
              <a:ext cx="1400" cy="744"/>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3" name="Line 1115">
              <a:extLst>
                <a:ext uri="{FF2B5EF4-FFF2-40B4-BE49-F238E27FC236}">
                  <a16:creationId xmlns:a16="http://schemas.microsoft.com/office/drawing/2014/main" id="{E1DB3D8C-7455-D3D9-1294-65EE3236DF98}"/>
                </a:ext>
              </a:extLst>
            </p:cNvPr>
            <p:cNvSpPr>
              <a:spLocks noChangeShapeType="1"/>
            </p:cNvSpPr>
            <p:nvPr/>
          </p:nvSpPr>
          <p:spPr bwMode="auto">
            <a:xfrm flipV="1">
              <a:off x="1376" y="1080"/>
              <a:ext cx="1376" cy="256"/>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4" name="Line 1116">
              <a:extLst>
                <a:ext uri="{FF2B5EF4-FFF2-40B4-BE49-F238E27FC236}">
                  <a16:creationId xmlns:a16="http://schemas.microsoft.com/office/drawing/2014/main" id="{FACDB451-0AB0-0CA9-BD59-853360BD6C5B}"/>
                </a:ext>
              </a:extLst>
            </p:cNvPr>
            <p:cNvSpPr>
              <a:spLocks noChangeShapeType="1"/>
            </p:cNvSpPr>
            <p:nvPr/>
          </p:nvSpPr>
          <p:spPr bwMode="auto">
            <a:xfrm>
              <a:off x="3024" y="2272"/>
              <a:ext cx="1296" cy="240"/>
            </a:xfrm>
            <a:prstGeom prst="line">
              <a:avLst/>
            </a:prstGeom>
            <a:noFill/>
            <a:ln w="28575">
              <a:solidFill>
                <a:srgbClr val="CC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5" name="Line 1117">
              <a:extLst>
                <a:ext uri="{FF2B5EF4-FFF2-40B4-BE49-F238E27FC236}">
                  <a16:creationId xmlns:a16="http://schemas.microsoft.com/office/drawing/2014/main" id="{D79AA595-6401-82BE-7A7A-2DF5A721FA52}"/>
                </a:ext>
              </a:extLst>
            </p:cNvPr>
            <p:cNvSpPr>
              <a:spLocks noChangeShapeType="1"/>
            </p:cNvSpPr>
            <p:nvPr/>
          </p:nvSpPr>
          <p:spPr bwMode="auto">
            <a:xfrm>
              <a:off x="1440" y="1584"/>
              <a:ext cx="992" cy="128"/>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6" name="Line 1118">
              <a:extLst>
                <a:ext uri="{FF2B5EF4-FFF2-40B4-BE49-F238E27FC236}">
                  <a16:creationId xmlns:a16="http://schemas.microsoft.com/office/drawing/2014/main" id="{7EFCA12A-8C91-60B2-4EAA-05B2B188BD9F}"/>
                </a:ext>
              </a:extLst>
            </p:cNvPr>
            <p:cNvSpPr>
              <a:spLocks noChangeShapeType="1"/>
            </p:cNvSpPr>
            <p:nvPr/>
          </p:nvSpPr>
          <p:spPr bwMode="auto">
            <a:xfrm flipV="1">
              <a:off x="1432" y="1704"/>
              <a:ext cx="1008" cy="176"/>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7" name="Line 1119">
              <a:extLst>
                <a:ext uri="{FF2B5EF4-FFF2-40B4-BE49-F238E27FC236}">
                  <a16:creationId xmlns:a16="http://schemas.microsoft.com/office/drawing/2014/main" id="{DDC52243-89B9-CCD6-3405-D0F65D696713}"/>
                </a:ext>
              </a:extLst>
            </p:cNvPr>
            <p:cNvSpPr>
              <a:spLocks noChangeShapeType="1"/>
            </p:cNvSpPr>
            <p:nvPr/>
          </p:nvSpPr>
          <p:spPr bwMode="auto">
            <a:xfrm>
              <a:off x="1480" y="2128"/>
              <a:ext cx="1016" cy="112"/>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8" name="Line 1120">
              <a:extLst>
                <a:ext uri="{FF2B5EF4-FFF2-40B4-BE49-F238E27FC236}">
                  <a16:creationId xmlns:a16="http://schemas.microsoft.com/office/drawing/2014/main" id="{4995E290-15B4-98D4-D766-39DF488F8E17}"/>
                </a:ext>
              </a:extLst>
            </p:cNvPr>
            <p:cNvSpPr>
              <a:spLocks noChangeShapeType="1"/>
            </p:cNvSpPr>
            <p:nvPr/>
          </p:nvSpPr>
          <p:spPr bwMode="auto">
            <a:xfrm flipV="1">
              <a:off x="1456" y="2224"/>
              <a:ext cx="1024" cy="192"/>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09" name="Line 1121">
              <a:extLst>
                <a:ext uri="{FF2B5EF4-FFF2-40B4-BE49-F238E27FC236}">
                  <a16:creationId xmlns:a16="http://schemas.microsoft.com/office/drawing/2014/main" id="{5FFCB2CD-5E29-53DA-DC2B-9E1DE83F9BFB}"/>
                </a:ext>
              </a:extLst>
            </p:cNvPr>
            <p:cNvSpPr>
              <a:spLocks noChangeShapeType="1"/>
            </p:cNvSpPr>
            <p:nvPr/>
          </p:nvSpPr>
          <p:spPr bwMode="auto">
            <a:xfrm>
              <a:off x="1592" y="2584"/>
              <a:ext cx="1224" cy="160"/>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10" name="Line 1122">
              <a:extLst>
                <a:ext uri="{FF2B5EF4-FFF2-40B4-BE49-F238E27FC236}">
                  <a16:creationId xmlns:a16="http://schemas.microsoft.com/office/drawing/2014/main" id="{26060BDA-3FB7-9335-37A7-7D91044E056B}"/>
                </a:ext>
              </a:extLst>
            </p:cNvPr>
            <p:cNvSpPr>
              <a:spLocks noChangeShapeType="1"/>
            </p:cNvSpPr>
            <p:nvPr/>
          </p:nvSpPr>
          <p:spPr bwMode="auto">
            <a:xfrm>
              <a:off x="3128" y="2856"/>
              <a:ext cx="1200" cy="144"/>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11" name="Line 1123">
              <a:extLst>
                <a:ext uri="{FF2B5EF4-FFF2-40B4-BE49-F238E27FC236}">
                  <a16:creationId xmlns:a16="http://schemas.microsoft.com/office/drawing/2014/main" id="{0504918B-0A7A-E662-BE2D-BB01D165DBDD}"/>
                </a:ext>
              </a:extLst>
            </p:cNvPr>
            <p:cNvSpPr>
              <a:spLocks noChangeShapeType="1"/>
            </p:cNvSpPr>
            <p:nvPr/>
          </p:nvSpPr>
          <p:spPr bwMode="auto">
            <a:xfrm flipV="1">
              <a:off x="3072" y="3216"/>
              <a:ext cx="528" cy="96"/>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12" name="Line 1124">
              <a:extLst>
                <a:ext uri="{FF2B5EF4-FFF2-40B4-BE49-F238E27FC236}">
                  <a16:creationId xmlns:a16="http://schemas.microsoft.com/office/drawing/2014/main" id="{361299EC-7103-F997-2FE0-727E860050B1}"/>
                </a:ext>
              </a:extLst>
            </p:cNvPr>
            <p:cNvSpPr>
              <a:spLocks noChangeShapeType="1"/>
            </p:cNvSpPr>
            <p:nvPr/>
          </p:nvSpPr>
          <p:spPr bwMode="auto">
            <a:xfrm flipH="1" flipV="1">
              <a:off x="2960" y="760"/>
              <a:ext cx="8" cy="272"/>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17" name="Line 1129">
              <a:extLst>
                <a:ext uri="{FF2B5EF4-FFF2-40B4-BE49-F238E27FC236}">
                  <a16:creationId xmlns:a16="http://schemas.microsoft.com/office/drawing/2014/main" id="{BDD86AA2-2FDF-A360-24A8-38FFB3C6F182}"/>
                </a:ext>
              </a:extLst>
            </p:cNvPr>
            <p:cNvSpPr>
              <a:spLocks noChangeShapeType="1"/>
            </p:cNvSpPr>
            <p:nvPr/>
          </p:nvSpPr>
          <p:spPr bwMode="auto">
            <a:xfrm flipV="1">
              <a:off x="1440" y="1056"/>
              <a:ext cx="1296" cy="24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18" name="Line 1130">
              <a:extLst>
                <a:ext uri="{FF2B5EF4-FFF2-40B4-BE49-F238E27FC236}">
                  <a16:creationId xmlns:a16="http://schemas.microsoft.com/office/drawing/2014/main" id="{0EEED697-500F-248E-33D4-387A9DE91367}"/>
                </a:ext>
              </a:extLst>
            </p:cNvPr>
            <p:cNvSpPr>
              <a:spLocks noChangeShapeType="1"/>
            </p:cNvSpPr>
            <p:nvPr/>
          </p:nvSpPr>
          <p:spPr bwMode="auto">
            <a:xfrm flipV="1">
              <a:off x="2880" y="3504"/>
              <a:ext cx="0" cy="240"/>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1" name="Line 1133">
              <a:extLst>
                <a:ext uri="{FF2B5EF4-FFF2-40B4-BE49-F238E27FC236}">
                  <a16:creationId xmlns:a16="http://schemas.microsoft.com/office/drawing/2014/main" id="{6A168F9E-C4AB-E5D1-CF9F-0A2539D73EB5}"/>
                </a:ext>
              </a:extLst>
            </p:cNvPr>
            <p:cNvSpPr>
              <a:spLocks noChangeShapeType="1"/>
            </p:cNvSpPr>
            <p:nvPr/>
          </p:nvSpPr>
          <p:spPr bwMode="auto">
            <a:xfrm flipV="1">
              <a:off x="3840" y="3072"/>
              <a:ext cx="480" cy="96"/>
            </a:xfrm>
            <a:prstGeom prst="line">
              <a:avLst/>
            </a:prstGeom>
            <a:noFill/>
            <a:ln w="28575">
              <a:solidFill>
                <a:srgbClr val="CC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2" name="Line 1134">
              <a:extLst>
                <a:ext uri="{FF2B5EF4-FFF2-40B4-BE49-F238E27FC236}">
                  <a16:creationId xmlns:a16="http://schemas.microsoft.com/office/drawing/2014/main" id="{126C3413-2399-D332-0C49-91F78E65C477}"/>
                </a:ext>
              </a:extLst>
            </p:cNvPr>
            <p:cNvSpPr>
              <a:spLocks noChangeShapeType="1"/>
            </p:cNvSpPr>
            <p:nvPr/>
          </p:nvSpPr>
          <p:spPr bwMode="auto">
            <a:xfrm flipH="1" flipV="1">
              <a:off x="3008" y="744"/>
              <a:ext cx="0" cy="33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3" name="Line 1135">
              <a:extLst>
                <a:ext uri="{FF2B5EF4-FFF2-40B4-BE49-F238E27FC236}">
                  <a16:creationId xmlns:a16="http://schemas.microsoft.com/office/drawing/2014/main" id="{7DE4938E-D623-FBA7-994D-E749A222932A}"/>
                </a:ext>
              </a:extLst>
            </p:cNvPr>
            <p:cNvSpPr>
              <a:spLocks noChangeShapeType="1"/>
            </p:cNvSpPr>
            <p:nvPr/>
          </p:nvSpPr>
          <p:spPr bwMode="auto">
            <a:xfrm>
              <a:off x="1440" y="1632"/>
              <a:ext cx="960" cy="9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4" name="Line 1136">
              <a:extLst>
                <a:ext uri="{FF2B5EF4-FFF2-40B4-BE49-F238E27FC236}">
                  <a16:creationId xmlns:a16="http://schemas.microsoft.com/office/drawing/2014/main" id="{B7B3C8DD-0AC2-0AA9-1700-929384BFF356}"/>
                </a:ext>
              </a:extLst>
            </p:cNvPr>
            <p:cNvSpPr>
              <a:spLocks noChangeShapeType="1"/>
            </p:cNvSpPr>
            <p:nvPr/>
          </p:nvSpPr>
          <p:spPr bwMode="auto">
            <a:xfrm>
              <a:off x="1392" y="2160"/>
              <a:ext cx="1008" cy="9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5" name="Line 1137">
              <a:extLst>
                <a:ext uri="{FF2B5EF4-FFF2-40B4-BE49-F238E27FC236}">
                  <a16:creationId xmlns:a16="http://schemas.microsoft.com/office/drawing/2014/main" id="{397790EA-7356-56EB-3909-1208103CCA33}"/>
                </a:ext>
              </a:extLst>
            </p:cNvPr>
            <p:cNvSpPr>
              <a:spLocks noChangeShapeType="1"/>
            </p:cNvSpPr>
            <p:nvPr/>
          </p:nvSpPr>
          <p:spPr bwMode="auto">
            <a:xfrm>
              <a:off x="1328" y="2720"/>
              <a:ext cx="1056" cy="144"/>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6" name="Line 1138">
              <a:extLst>
                <a:ext uri="{FF2B5EF4-FFF2-40B4-BE49-F238E27FC236}">
                  <a16:creationId xmlns:a16="http://schemas.microsoft.com/office/drawing/2014/main" id="{59A617F4-3D0A-6C17-18C9-30B5F01CE19F}"/>
                </a:ext>
              </a:extLst>
            </p:cNvPr>
            <p:cNvSpPr>
              <a:spLocks noChangeShapeType="1"/>
            </p:cNvSpPr>
            <p:nvPr/>
          </p:nvSpPr>
          <p:spPr bwMode="auto">
            <a:xfrm>
              <a:off x="3008" y="2912"/>
              <a:ext cx="1312" cy="16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7" name="Line 1139">
              <a:extLst>
                <a:ext uri="{FF2B5EF4-FFF2-40B4-BE49-F238E27FC236}">
                  <a16:creationId xmlns:a16="http://schemas.microsoft.com/office/drawing/2014/main" id="{68ED4DC5-365D-AC1E-582E-68AC8F176F49}"/>
                </a:ext>
              </a:extLst>
            </p:cNvPr>
            <p:cNvSpPr>
              <a:spLocks noChangeShapeType="1"/>
            </p:cNvSpPr>
            <p:nvPr/>
          </p:nvSpPr>
          <p:spPr bwMode="auto">
            <a:xfrm flipV="1">
              <a:off x="3848" y="3168"/>
              <a:ext cx="472" cy="9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8" name="Line 1140">
              <a:extLst>
                <a:ext uri="{FF2B5EF4-FFF2-40B4-BE49-F238E27FC236}">
                  <a16:creationId xmlns:a16="http://schemas.microsoft.com/office/drawing/2014/main" id="{F4FB7683-CAAA-8DB7-805A-E77B496EA71D}"/>
                </a:ext>
              </a:extLst>
            </p:cNvPr>
            <p:cNvSpPr>
              <a:spLocks noChangeShapeType="1"/>
            </p:cNvSpPr>
            <p:nvPr/>
          </p:nvSpPr>
          <p:spPr bwMode="auto">
            <a:xfrm flipV="1">
              <a:off x="1400" y="2232"/>
              <a:ext cx="888" cy="16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29" name="Line 1141">
              <a:extLst>
                <a:ext uri="{FF2B5EF4-FFF2-40B4-BE49-F238E27FC236}">
                  <a16:creationId xmlns:a16="http://schemas.microsoft.com/office/drawing/2014/main" id="{517A7927-A094-79E7-DC51-58D35E3129C3}"/>
                </a:ext>
              </a:extLst>
            </p:cNvPr>
            <p:cNvSpPr>
              <a:spLocks noChangeShapeType="1"/>
            </p:cNvSpPr>
            <p:nvPr/>
          </p:nvSpPr>
          <p:spPr bwMode="auto">
            <a:xfrm flipV="1">
              <a:off x="1400" y="1728"/>
              <a:ext cx="896" cy="160"/>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30" name="Line 1142">
              <a:extLst>
                <a:ext uri="{FF2B5EF4-FFF2-40B4-BE49-F238E27FC236}">
                  <a16:creationId xmlns:a16="http://schemas.microsoft.com/office/drawing/2014/main" id="{B196722F-0CCC-FB6A-B79C-6441C688D38B}"/>
                </a:ext>
              </a:extLst>
            </p:cNvPr>
            <p:cNvSpPr>
              <a:spLocks noChangeShapeType="1"/>
            </p:cNvSpPr>
            <p:nvPr/>
          </p:nvSpPr>
          <p:spPr bwMode="auto">
            <a:xfrm>
              <a:off x="3840" y="3328"/>
              <a:ext cx="528" cy="144"/>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0232" name="Line 1144">
              <a:extLst>
                <a:ext uri="{FF2B5EF4-FFF2-40B4-BE49-F238E27FC236}">
                  <a16:creationId xmlns:a16="http://schemas.microsoft.com/office/drawing/2014/main" id="{E3D9794B-A50F-B2BA-2529-91CA7BBAB892}"/>
                </a:ext>
              </a:extLst>
            </p:cNvPr>
            <p:cNvSpPr>
              <a:spLocks noChangeShapeType="1"/>
            </p:cNvSpPr>
            <p:nvPr/>
          </p:nvSpPr>
          <p:spPr bwMode="auto">
            <a:xfrm flipV="1">
              <a:off x="3072" y="3632"/>
              <a:ext cx="1296" cy="256"/>
            </a:xfrm>
            <a:prstGeom prst="line">
              <a:avLst/>
            </a:prstGeom>
            <a:noFill/>
            <a:ln w="28575">
              <a:solidFill>
                <a:srgbClr val="99663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0233" name="Text Box 1145">
            <a:extLst>
              <a:ext uri="{FF2B5EF4-FFF2-40B4-BE49-F238E27FC236}">
                <a16:creationId xmlns:a16="http://schemas.microsoft.com/office/drawing/2014/main" id="{44087E92-5A64-9EA3-E3FD-48045D05B5D3}"/>
              </a:ext>
            </a:extLst>
          </p:cNvPr>
          <p:cNvSpPr txBox="1">
            <a:spLocks noChangeArrowheads="1"/>
          </p:cNvSpPr>
          <p:nvPr/>
        </p:nvSpPr>
        <p:spPr bwMode="auto">
          <a:xfrm>
            <a:off x="381000" y="1773238"/>
            <a:ext cx="3048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t>V(G)=R=6</a:t>
            </a:r>
          </a:p>
          <a:p>
            <a:r>
              <a:rPr lang="en-US" altLang="en-US" sz="2000"/>
              <a:t>V(G)=E-N+2=21-17+2=6</a:t>
            </a:r>
          </a:p>
          <a:p>
            <a:r>
              <a:rPr lang="en-US" altLang="en-US" sz="2000"/>
              <a:t>V(G)=P+1=5+1=6</a:t>
            </a:r>
          </a:p>
        </p:txBody>
      </p:sp>
      <p:sp>
        <p:nvSpPr>
          <p:cNvPr id="90234" name="Text Box 1146">
            <a:extLst>
              <a:ext uri="{FF2B5EF4-FFF2-40B4-BE49-F238E27FC236}">
                <a16:creationId xmlns:a16="http://schemas.microsoft.com/office/drawing/2014/main" id="{0EA23366-58C9-013B-1D34-BA2C6FE8FAB3}"/>
              </a:ext>
            </a:extLst>
          </p:cNvPr>
          <p:cNvSpPr txBox="1">
            <a:spLocks noChangeArrowheads="1"/>
          </p:cNvSpPr>
          <p:nvPr/>
        </p:nvSpPr>
        <p:spPr bwMode="auto">
          <a:xfrm>
            <a:off x="7269162" y="1916113"/>
            <a:ext cx="1722437"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t>R=Regions</a:t>
            </a:r>
          </a:p>
          <a:p>
            <a:r>
              <a:rPr lang="en-US" altLang="en-US" sz="2000" dirty="0"/>
              <a:t>N=Nodes</a:t>
            </a:r>
          </a:p>
          <a:p>
            <a:r>
              <a:rPr lang="en-US" altLang="en-US" sz="2000" dirty="0"/>
              <a:t>E=Edges</a:t>
            </a:r>
          </a:p>
          <a:p>
            <a:r>
              <a:rPr lang="en-US" altLang="en-US" sz="2000" dirty="0"/>
              <a:t>P=Decisions</a:t>
            </a:r>
          </a:p>
        </p:txBody>
      </p:sp>
      <p:sp>
        <p:nvSpPr>
          <p:cNvPr id="90235" name="Text Box 1147">
            <a:extLst>
              <a:ext uri="{FF2B5EF4-FFF2-40B4-BE49-F238E27FC236}">
                <a16:creationId xmlns:a16="http://schemas.microsoft.com/office/drawing/2014/main" id="{5E2522B1-878D-D680-407B-316357BA0E0A}"/>
              </a:ext>
            </a:extLst>
          </p:cNvPr>
          <p:cNvSpPr txBox="1">
            <a:spLocks noChangeArrowheads="1"/>
          </p:cNvSpPr>
          <p:nvPr/>
        </p:nvSpPr>
        <p:spPr bwMode="auto">
          <a:xfrm>
            <a:off x="314325" y="5554663"/>
            <a:ext cx="2284413" cy="830997"/>
          </a:xfrm>
          <a:prstGeom prst="rect">
            <a:avLst/>
          </a:prstGeom>
          <a:noFill/>
          <a:ln w="76200">
            <a:solidFill>
              <a:srgbClr val="CC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i="1" dirty="0">
                <a:solidFill>
                  <a:srgbClr val="FF0000"/>
                </a:solidFill>
              </a:rPr>
              <a:t>McCabe’s cyclomatic complexity metrics</a:t>
            </a:r>
          </a:p>
        </p:txBody>
      </p:sp>
      <p:sp>
        <p:nvSpPr>
          <p:cNvPr id="90236" name="WordArt 1148">
            <a:extLst>
              <a:ext uri="{FF2B5EF4-FFF2-40B4-BE49-F238E27FC236}">
                <a16:creationId xmlns:a16="http://schemas.microsoft.com/office/drawing/2014/main" id="{6C577D5B-6BDC-2560-3140-0F5937F6E728}"/>
              </a:ext>
            </a:extLst>
          </p:cNvPr>
          <p:cNvSpPr>
            <a:spLocks noChangeArrowheads="1" noChangeShapeType="1" noTextEdit="1"/>
          </p:cNvSpPr>
          <p:nvPr/>
        </p:nvSpPr>
        <p:spPr bwMode="auto">
          <a:xfrm>
            <a:off x="1457325" y="366713"/>
            <a:ext cx="6210300" cy="1117600"/>
          </a:xfrm>
          <a:prstGeom prst="rect">
            <a:avLst/>
          </a:prstGeom>
          <a:extLst>
            <a:ext uri="{AF507438-7753-43E0-B8FC-AC1667EBCBE1}">
              <a14:hiddenEffects xmlns:a14="http://schemas.microsoft.com/office/drawing/2010/main">
                <a:effectLst/>
              </a14:hiddenEffects>
            </a:ext>
          </a:extLst>
        </p:spPr>
        <p:txBody>
          <a:bodyPr wrap="none" fromWordArt="1">
            <a:prstTxWarp prst="textPlain">
              <a:avLst>
                <a:gd name="adj" fmla="val 50000"/>
              </a:avLst>
            </a:prstTxWarp>
          </a:bodyPr>
          <a:lstStyle/>
          <a:p>
            <a:pPr algn="ctr"/>
            <a:r>
              <a:rPr lang="en-US" sz="3600" kern="10" dirty="0">
                <a:ln w="12700">
                  <a:solidFill>
                    <a:srgbClr val="000000"/>
                  </a:solidFill>
                  <a:round/>
                  <a:headEnd/>
                  <a:tailEnd/>
                </a:ln>
                <a:solidFill>
                  <a:srgbClr val="33CC33"/>
                </a:solidFill>
                <a:latin typeface="Arial Black" panose="020B0A04020102020204" pitchFamily="34" charset="0"/>
              </a:rPr>
              <a:t>ITS - The maximum</a:t>
            </a:r>
          </a:p>
          <a:p>
            <a:pPr algn="ctr"/>
            <a:r>
              <a:rPr lang="en-US" sz="3600" kern="10" dirty="0">
                <a:ln w="12700">
                  <a:solidFill>
                    <a:srgbClr val="000000"/>
                  </a:solidFill>
                  <a:round/>
                  <a:headEnd/>
                  <a:tailEnd/>
                </a:ln>
                <a:solidFill>
                  <a:srgbClr val="33CC33"/>
                </a:solidFill>
                <a:latin typeface="Arial Black" panose="020B0A04020102020204" pitchFamily="34" charset="0"/>
              </a:rPr>
              <a:t>set of independent paths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22313" y="2362200"/>
            <a:ext cx="7772400" cy="2514600"/>
          </a:xfrm>
        </p:spPr>
        <p:txBody>
          <a:bodyPr/>
          <a:lstStyle/>
          <a:p>
            <a:pPr rtl="0">
              <a:lnSpc>
                <a:spcPct val="120000"/>
              </a:lnSpc>
            </a:pPr>
            <a:r>
              <a:rPr lang="en-US" sz="2400" dirty="0"/>
              <a:t>Full </a:t>
            </a:r>
            <a:r>
              <a:rPr lang="en-US" sz="2400" b="1" dirty="0"/>
              <a:t>path</a:t>
            </a:r>
            <a:r>
              <a:rPr lang="en-US" sz="2400" dirty="0"/>
              <a:t> coverage = </a:t>
            </a:r>
            <a:r>
              <a:rPr lang="en-US" sz="2400" dirty="0">
                <a:solidFill>
                  <a:srgbClr val="A04DA3"/>
                </a:solidFill>
              </a:rPr>
              <a:t>24</a:t>
            </a:r>
            <a:r>
              <a:rPr lang="en-US" sz="2400" dirty="0"/>
              <a:t> paths = </a:t>
            </a:r>
            <a:r>
              <a:rPr lang="en-US" sz="2400" dirty="0">
                <a:solidFill>
                  <a:srgbClr val="A04DA3"/>
                </a:solidFill>
              </a:rPr>
              <a:t>24 </a:t>
            </a:r>
            <a:r>
              <a:rPr lang="en-US" sz="2400" dirty="0"/>
              <a:t>test cases</a:t>
            </a:r>
            <a:br>
              <a:rPr lang="en-US" sz="2400" dirty="0"/>
            </a:br>
            <a:r>
              <a:rPr lang="en-US" sz="2400" dirty="0"/>
              <a:t>Full </a:t>
            </a:r>
            <a:r>
              <a:rPr lang="en-US" sz="2400" b="1" dirty="0"/>
              <a:t>line</a:t>
            </a:r>
            <a:r>
              <a:rPr lang="en-US" sz="2400" dirty="0"/>
              <a:t> coverage = </a:t>
            </a:r>
            <a:r>
              <a:rPr lang="en-US" sz="2400" dirty="0">
                <a:solidFill>
                  <a:srgbClr val="A04DA3"/>
                </a:solidFill>
              </a:rPr>
              <a:t>3</a:t>
            </a:r>
            <a:r>
              <a:rPr lang="en-US" sz="2400" dirty="0"/>
              <a:t> paths  = </a:t>
            </a:r>
            <a:r>
              <a:rPr lang="en-US" sz="2400" dirty="0">
                <a:solidFill>
                  <a:srgbClr val="A04DA3"/>
                </a:solidFill>
              </a:rPr>
              <a:t>3</a:t>
            </a:r>
            <a:r>
              <a:rPr lang="en-US" sz="2400" dirty="0"/>
              <a:t> test cases</a:t>
            </a:r>
          </a:p>
          <a:p>
            <a:pPr>
              <a:lnSpc>
                <a:spcPct val="120000"/>
              </a:lnSpc>
            </a:pPr>
            <a:endParaRPr lang="en-US" sz="2400" dirty="0"/>
          </a:p>
          <a:p>
            <a:pPr algn="ctr">
              <a:lnSpc>
                <a:spcPct val="120000"/>
              </a:lnSpc>
            </a:pPr>
            <a:r>
              <a:rPr lang="en-US" sz="5400" dirty="0">
                <a:solidFill>
                  <a:schemeClr val="accent3"/>
                </a:solidFill>
              </a:rPr>
              <a:t>1</a:t>
            </a:r>
            <a:r>
              <a:rPr lang="en-US" sz="4000" dirty="0">
                <a:solidFill>
                  <a:schemeClr val="accent3"/>
                </a:solidFill>
              </a:rPr>
              <a:t>:</a:t>
            </a:r>
            <a:r>
              <a:rPr lang="en-US" sz="4400" dirty="0">
                <a:solidFill>
                  <a:schemeClr val="accent3"/>
                </a:solidFill>
              </a:rPr>
              <a:t>8</a:t>
            </a:r>
          </a:p>
          <a:p>
            <a:pPr>
              <a:lnSpc>
                <a:spcPct val="120000"/>
              </a:lnSpc>
            </a:pPr>
            <a:endParaRPr lang="en-US" dirty="0"/>
          </a:p>
        </p:txBody>
      </p:sp>
    </p:spTree>
    <p:extLst>
      <p:ext uri="{BB962C8B-B14F-4D97-AF65-F5344CB8AC3E}">
        <p14:creationId xmlns:p14="http://schemas.microsoft.com/office/powerpoint/2010/main" val="4223369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685800"/>
          </a:xfrm>
        </p:spPr>
        <p:txBody>
          <a:bodyPr>
            <a:normAutofit fontScale="90000"/>
          </a:bodyPr>
          <a:lstStyle/>
          <a:p>
            <a:r>
              <a:rPr lang="en-US" b="1" dirty="0">
                <a:solidFill>
                  <a:schemeClr val="accent3"/>
                </a:solidFill>
                <a:latin typeface="+mn-lt"/>
              </a:rPr>
              <a:t>Black box testing</a:t>
            </a:r>
          </a:p>
        </p:txBody>
      </p:sp>
      <p:sp>
        <p:nvSpPr>
          <p:cNvPr id="3" name="Content Placeholder 2"/>
          <p:cNvSpPr>
            <a:spLocks noGrp="1"/>
          </p:cNvSpPr>
          <p:nvPr>
            <p:ph idx="1"/>
          </p:nvPr>
        </p:nvSpPr>
        <p:spPr>
          <a:xfrm>
            <a:off x="457200" y="2057400"/>
            <a:ext cx="8229600" cy="4517136"/>
          </a:xfrm>
        </p:spPr>
        <p:txBody>
          <a:bodyPr>
            <a:normAutofit/>
          </a:bodyPr>
          <a:lstStyle/>
          <a:p>
            <a:pPr marL="457200" indent="-457200" rtl="0">
              <a:buFont typeface="Wingdings" charset="2"/>
              <a:buChar char="§"/>
              <a:defRPr/>
            </a:pPr>
            <a:r>
              <a:rPr lang="en-US" dirty="0">
                <a:latin typeface="+mn-lt"/>
              </a:rPr>
              <a:t>Black box testing focuses on functional RE and enables to derive sets of input conditions that fully exercise all functional RE for a program.</a:t>
            </a:r>
            <a:endParaRPr lang="en-US" b="1" dirty="0">
              <a:latin typeface="+mn-lt"/>
              <a:cs typeface="Times"/>
            </a:endParaRPr>
          </a:p>
          <a:p>
            <a:pPr marL="457200" indent="-457200" rtl="0">
              <a:buFont typeface="Wingdings" charset="2"/>
              <a:buChar char="§"/>
              <a:defRPr/>
            </a:pPr>
            <a:r>
              <a:rPr lang="en-US" dirty="0">
                <a:latin typeface="+mn-lt"/>
                <a:cs typeface="Times"/>
              </a:rPr>
              <a:t>Unlike white box testing, which is performed early in the testing process, black box testing tends to be applied during later stages of testing.</a:t>
            </a:r>
            <a:endParaRPr lang="en-US" dirty="0">
              <a:latin typeface="+mn-lt"/>
            </a:endParaRPr>
          </a:p>
        </p:txBody>
      </p:sp>
    </p:spTree>
    <p:extLst>
      <p:ext uri="{BB962C8B-B14F-4D97-AF65-F5344CB8AC3E}">
        <p14:creationId xmlns:p14="http://schemas.microsoft.com/office/powerpoint/2010/main" val="41693924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304800"/>
          </a:xfrm>
        </p:spPr>
        <p:txBody>
          <a:bodyPr>
            <a:noAutofit/>
          </a:bodyPr>
          <a:lstStyle/>
          <a:p>
            <a:r>
              <a:rPr lang="en-US" sz="3200" b="1" dirty="0">
                <a:solidFill>
                  <a:schemeClr val="accent3"/>
                </a:solidFill>
                <a:latin typeface="+mn-lt"/>
              </a:rPr>
              <a:t>Adv. and dis. of black box testing</a:t>
            </a:r>
          </a:p>
        </p:txBody>
      </p:sp>
      <p:sp>
        <p:nvSpPr>
          <p:cNvPr id="3" name="Content Placeholder 2"/>
          <p:cNvSpPr>
            <a:spLocks noGrp="1"/>
          </p:cNvSpPr>
          <p:nvPr>
            <p:ph idx="1"/>
          </p:nvPr>
        </p:nvSpPr>
        <p:spPr>
          <a:xfrm>
            <a:off x="228600" y="1542288"/>
            <a:ext cx="8686800" cy="5163312"/>
          </a:xfrm>
        </p:spPr>
        <p:txBody>
          <a:bodyPr>
            <a:noAutofit/>
          </a:bodyPr>
          <a:lstStyle/>
          <a:p>
            <a:pPr marL="109728" indent="0" rtl="0">
              <a:lnSpc>
                <a:spcPct val="90000"/>
              </a:lnSpc>
              <a:spcBef>
                <a:spcPct val="20000"/>
              </a:spcBef>
              <a:buNone/>
            </a:pPr>
            <a:r>
              <a:rPr lang="en-US" sz="2400" b="1" dirty="0">
                <a:solidFill>
                  <a:schemeClr val="accent2"/>
                </a:solidFill>
                <a:latin typeface="+mn-lt"/>
              </a:rPr>
              <a:t>Advantages:</a:t>
            </a:r>
          </a:p>
          <a:p>
            <a:pPr marL="566928" indent="-457200" rtl="0">
              <a:lnSpc>
                <a:spcPct val="90000"/>
              </a:lnSpc>
              <a:spcBef>
                <a:spcPct val="20000"/>
              </a:spcBef>
              <a:buFont typeface="+mj-lt"/>
              <a:buAutoNum type="arabicPeriod"/>
            </a:pPr>
            <a:r>
              <a:rPr lang="en-US" sz="2000" dirty="0">
                <a:latin typeface="+mn-lt"/>
              </a:rPr>
              <a:t>Allows us to carry out the majority of testing classes, most of which can be implemented solely by black box tests, i.e. load tests and availability tests. </a:t>
            </a:r>
          </a:p>
          <a:p>
            <a:pPr marL="566928" indent="-457200" rtl="0">
              <a:lnSpc>
                <a:spcPct val="90000"/>
              </a:lnSpc>
              <a:spcBef>
                <a:spcPct val="20000"/>
              </a:spcBef>
              <a:buFont typeface="+mj-lt"/>
              <a:buAutoNum type="arabicPeriod"/>
            </a:pPr>
            <a:r>
              <a:rPr lang="en-US" sz="2000" dirty="0">
                <a:latin typeface="+mn-lt"/>
              </a:rPr>
              <a:t>For testing classes that can be carried out by both white and black box tests, black box testing requires fewer resources.</a:t>
            </a:r>
          </a:p>
          <a:p>
            <a:pPr marL="109728" indent="0" rtl="0">
              <a:lnSpc>
                <a:spcPct val="90000"/>
              </a:lnSpc>
              <a:spcBef>
                <a:spcPct val="20000"/>
              </a:spcBef>
              <a:buNone/>
            </a:pPr>
            <a:r>
              <a:rPr lang="en-US" sz="2400" b="1" dirty="0">
                <a:solidFill>
                  <a:schemeClr val="accent2"/>
                </a:solidFill>
                <a:latin typeface="+mn-lt"/>
              </a:rPr>
              <a:t>Disadvantages:</a:t>
            </a:r>
          </a:p>
          <a:p>
            <a:pPr marL="566928" indent="-457200" rtl="0">
              <a:lnSpc>
                <a:spcPct val="90000"/>
              </a:lnSpc>
              <a:spcBef>
                <a:spcPct val="20000"/>
              </a:spcBef>
              <a:buFont typeface="+mj-lt"/>
              <a:buAutoNum type="arabicPeriod"/>
            </a:pPr>
            <a:r>
              <a:rPr lang="en-US" sz="2000" dirty="0">
                <a:latin typeface="+mn-lt"/>
              </a:rPr>
              <a:t>Possibility that coincidental aggregation of several errors will produce the correct response for a test case, and prevent error detection.  </a:t>
            </a:r>
          </a:p>
          <a:p>
            <a:pPr marL="566928" indent="-457200" rtl="0">
              <a:lnSpc>
                <a:spcPct val="90000"/>
              </a:lnSpc>
              <a:spcBef>
                <a:spcPct val="20000"/>
              </a:spcBef>
              <a:buFont typeface="+mj-lt"/>
              <a:buAutoNum type="arabicPeriod"/>
            </a:pPr>
            <a:r>
              <a:rPr lang="en-US" sz="2000" dirty="0">
                <a:latin typeface="+mn-lt"/>
              </a:rPr>
              <a:t>Absence of control of line coverage.  There is no easy way to specify the parameters of the test cases required to improve coverage. </a:t>
            </a:r>
          </a:p>
          <a:p>
            <a:pPr marL="566928" indent="-457200" rtl="0">
              <a:lnSpc>
                <a:spcPct val="90000"/>
              </a:lnSpc>
              <a:spcBef>
                <a:spcPct val="20000"/>
              </a:spcBef>
              <a:buFont typeface="+mj-lt"/>
              <a:buAutoNum type="arabicPeriod"/>
            </a:pPr>
            <a:r>
              <a:rPr lang="en-US" sz="2000" dirty="0">
                <a:latin typeface="+mn-lt"/>
              </a:rPr>
              <a:t>Impossibility of testing the quality of coding and its strict adherence to the coding standards. </a:t>
            </a:r>
          </a:p>
          <a:p>
            <a:pPr rtl="0">
              <a:lnSpc>
                <a:spcPct val="90000"/>
              </a:lnSpc>
            </a:pPr>
            <a:endParaRPr lang="en-US" sz="2400" dirty="0">
              <a:latin typeface="+mn-lt"/>
            </a:endParaRPr>
          </a:p>
        </p:txBody>
      </p:sp>
    </p:spTree>
    <p:extLst>
      <p:ext uri="{BB962C8B-B14F-4D97-AF65-F5344CB8AC3E}">
        <p14:creationId xmlns:p14="http://schemas.microsoft.com/office/powerpoint/2010/main" val="1053549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381000"/>
          </a:xfrm>
        </p:spPr>
        <p:txBody>
          <a:bodyPr>
            <a:normAutofit fontScale="90000"/>
          </a:bodyPr>
          <a:lstStyle/>
          <a:p>
            <a:pPr lvl="1" algn="l" rtl="0">
              <a:spcBef>
                <a:spcPct val="0"/>
              </a:spcBef>
            </a:pPr>
            <a:r>
              <a:rPr lang="en-US" sz="3600" b="1" dirty="0">
                <a:solidFill>
                  <a:schemeClr val="accent3"/>
                </a:solidFill>
                <a:latin typeface="+mn-lt"/>
              </a:rPr>
              <a:t>Output correctness test</a:t>
            </a:r>
          </a:p>
        </p:txBody>
      </p:sp>
      <p:sp>
        <p:nvSpPr>
          <p:cNvPr id="3" name="Content Placeholder 2"/>
          <p:cNvSpPr>
            <a:spLocks noGrp="1"/>
          </p:cNvSpPr>
          <p:nvPr>
            <p:ph idx="1"/>
          </p:nvPr>
        </p:nvSpPr>
        <p:spPr>
          <a:xfrm>
            <a:off x="457200" y="1600200"/>
            <a:ext cx="8229600" cy="4974336"/>
          </a:xfrm>
        </p:spPr>
        <p:txBody>
          <a:bodyPr>
            <a:normAutofit/>
          </a:bodyPr>
          <a:lstStyle/>
          <a:p>
            <a:pPr marL="457200" indent="-457200" rtl="0">
              <a:buFont typeface="Wingdings" charset="2"/>
              <a:buChar char="§"/>
              <a:defRPr/>
            </a:pPr>
            <a:r>
              <a:rPr lang="en-US" dirty="0">
                <a:latin typeface="+mn-lt"/>
              </a:rPr>
              <a:t>“Data processing and calculation test” is part of output correctness test.</a:t>
            </a:r>
          </a:p>
          <a:p>
            <a:pPr marL="457200" indent="-457200" rtl="0">
              <a:buFont typeface="Wingdings" charset="2"/>
              <a:buChar char="§"/>
              <a:defRPr/>
            </a:pPr>
            <a:r>
              <a:rPr lang="en-US" dirty="0">
                <a:latin typeface="+mn-lt"/>
              </a:rPr>
              <a:t>The output correctness tests apply the concept of </a:t>
            </a:r>
            <a:r>
              <a:rPr lang="en-US" b="1" dirty="0">
                <a:latin typeface="+mn-lt"/>
              </a:rPr>
              <a:t>test cases</a:t>
            </a:r>
            <a:r>
              <a:rPr lang="en-US" dirty="0">
                <a:latin typeface="+mn-lt"/>
              </a:rPr>
              <a:t>.</a:t>
            </a:r>
          </a:p>
          <a:p>
            <a:pPr marL="457200" indent="-457200" rtl="0">
              <a:buFont typeface="Wingdings" charset="2"/>
              <a:buChar char="§"/>
              <a:defRPr/>
            </a:pPr>
            <a:r>
              <a:rPr lang="en-US" dirty="0">
                <a:latin typeface="+mn-lt"/>
              </a:rPr>
              <a:t>Improved choice of test cases can be achieved by the efficient use of </a:t>
            </a:r>
            <a:r>
              <a:rPr lang="en-US" b="1" dirty="0">
                <a:solidFill>
                  <a:schemeClr val="accent2"/>
                </a:solidFill>
                <a:latin typeface="+mn-lt"/>
              </a:rPr>
              <a:t>equivalence class partitioning method:</a:t>
            </a:r>
          </a:p>
          <a:p>
            <a:pPr marL="1024128" lvl="4" indent="0" rtl="0">
              <a:buNone/>
              <a:defRPr/>
            </a:pPr>
            <a:r>
              <a:rPr lang="en-US" sz="2400" dirty="0"/>
              <a:t>divide the input domain of a program into “equivalence” classes of data from which test cases can be derived.</a:t>
            </a:r>
          </a:p>
        </p:txBody>
      </p:sp>
    </p:spTree>
    <p:extLst>
      <p:ext uri="{BB962C8B-B14F-4D97-AF65-F5344CB8AC3E}">
        <p14:creationId xmlns:p14="http://schemas.microsoft.com/office/powerpoint/2010/main" val="3931853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304800"/>
          </a:xfrm>
        </p:spPr>
        <p:txBody>
          <a:bodyPr>
            <a:normAutofit fontScale="90000"/>
          </a:bodyPr>
          <a:lstStyle/>
          <a:p>
            <a:r>
              <a:rPr lang="en-US" sz="2800" b="1" dirty="0">
                <a:solidFill>
                  <a:schemeClr val="accent4"/>
                </a:solidFill>
                <a:latin typeface="+mn-lt"/>
              </a:rPr>
              <a:t>Documentation tests </a:t>
            </a:r>
          </a:p>
        </p:txBody>
      </p:sp>
      <p:sp>
        <p:nvSpPr>
          <p:cNvPr id="3" name="Content Placeholder 2"/>
          <p:cNvSpPr>
            <a:spLocks noGrp="1"/>
          </p:cNvSpPr>
          <p:nvPr>
            <p:ph idx="1"/>
          </p:nvPr>
        </p:nvSpPr>
        <p:spPr>
          <a:xfrm>
            <a:off x="228600" y="1066800"/>
            <a:ext cx="8610600" cy="5507736"/>
          </a:xfrm>
        </p:spPr>
        <p:txBody>
          <a:bodyPr>
            <a:noAutofit/>
          </a:bodyPr>
          <a:lstStyle/>
          <a:p>
            <a:pPr marL="0" indent="0" rtl="0">
              <a:buNone/>
              <a:defRPr/>
            </a:pPr>
            <a:r>
              <a:rPr lang="en-US" sz="2000" dirty="0">
                <a:latin typeface="+mn-lt"/>
              </a:rPr>
              <a:t>Common components of documentation, supplied by the developer, are: </a:t>
            </a:r>
            <a:endParaRPr lang="en-US" sz="2000" b="1" dirty="0">
              <a:latin typeface="+mn-lt"/>
            </a:endParaRPr>
          </a:p>
          <a:p>
            <a:pPr marL="749808" lvl="1" indent="-457200" rtl="0">
              <a:buFont typeface="Wingdings" charset="2"/>
              <a:buChar char="§"/>
              <a:defRPr/>
            </a:pPr>
            <a:r>
              <a:rPr lang="en-US" sz="2000" dirty="0"/>
              <a:t>Functional descriptions of the software system. </a:t>
            </a:r>
          </a:p>
          <a:p>
            <a:pPr marL="749808" lvl="1" indent="-457200" rtl="0">
              <a:buFont typeface="Wingdings" charset="2"/>
              <a:buChar char="§"/>
              <a:defRPr/>
            </a:pPr>
            <a:r>
              <a:rPr lang="en-US" sz="2000" dirty="0"/>
              <a:t>Installation manual. </a:t>
            </a:r>
          </a:p>
          <a:p>
            <a:pPr marL="749808" lvl="1" indent="-457200" rtl="0">
              <a:buFont typeface="Wingdings" charset="2"/>
              <a:buChar char="§"/>
              <a:defRPr/>
            </a:pPr>
            <a:r>
              <a:rPr lang="en-US" sz="2000" dirty="0"/>
              <a:t>User manual.</a:t>
            </a:r>
          </a:p>
          <a:p>
            <a:pPr marL="749808" lvl="1" indent="-457200" rtl="0">
              <a:buFont typeface="Wingdings" charset="2"/>
              <a:buChar char="§"/>
              <a:defRPr/>
            </a:pPr>
            <a:r>
              <a:rPr lang="en-US" sz="2000" dirty="0"/>
              <a:t>Programmer manual. </a:t>
            </a:r>
          </a:p>
          <a:p>
            <a:pPr marL="0" indent="0" rtl="0">
              <a:lnSpc>
                <a:spcPct val="120000"/>
              </a:lnSpc>
              <a:buNone/>
              <a:defRPr/>
            </a:pPr>
            <a:r>
              <a:rPr lang="en-US" sz="2000" dirty="0"/>
              <a:t>Document testing plans should include the following three components: </a:t>
            </a:r>
            <a:endParaRPr lang="en-US" sz="2000" b="1" dirty="0"/>
          </a:p>
          <a:p>
            <a:pPr marL="749808" lvl="1" indent="-457200" rtl="0">
              <a:lnSpc>
                <a:spcPct val="120000"/>
              </a:lnSpc>
              <a:buFont typeface="Wingdings" charset="2"/>
              <a:buChar char="§"/>
              <a:defRPr/>
            </a:pPr>
            <a:r>
              <a:rPr lang="en-US" sz="2000" b="1" dirty="0"/>
              <a:t>Document completeness check</a:t>
            </a:r>
            <a:r>
              <a:rPr lang="en-US" sz="2000" dirty="0"/>
              <a:t>. Based on the requirements specification and the detailed design reports, its purpose is to check whether all the required documents have been completed as specified and as intended by the designer. </a:t>
            </a:r>
          </a:p>
          <a:p>
            <a:pPr marL="749808" lvl="1" indent="-457200" rtl="0">
              <a:lnSpc>
                <a:spcPct val="120000"/>
              </a:lnSpc>
              <a:buFont typeface="Wingdings" charset="2"/>
              <a:buChar char="§"/>
              <a:defRPr/>
            </a:pPr>
            <a:r>
              <a:rPr lang="en-US" sz="2000" b="1" dirty="0"/>
              <a:t>Document correctness tests</a:t>
            </a:r>
            <a:r>
              <a:rPr lang="en-US" sz="2000" dirty="0"/>
              <a:t>. Correctness tests determine whether the instructions listed in the user document are correct. </a:t>
            </a:r>
          </a:p>
          <a:p>
            <a:pPr marL="749808" lvl="1" indent="-457200" rtl="0">
              <a:lnSpc>
                <a:spcPct val="120000"/>
              </a:lnSpc>
              <a:buFont typeface="Wingdings" charset="2"/>
              <a:buChar char="§"/>
              <a:defRPr/>
            </a:pPr>
            <a:r>
              <a:rPr lang="en-US" sz="2000" b="1" dirty="0"/>
              <a:t>Document style and editing inspection</a:t>
            </a:r>
            <a:r>
              <a:rPr lang="en-US" sz="2000" dirty="0"/>
              <a:t>. Refers to document clarity and its agreement with documentation standards in cases this requirement is specified in the contract.</a:t>
            </a:r>
          </a:p>
          <a:p>
            <a:pPr marL="457200" indent="-457200" rtl="0">
              <a:buNone/>
              <a:defRPr/>
            </a:pPr>
            <a:endParaRPr lang="en-US" sz="2000" dirty="0">
              <a:latin typeface="+mn-lt"/>
            </a:endParaRPr>
          </a:p>
        </p:txBody>
      </p:sp>
    </p:spTree>
    <p:extLst>
      <p:ext uri="{BB962C8B-B14F-4D97-AF65-F5344CB8AC3E}">
        <p14:creationId xmlns:p14="http://schemas.microsoft.com/office/powerpoint/2010/main" val="1917448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762000"/>
          </a:xfrm>
        </p:spPr>
        <p:txBody>
          <a:bodyPr>
            <a:normAutofit/>
          </a:bodyPr>
          <a:lstStyle/>
          <a:p>
            <a:r>
              <a:rPr lang="en-US" sz="3600" b="1" dirty="0">
                <a:solidFill>
                  <a:schemeClr val="accent4"/>
                </a:solidFill>
                <a:latin typeface="+mn-lt"/>
              </a:rPr>
              <a:t>Availability tests </a:t>
            </a:r>
          </a:p>
        </p:txBody>
      </p:sp>
      <p:sp>
        <p:nvSpPr>
          <p:cNvPr id="3" name="Content Placeholder 2"/>
          <p:cNvSpPr>
            <a:spLocks noGrp="1"/>
          </p:cNvSpPr>
          <p:nvPr>
            <p:ph idx="1"/>
          </p:nvPr>
        </p:nvSpPr>
        <p:spPr>
          <a:xfrm>
            <a:off x="457200" y="1752600"/>
            <a:ext cx="8229600" cy="4821936"/>
          </a:xfrm>
        </p:spPr>
        <p:txBody>
          <a:bodyPr>
            <a:noAutofit/>
          </a:bodyPr>
          <a:lstStyle/>
          <a:p>
            <a:pPr rtl="0">
              <a:buFont typeface="Wingdings" charset="2"/>
              <a:buChar char="§"/>
            </a:pPr>
            <a:r>
              <a:rPr lang="en-US" sz="2400" dirty="0">
                <a:latin typeface="+mn-lt"/>
              </a:rPr>
              <a:t>It is defined as </a:t>
            </a:r>
            <a:r>
              <a:rPr lang="en-US" sz="2400" b="1" dirty="0">
                <a:latin typeface="+mn-lt"/>
              </a:rPr>
              <a:t>reaction time</a:t>
            </a:r>
            <a:r>
              <a:rPr lang="en-US" sz="2400" dirty="0">
                <a:latin typeface="+mn-lt"/>
              </a:rPr>
              <a:t>: </a:t>
            </a:r>
            <a:r>
              <a:rPr lang="en-US" sz="2400" dirty="0">
                <a:solidFill>
                  <a:schemeClr val="bg2">
                    <a:lumMod val="50000"/>
                  </a:schemeClr>
                </a:solidFill>
                <a:latin typeface="+mn-lt"/>
              </a:rPr>
              <a:t>the time needed to obtain the requested information or the time required for firmware installed in computerized equipment to react</a:t>
            </a:r>
            <a:r>
              <a:rPr lang="en-US" sz="2400" dirty="0">
                <a:latin typeface="+mn-lt"/>
              </a:rPr>
              <a:t>. </a:t>
            </a:r>
          </a:p>
          <a:p>
            <a:pPr rtl="0">
              <a:buFont typeface="Wingdings" charset="2"/>
              <a:buChar char="§"/>
            </a:pPr>
            <a:r>
              <a:rPr lang="en-US" sz="2400" dirty="0">
                <a:latin typeface="+mn-lt"/>
              </a:rPr>
              <a:t>Availability is of highest importance in </a:t>
            </a:r>
            <a:r>
              <a:rPr lang="en-US" sz="2400" dirty="0">
                <a:solidFill>
                  <a:schemeClr val="accent1"/>
                </a:solidFill>
                <a:latin typeface="+mn-lt"/>
              </a:rPr>
              <a:t>online applications </a:t>
            </a:r>
            <a:r>
              <a:rPr lang="en-US" sz="2400" dirty="0">
                <a:latin typeface="+mn-lt"/>
              </a:rPr>
              <a:t>of frequently used information systems. The failure of firmware software to meet availability can make the equipment useless. </a:t>
            </a:r>
          </a:p>
          <a:p>
            <a:pPr rtl="0">
              <a:buFont typeface="Wingdings" charset="2"/>
              <a:buChar char="§"/>
            </a:pPr>
            <a:r>
              <a:rPr lang="en-US" sz="2400" dirty="0"/>
              <a:t>Difficult to test, especially for systems that serve a large population of users.</a:t>
            </a:r>
          </a:p>
          <a:p>
            <a:pPr marL="109728" indent="0" rtl="0">
              <a:buNone/>
            </a:pPr>
            <a:endParaRPr lang="en-US" sz="2400" dirty="0">
              <a:latin typeface="+mn-lt"/>
            </a:endParaRPr>
          </a:p>
        </p:txBody>
      </p:sp>
    </p:spTree>
    <p:extLst>
      <p:ext uri="{BB962C8B-B14F-4D97-AF65-F5344CB8AC3E}">
        <p14:creationId xmlns:p14="http://schemas.microsoft.com/office/powerpoint/2010/main" val="1430366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066800"/>
          </a:xfrm>
        </p:spPr>
        <p:txBody>
          <a:bodyPr>
            <a:normAutofit/>
          </a:bodyPr>
          <a:lstStyle/>
          <a:p>
            <a:r>
              <a:rPr lang="en-US" sz="3600" b="1" dirty="0">
                <a:solidFill>
                  <a:schemeClr val="accent4"/>
                </a:solidFill>
                <a:latin typeface="+mn-lt"/>
              </a:rPr>
              <a:t>Reliability tests </a:t>
            </a:r>
          </a:p>
        </p:txBody>
      </p:sp>
      <p:sp>
        <p:nvSpPr>
          <p:cNvPr id="3" name="Content Placeholder 2"/>
          <p:cNvSpPr>
            <a:spLocks noGrp="1"/>
          </p:cNvSpPr>
          <p:nvPr>
            <p:ph idx="1"/>
          </p:nvPr>
        </p:nvSpPr>
        <p:spPr>
          <a:xfrm>
            <a:off x="304800" y="1905000"/>
            <a:ext cx="8382000" cy="4669536"/>
          </a:xfrm>
        </p:spPr>
        <p:txBody>
          <a:bodyPr>
            <a:noAutofit/>
          </a:bodyPr>
          <a:lstStyle/>
          <a:p>
            <a:pPr marL="109728" indent="0" rtl="0">
              <a:buNone/>
            </a:pPr>
            <a:r>
              <a:rPr lang="en-US" sz="2400" dirty="0">
                <a:latin typeface="+mn-lt"/>
              </a:rPr>
              <a:t>The software system reliability requirement deals with features that can be translated as events occurring over time, such as:</a:t>
            </a:r>
          </a:p>
          <a:p>
            <a:pPr lvl="1" rtl="0"/>
            <a:r>
              <a:rPr lang="en-US" sz="2400" dirty="0">
                <a:latin typeface="+mn-lt"/>
              </a:rPr>
              <a:t>average time between failures (e.g., 500 hours)</a:t>
            </a:r>
            <a:endParaRPr lang="en-US" sz="2400" dirty="0"/>
          </a:p>
          <a:p>
            <a:pPr lvl="1" rtl="0"/>
            <a:r>
              <a:rPr lang="en-US" sz="2400" dirty="0">
                <a:latin typeface="+mn-lt"/>
              </a:rPr>
              <a:t>average time for recovery after system failure (e.g., 15 min)</a:t>
            </a:r>
            <a:endParaRPr lang="en-US" sz="2400" dirty="0"/>
          </a:p>
          <a:p>
            <a:pPr lvl="1" rtl="0"/>
            <a:r>
              <a:rPr lang="en-US" sz="2400" dirty="0"/>
              <a:t>average downtime per month (e.g., 30 minutes per month) </a:t>
            </a:r>
          </a:p>
          <a:p>
            <a:pPr lvl="1" rtl="0"/>
            <a:endParaRPr lang="en-US" sz="2400" dirty="0">
              <a:latin typeface="+mn-lt"/>
            </a:endParaRPr>
          </a:p>
        </p:txBody>
      </p:sp>
    </p:spTree>
    <p:extLst>
      <p:ext uri="{BB962C8B-B14F-4D97-AF65-F5344CB8AC3E}">
        <p14:creationId xmlns:p14="http://schemas.microsoft.com/office/powerpoint/2010/main" val="62515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762000"/>
          </a:xfrm>
        </p:spPr>
        <p:txBody>
          <a:bodyPr>
            <a:normAutofit/>
          </a:bodyPr>
          <a:lstStyle/>
          <a:p>
            <a:r>
              <a:rPr lang="en-US" sz="3600" b="1" dirty="0">
                <a:solidFill>
                  <a:schemeClr val="accent4"/>
                </a:solidFill>
                <a:latin typeface="+mn-lt"/>
              </a:rPr>
              <a:t>Stress tests </a:t>
            </a:r>
          </a:p>
        </p:txBody>
      </p:sp>
      <p:sp>
        <p:nvSpPr>
          <p:cNvPr id="3" name="Content Placeholder 2"/>
          <p:cNvSpPr>
            <a:spLocks noGrp="1"/>
          </p:cNvSpPr>
          <p:nvPr>
            <p:ph idx="1"/>
          </p:nvPr>
        </p:nvSpPr>
        <p:spPr>
          <a:xfrm>
            <a:off x="457200" y="1676400"/>
            <a:ext cx="8229600" cy="4898136"/>
          </a:xfrm>
        </p:spPr>
        <p:txBody>
          <a:bodyPr>
            <a:noAutofit/>
          </a:bodyPr>
          <a:lstStyle/>
          <a:p>
            <a:pPr marL="109728" indent="0" rtl="0">
              <a:buNone/>
            </a:pPr>
            <a:r>
              <a:rPr lang="en-US" sz="2400" dirty="0">
                <a:latin typeface="+mn-lt"/>
              </a:rPr>
              <a:t>The class of stress tests subsumes two main types of tests: </a:t>
            </a:r>
          </a:p>
          <a:p>
            <a:pPr marL="745236" lvl="1" indent="-342900" rtl="0"/>
            <a:r>
              <a:rPr lang="en-US" sz="2400" dirty="0">
                <a:latin typeface="+mn-lt"/>
              </a:rPr>
              <a:t>load tests : </a:t>
            </a:r>
            <a:r>
              <a:rPr lang="en-US" sz="2400" dirty="0">
                <a:solidFill>
                  <a:schemeClr val="bg2">
                    <a:lumMod val="50000"/>
                  </a:schemeClr>
                </a:solidFill>
              </a:rPr>
              <a:t>conducted for loads higher than those indicated in the requirements specification. </a:t>
            </a:r>
            <a:endParaRPr lang="en-US" sz="2400" dirty="0">
              <a:solidFill>
                <a:schemeClr val="bg2">
                  <a:lumMod val="50000"/>
                </a:schemeClr>
              </a:solidFill>
              <a:latin typeface="+mn-lt"/>
            </a:endParaRPr>
          </a:p>
          <a:p>
            <a:pPr marL="745236" lvl="1" indent="-342900" rtl="0"/>
            <a:r>
              <a:rPr lang="en-US" sz="2400" dirty="0">
                <a:latin typeface="+mn-lt"/>
              </a:rPr>
              <a:t>durability tests: </a:t>
            </a:r>
            <a:r>
              <a:rPr lang="en-US" sz="2400" dirty="0">
                <a:solidFill>
                  <a:schemeClr val="bg2">
                    <a:lumMod val="50000"/>
                  </a:schemeClr>
                </a:solidFill>
              </a:rPr>
              <a:t>carried out in physically extreme operating conditions such as high temperatures, humidity, and high-speed driving along unpaved rural roads.</a:t>
            </a:r>
          </a:p>
          <a:p>
            <a:pPr marL="109728" indent="0" rtl="0">
              <a:buNone/>
            </a:pPr>
            <a:endParaRPr lang="en-US" sz="2400" dirty="0">
              <a:latin typeface="+mn-lt"/>
            </a:endParaRPr>
          </a:p>
          <a:p>
            <a:pPr marL="109728" indent="0" rtl="0">
              <a:buNone/>
            </a:pPr>
            <a:r>
              <a:rPr lang="en-US" sz="2400" dirty="0">
                <a:latin typeface="+mn-lt"/>
              </a:rPr>
              <a:t>It is possible to perform these tests only subsequent to software system completion. </a:t>
            </a:r>
          </a:p>
        </p:txBody>
      </p:sp>
    </p:spTree>
    <p:extLst>
      <p:ext uri="{BB962C8B-B14F-4D97-AF65-F5344CB8AC3E}">
        <p14:creationId xmlns:p14="http://schemas.microsoft.com/office/powerpoint/2010/main" val="3164733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838200"/>
          </a:xfrm>
        </p:spPr>
        <p:txBody>
          <a:bodyPr>
            <a:normAutofit/>
          </a:bodyPr>
          <a:lstStyle/>
          <a:p>
            <a:r>
              <a:rPr lang="en-US" sz="3600" b="1" dirty="0">
                <a:solidFill>
                  <a:schemeClr val="accent4"/>
                </a:solidFill>
                <a:latin typeface="+mn-lt"/>
              </a:rPr>
              <a:t>Software security system tests </a:t>
            </a:r>
          </a:p>
        </p:txBody>
      </p:sp>
      <p:sp>
        <p:nvSpPr>
          <p:cNvPr id="3" name="Content Placeholder 2"/>
          <p:cNvSpPr>
            <a:spLocks noGrp="1"/>
          </p:cNvSpPr>
          <p:nvPr>
            <p:ph idx="1"/>
          </p:nvPr>
        </p:nvSpPr>
        <p:spPr>
          <a:xfrm>
            <a:off x="457200" y="1676400"/>
            <a:ext cx="8229600" cy="4898136"/>
          </a:xfrm>
        </p:spPr>
        <p:txBody>
          <a:bodyPr>
            <a:noAutofit/>
          </a:bodyPr>
          <a:lstStyle/>
          <a:p>
            <a:pPr rtl="0"/>
            <a:r>
              <a:rPr lang="en-US" sz="2400" dirty="0">
                <a:latin typeface="+mn-lt"/>
              </a:rPr>
              <a:t>Aimed at preventing unauthorized access to the system or parts of it, detection of unauthorized access and the activities performed by the penetration, and the recovery of damages caused by unauthorized penetration cases. </a:t>
            </a:r>
          </a:p>
          <a:p>
            <a:pPr rtl="0"/>
            <a:r>
              <a:rPr lang="en-US" sz="2400" dirty="0">
                <a:latin typeface="+mn-lt"/>
              </a:rPr>
              <a:t>The main security issues dealt with by these tests are: </a:t>
            </a:r>
          </a:p>
          <a:p>
            <a:pPr lvl="1" rtl="0"/>
            <a:r>
              <a:rPr lang="en-US" sz="2400" dirty="0"/>
              <a:t>Access control</a:t>
            </a:r>
          </a:p>
          <a:p>
            <a:pPr lvl="1" rtl="0"/>
            <a:r>
              <a:rPr lang="en-US" sz="2400" dirty="0"/>
              <a:t>Backup of databases and software files and recovery in cases of system failure. </a:t>
            </a:r>
          </a:p>
          <a:p>
            <a:pPr lvl="1" rtl="0"/>
            <a:r>
              <a:rPr lang="en-US" sz="2400" dirty="0"/>
              <a:t>Logging of transactions, system usage, access trials, and so forth. </a:t>
            </a:r>
          </a:p>
          <a:p>
            <a:pPr rtl="0"/>
            <a:endParaRPr lang="en-US" sz="2400" dirty="0"/>
          </a:p>
        </p:txBody>
      </p:sp>
    </p:spTree>
    <p:extLst>
      <p:ext uri="{BB962C8B-B14F-4D97-AF65-F5344CB8AC3E}">
        <p14:creationId xmlns:p14="http://schemas.microsoft.com/office/powerpoint/2010/main" val="183633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066800"/>
          </a:xfrm>
        </p:spPr>
        <p:txBody>
          <a:bodyPr>
            <a:normAutofit fontScale="90000"/>
          </a:bodyPr>
          <a:lstStyle/>
          <a:p>
            <a:r>
              <a:rPr lang="en-US" b="1" dirty="0">
                <a:solidFill>
                  <a:schemeClr val="accent4"/>
                </a:solidFill>
              </a:rPr>
              <a:t>Equivalence class partitioning method</a:t>
            </a:r>
            <a:endParaRPr lang="en-US" dirty="0"/>
          </a:p>
        </p:txBody>
      </p:sp>
      <p:sp>
        <p:nvSpPr>
          <p:cNvPr id="3" name="Content Placeholder 2"/>
          <p:cNvSpPr>
            <a:spLocks noGrp="1"/>
          </p:cNvSpPr>
          <p:nvPr>
            <p:ph idx="1"/>
          </p:nvPr>
        </p:nvSpPr>
        <p:spPr>
          <a:xfrm>
            <a:off x="304800" y="1981200"/>
            <a:ext cx="8458200" cy="4517136"/>
          </a:xfrm>
        </p:spPr>
        <p:txBody>
          <a:bodyPr>
            <a:normAutofit/>
          </a:bodyPr>
          <a:lstStyle/>
          <a:p>
            <a:pPr marL="109728" indent="0" rtl="0">
              <a:buNone/>
            </a:pPr>
            <a:r>
              <a:rPr lang="en-US" b="1" dirty="0">
                <a:solidFill>
                  <a:schemeClr val="accent2"/>
                </a:solidFill>
                <a:latin typeface="+mn-lt"/>
              </a:rPr>
              <a:t>Method guidelines</a:t>
            </a:r>
          </a:p>
          <a:p>
            <a:pPr marL="624078" indent="-514350" rtl="0">
              <a:buFont typeface="+mj-lt"/>
              <a:buAutoNum type="arabicPeriod"/>
            </a:pPr>
            <a:r>
              <a:rPr lang="en-US" sz="2400" dirty="0">
                <a:latin typeface="+mn-lt"/>
              </a:rPr>
              <a:t>If an input condition specifies a range, one valid and two invalid equivalence classes are defined. </a:t>
            </a:r>
          </a:p>
          <a:p>
            <a:pPr marL="624078" indent="-514350" rtl="0">
              <a:buFont typeface="+mj-lt"/>
              <a:buAutoNum type="arabicPeriod"/>
            </a:pPr>
            <a:r>
              <a:rPr lang="en-US" sz="2400" dirty="0">
                <a:latin typeface="+mn-lt"/>
              </a:rPr>
              <a:t>If an input condition requires a specific value, one valid and two invalid equivalence classes are defined. </a:t>
            </a:r>
          </a:p>
          <a:p>
            <a:pPr marL="624078" indent="-514350" rtl="0">
              <a:buFont typeface="+mj-lt"/>
              <a:buAutoNum type="arabicPeriod"/>
            </a:pPr>
            <a:r>
              <a:rPr lang="en-US" sz="2400" dirty="0">
                <a:latin typeface="+mn-lt"/>
              </a:rPr>
              <a:t>If an input condition specifies a member of a set, one valid and one invalid equivalence class are defined. </a:t>
            </a:r>
          </a:p>
          <a:p>
            <a:pPr marL="624078" indent="-514350" rtl="0">
              <a:buFont typeface="+mj-lt"/>
              <a:buAutoNum type="arabicPeriod"/>
            </a:pPr>
            <a:r>
              <a:rPr lang="en-US" sz="2400" dirty="0">
                <a:latin typeface="+mn-lt"/>
              </a:rPr>
              <a:t>If an input condition is Boolean, one valid and one invalid class are defined. </a:t>
            </a:r>
          </a:p>
          <a:p>
            <a:pPr rtl="0"/>
            <a:endParaRPr lang="en-US" sz="2400" dirty="0">
              <a:latin typeface="+mn-lt"/>
            </a:endParaRPr>
          </a:p>
        </p:txBody>
      </p:sp>
    </p:spTree>
    <p:extLst>
      <p:ext uri="{BB962C8B-B14F-4D97-AF65-F5344CB8AC3E}">
        <p14:creationId xmlns:p14="http://schemas.microsoft.com/office/powerpoint/2010/main" val="19224120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38200"/>
          </a:xfrm>
        </p:spPr>
        <p:txBody>
          <a:bodyPr>
            <a:normAutofit fontScale="90000"/>
          </a:bodyPr>
          <a:lstStyle/>
          <a:p>
            <a:pPr lvl="1" algn="l" rtl="0">
              <a:spcBef>
                <a:spcPct val="0"/>
              </a:spcBef>
            </a:pPr>
            <a:r>
              <a:rPr lang="en-US" sz="3600" b="1" dirty="0">
                <a:solidFill>
                  <a:schemeClr val="accent4"/>
                </a:solidFill>
                <a:latin typeface="+mn-lt"/>
              </a:rPr>
              <a:t>Equivalence class partitioning method</a:t>
            </a:r>
          </a:p>
        </p:txBody>
      </p:sp>
      <p:sp>
        <p:nvSpPr>
          <p:cNvPr id="3" name="Content Placeholder 2"/>
          <p:cNvSpPr>
            <a:spLocks noGrp="1"/>
          </p:cNvSpPr>
          <p:nvPr>
            <p:ph idx="1"/>
          </p:nvPr>
        </p:nvSpPr>
        <p:spPr>
          <a:xfrm>
            <a:off x="457200" y="1600200"/>
            <a:ext cx="8229600" cy="4745736"/>
          </a:xfrm>
        </p:spPr>
        <p:txBody>
          <a:bodyPr>
            <a:normAutofit/>
          </a:bodyPr>
          <a:lstStyle/>
          <a:p>
            <a:pPr marL="0" indent="0" rtl="0">
              <a:buNone/>
              <a:defRPr/>
            </a:pPr>
            <a:r>
              <a:rPr lang="en-US" b="1" dirty="0">
                <a:solidFill>
                  <a:srgbClr val="438086"/>
                </a:solidFill>
              </a:rPr>
              <a:t>Example:</a:t>
            </a:r>
          </a:p>
          <a:p>
            <a:pPr marL="292608" lvl="1" indent="0" rtl="0">
              <a:buNone/>
              <a:defRPr/>
            </a:pPr>
            <a:r>
              <a:rPr lang="en-US" sz="2400" dirty="0"/>
              <a:t>In the ticketing system, children under age 6 are allowed to travel for free, people under 18 as well as senior </a:t>
            </a:r>
            <a:r>
              <a:rPr lang="en-US" sz="2400"/>
              <a:t>people 64 and older </a:t>
            </a:r>
            <a:r>
              <a:rPr lang="en-US" sz="2400" dirty="0"/>
              <a:t>pay $10 while adults need to pay $20.</a:t>
            </a:r>
          </a:p>
          <a:p>
            <a:pPr marL="292608" lvl="1" indent="0" rtl="0">
              <a:buNone/>
              <a:defRPr/>
            </a:pPr>
            <a:r>
              <a:rPr lang="en-US" sz="2400" dirty="0"/>
              <a:t>For testing this system, we can use equivalence class partitioning to design our tests.</a:t>
            </a:r>
            <a:endParaRPr lang="en-US" sz="2400" dirty="0">
              <a:latin typeface="+mn-lt"/>
            </a:endParaRPr>
          </a:p>
        </p:txBody>
      </p:sp>
      <p:pic>
        <p:nvPicPr>
          <p:cNvPr id="4" name="Picture 3" descr="Screen Shot 2014-10-25 at 7.31.14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4038600"/>
            <a:ext cx="8521700" cy="2108200"/>
          </a:xfrm>
          <a:prstGeom prst="rect">
            <a:avLst/>
          </a:prstGeom>
        </p:spPr>
      </p:pic>
    </p:spTree>
    <p:extLst>
      <p:ext uri="{BB962C8B-B14F-4D97-AF65-F5344CB8AC3E}">
        <p14:creationId xmlns:p14="http://schemas.microsoft.com/office/powerpoint/2010/main" val="1623235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066800"/>
          </a:xfrm>
        </p:spPr>
        <p:txBody>
          <a:bodyPr>
            <a:normAutofit fontScale="90000"/>
          </a:bodyPr>
          <a:lstStyle/>
          <a:p>
            <a:r>
              <a:rPr lang="en-US" b="1" dirty="0">
                <a:solidFill>
                  <a:schemeClr val="accent4"/>
                </a:solidFill>
              </a:rPr>
              <a:t>Equivalence class partitioning method</a:t>
            </a:r>
            <a:endParaRPr lang="en-US" dirty="0"/>
          </a:p>
        </p:txBody>
      </p:sp>
      <p:sp>
        <p:nvSpPr>
          <p:cNvPr id="3" name="Content Placeholder 2"/>
          <p:cNvSpPr>
            <a:spLocks noGrp="1"/>
          </p:cNvSpPr>
          <p:nvPr>
            <p:ph idx="1"/>
          </p:nvPr>
        </p:nvSpPr>
        <p:spPr>
          <a:xfrm>
            <a:off x="381000" y="1752600"/>
            <a:ext cx="8305800" cy="4876800"/>
          </a:xfrm>
        </p:spPr>
        <p:txBody>
          <a:bodyPr>
            <a:normAutofit fontScale="85000" lnSpcReduction="10000"/>
          </a:bodyPr>
          <a:lstStyle/>
          <a:p>
            <a:pPr marL="109728" indent="0" rtl="0">
              <a:buNone/>
            </a:pPr>
            <a:r>
              <a:rPr lang="en-US" sz="2400" dirty="0">
                <a:latin typeface="+mn-lt"/>
              </a:rPr>
              <a:t>When the equivalence classes involve numbers, there are decision boundaries between them. These are places where the behavior of the system changes. </a:t>
            </a:r>
          </a:p>
          <a:p>
            <a:pPr marL="109728" indent="0" rtl="0">
              <a:buNone/>
            </a:pPr>
            <a:endParaRPr lang="en-US" sz="2400" dirty="0">
              <a:latin typeface="+mn-lt"/>
            </a:endParaRPr>
          </a:p>
          <a:p>
            <a:pPr marL="109728" indent="0" rtl="0">
              <a:buNone/>
            </a:pPr>
            <a:r>
              <a:rPr lang="en-US" sz="2400" b="1" dirty="0">
                <a:solidFill>
                  <a:srgbClr val="A04DA3"/>
                </a:solidFill>
                <a:latin typeface="+mn-lt"/>
              </a:rPr>
              <a:t>What</a:t>
            </a:r>
            <a:r>
              <a:rPr lang="en-US" sz="2400" b="1" dirty="0">
                <a:latin typeface="+mn-lt"/>
              </a:rPr>
              <a:t> </a:t>
            </a:r>
            <a:r>
              <a:rPr lang="en-US" sz="2400" b="1" dirty="0">
                <a:solidFill>
                  <a:schemeClr val="accent3"/>
                </a:solidFill>
                <a:latin typeface="+mn-lt"/>
              </a:rPr>
              <a:t>makes boundary value analysis an interesting method ?</a:t>
            </a:r>
          </a:p>
          <a:p>
            <a:pPr marL="109728" indent="0" rtl="0">
              <a:buNone/>
            </a:pPr>
            <a:r>
              <a:rPr lang="en-US" sz="2400" dirty="0">
                <a:latin typeface="+mn-lt"/>
              </a:rPr>
              <a:t>It is widely recognized that values on the boundaries cause more errors in system. Therefore we should be always checking the boundaries as if the system fails, it is likely to fail on these decision boundaries.</a:t>
            </a:r>
          </a:p>
          <a:p>
            <a:pPr marL="109728" indent="0" rtl="0">
              <a:buNone/>
            </a:pPr>
            <a:endParaRPr lang="en-US" b="1" dirty="0"/>
          </a:p>
          <a:p>
            <a:pPr marL="109728" indent="0" rtl="0">
              <a:buNone/>
            </a:pPr>
            <a:r>
              <a:rPr lang="en-US" b="1" dirty="0"/>
              <a:t>Finding boundary values for numbers:</a:t>
            </a:r>
          </a:p>
          <a:p>
            <a:pPr marL="109728" indent="0" rtl="0">
              <a:buNone/>
            </a:pPr>
            <a:r>
              <a:rPr lang="en-US" dirty="0"/>
              <a:t>If input condition specifies a range bounded by certain values, say, a and b, then test cases should include: </a:t>
            </a:r>
          </a:p>
          <a:p>
            <a:pPr rtl="0"/>
            <a:r>
              <a:rPr lang="en-US" dirty="0"/>
              <a:t>Values for a and b</a:t>
            </a:r>
          </a:p>
          <a:p>
            <a:pPr rtl="0"/>
            <a:r>
              <a:rPr lang="en-US" dirty="0"/>
              <a:t>Values just above and just below a and b</a:t>
            </a:r>
          </a:p>
          <a:p>
            <a:pPr rtl="0"/>
            <a:endParaRPr lang="en-US" dirty="0">
              <a:latin typeface="+mn-lt"/>
            </a:endParaRPr>
          </a:p>
        </p:txBody>
      </p:sp>
    </p:spTree>
    <p:extLst>
      <p:ext uri="{BB962C8B-B14F-4D97-AF65-F5344CB8AC3E}">
        <p14:creationId xmlns:p14="http://schemas.microsoft.com/office/powerpoint/2010/main" val="14802177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325112"/>
          </a:xfrm>
        </p:spPr>
        <p:txBody>
          <a:bodyPr>
            <a:normAutofit/>
          </a:bodyPr>
          <a:lstStyle/>
          <a:p>
            <a:pPr marL="109728" indent="0" rtl="0">
              <a:buNone/>
            </a:pPr>
            <a:r>
              <a:rPr lang="en-US" sz="2400" dirty="0">
                <a:latin typeface="+mn-lt"/>
              </a:rPr>
              <a:t>The following table shows the input values used to test the boundary around 0 and 6:</a:t>
            </a:r>
          </a:p>
        </p:txBody>
      </p:sp>
      <p:pic>
        <p:nvPicPr>
          <p:cNvPr id="4" name="Picture 3" descr="Screen Shot 2014-10-25 at 8.45.48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057400"/>
            <a:ext cx="8191500" cy="4191000"/>
          </a:xfrm>
          <a:prstGeom prst="rect">
            <a:avLst/>
          </a:prstGeom>
        </p:spPr>
      </p:pic>
    </p:spTree>
    <p:extLst>
      <p:ext uri="{BB962C8B-B14F-4D97-AF65-F5344CB8AC3E}">
        <p14:creationId xmlns:p14="http://schemas.microsoft.com/office/powerpoint/2010/main" val="3876510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a:xfrm>
            <a:off x="1255713" y="1217613"/>
            <a:ext cx="6183312" cy="319087"/>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Equivalence Partitioning</a:t>
            </a:r>
          </a:p>
        </p:txBody>
      </p:sp>
      <p:sp>
        <p:nvSpPr>
          <p:cNvPr id="40" name="Slide Number Placeholder 4"/>
          <p:cNvSpPr>
            <a:spLocks noGrp="1"/>
          </p:cNvSpPr>
          <p:nvPr>
            <p:ph type="sldNum" sz="quarter" idx="12"/>
          </p:nvPr>
        </p:nvSpPr>
        <p:spPr>
          <a:prstGeom prst="rect">
            <a:avLst/>
          </a:prstGeom>
        </p:spPr>
        <p:txBody>
          <a:bodyPr/>
          <a:lstStyle/>
          <a:p>
            <a:pPr>
              <a:defRPr/>
            </a:pPr>
            <a:fld id="{E4AAB114-9E30-49C6-B172-0BCB8E4D1983}" type="slidenum">
              <a:rPr lang="en-US"/>
              <a:pPr>
                <a:defRPr/>
              </a:pPr>
              <a:t>46</a:t>
            </a:fld>
            <a:endParaRPr lang="en-US"/>
          </a:p>
        </p:txBody>
      </p:sp>
      <p:sp>
        <p:nvSpPr>
          <p:cNvPr id="39"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grpSp>
        <p:nvGrpSpPr>
          <p:cNvPr id="27653" name="Group 3"/>
          <p:cNvGrpSpPr>
            <a:grpSpLocks/>
          </p:cNvGrpSpPr>
          <p:nvPr/>
        </p:nvGrpSpPr>
        <p:grpSpPr bwMode="auto">
          <a:xfrm>
            <a:off x="2049463" y="2286000"/>
            <a:ext cx="1123950" cy="3513138"/>
            <a:chOff x="1099" y="1063"/>
            <a:chExt cx="708" cy="1967"/>
          </a:xfrm>
        </p:grpSpPr>
        <p:sp>
          <p:nvSpPr>
            <p:cNvPr id="27685" name="Freeform 4"/>
            <p:cNvSpPr>
              <a:spLocks/>
            </p:cNvSpPr>
            <p:nvPr/>
          </p:nvSpPr>
          <p:spPr bwMode="auto">
            <a:xfrm>
              <a:off x="1099" y="1063"/>
              <a:ext cx="526" cy="67"/>
            </a:xfrm>
            <a:custGeom>
              <a:avLst/>
              <a:gdLst>
                <a:gd name="T0" fmla="*/ 482 w 526"/>
                <a:gd name="T1" fmla="*/ 66 h 67"/>
                <a:gd name="T2" fmla="*/ 0 w 526"/>
                <a:gd name="T3" fmla="*/ 66 h 67"/>
                <a:gd name="T4" fmla="*/ 46 w 526"/>
                <a:gd name="T5" fmla="*/ 0 h 67"/>
                <a:gd name="T6" fmla="*/ 525 w 526"/>
                <a:gd name="T7" fmla="*/ 0 h 67"/>
                <a:gd name="T8" fmla="*/ 482 w 526"/>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6" h="67">
                  <a:moveTo>
                    <a:pt x="482" y="66"/>
                  </a:moveTo>
                  <a:lnTo>
                    <a:pt x="0" y="66"/>
                  </a:lnTo>
                  <a:lnTo>
                    <a:pt x="46" y="0"/>
                  </a:lnTo>
                  <a:lnTo>
                    <a:pt x="525" y="0"/>
                  </a:lnTo>
                  <a:lnTo>
                    <a:pt x="482" y="66"/>
                  </a:lnTo>
                </a:path>
              </a:pathLst>
            </a:custGeom>
            <a:solidFill>
              <a:srgbClr val="5F00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6" name="Freeform 5"/>
            <p:cNvSpPr>
              <a:spLocks/>
            </p:cNvSpPr>
            <p:nvPr/>
          </p:nvSpPr>
          <p:spPr bwMode="auto">
            <a:xfrm>
              <a:off x="1581" y="1063"/>
              <a:ext cx="225" cy="1010"/>
            </a:xfrm>
            <a:custGeom>
              <a:avLst/>
              <a:gdLst>
                <a:gd name="T0" fmla="*/ 43 w 225"/>
                <a:gd name="T1" fmla="*/ 0 h 1010"/>
                <a:gd name="T2" fmla="*/ 0 w 225"/>
                <a:gd name="T3" fmla="*/ 66 h 1010"/>
                <a:gd name="T4" fmla="*/ 186 w 225"/>
                <a:gd name="T5" fmla="*/ 1009 h 1010"/>
                <a:gd name="T6" fmla="*/ 224 w 225"/>
                <a:gd name="T7" fmla="*/ 957 h 1010"/>
                <a:gd name="T8" fmla="*/ 43 w 225"/>
                <a:gd name="T9" fmla="*/ 0 h 10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10">
                  <a:moveTo>
                    <a:pt x="43" y="0"/>
                  </a:moveTo>
                  <a:lnTo>
                    <a:pt x="0" y="66"/>
                  </a:lnTo>
                  <a:lnTo>
                    <a:pt x="186" y="1009"/>
                  </a:lnTo>
                  <a:lnTo>
                    <a:pt x="224" y="957"/>
                  </a:lnTo>
                  <a:lnTo>
                    <a:pt x="43" y="0"/>
                  </a:lnTo>
                </a:path>
              </a:pathLst>
            </a:custGeom>
            <a:solidFill>
              <a:srgbClr val="9F3FD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7" name="Freeform 6"/>
            <p:cNvSpPr>
              <a:spLocks/>
            </p:cNvSpPr>
            <p:nvPr/>
          </p:nvSpPr>
          <p:spPr bwMode="auto">
            <a:xfrm>
              <a:off x="1586" y="2018"/>
              <a:ext cx="221" cy="1012"/>
            </a:xfrm>
            <a:custGeom>
              <a:avLst/>
              <a:gdLst>
                <a:gd name="T0" fmla="*/ 220 w 221"/>
                <a:gd name="T1" fmla="*/ 0 h 1012"/>
                <a:gd name="T2" fmla="*/ 181 w 221"/>
                <a:gd name="T3" fmla="*/ 53 h 1012"/>
                <a:gd name="T4" fmla="*/ 0 w 221"/>
                <a:gd name="T5" fmla="*/ 1011 h 1012"/>
                <a:gd name="T6" fmla="*/ 42 w 221"/>
                <a:gd name="T7" fmla="*/ 949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9"/>
                  </a:lnTo>
                  <a:lnTo>
                    <a:pt x="220" y="0"/>
                  </a:lnTo>
                </a:path>
              </a:pathLst>
            </a:custGeom>
            <a:solidFill>
              <a:srgbClr val="DF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8" name="Freeform 7"/>
            <p:cNvSpPr>
              <a:spLocks/>
            </p:cNvSpPr>
            <p:nvPr/>
          </p:nvSpPr>
          <p:spPr bwMode="auto">
            <a:xfrm>
              <a:off x="1099" y="1129"/>
              <a:ext cx="669" cy="1901"/>
            </a:xfrm>
            <a:custGeom>
              <a:avLst/>
              <a:gdLst>
                <a:gd name="T0" fmla="*/ 482 w 669"/>
                <a:gd name="T1" fmla="*/ 0 h 1901"/>
                <a:gd name="T2" fmla="*/ 0 w 669"/>
                <a:gd name="T3" fmla="*/ 0 h 1901"/>
                <a:gd name="T4" fmla="*/ 0 w 669"/>
                <a:gd name="T5" fmla="*/ 1900 h 1901"/>
                <a:gd name="T6" fmla="*/ 487 w 669"/>
                <a:gd name="T7" fmla="*/ 1900 h 1901"/>
                <a:gd name="T8" fmla="*/ 668 w 669"/>
                <a:gd name="T9" fmla="*/ 942 h 1901"/>
                <a:gd name="T10" fmla="*/ 482 w 669"/>
                <a:gd name="T11" fmla="*/ 0 h 19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9" h="1901">
                  <a:moveTo>
                    <a:pt x="482" y="0"/>
                  </a:moveTo>
                  <a:lnTo>
                    <a:pt x="0" y="0"/>
                  </a:lnTo>
                  <a:lnTo>
                    <a:pt x="0" y="1900"/>
                  </a:lnTo>
                  <a:lnTo>
                    <a:pt x="487" y="1900"/>
                  </a:lnTo>
                  <a:lnTo>
                    <a:pt x="668" y="942"/>
                  </a:lnTo>
                  <a:lnTo>
                    <a:pt x="482" y="0"/>
                  </a:lnTo>
                </a:path>
              </a:pathLst>
            </a:custGeom>
            <a:solidFill>
              <a:srgbClr val="7F00D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7654" name="Group 8"/>
          <p:cNvGrpSpPr>
            <a:grpSpLocks/>
          </p:cNvGrpSpPr>
          <p:nvPr/>
        </p:nvGrpSpPr>
        <p:grpSpPr bwMode="auto">
          <a:xfrm>
            <a:off x="3835400" y="2286000"/>
            <a:ext cx="1123950" cy="3513138"/>
            <a:chOff x="2224" y="1063"/>
            <a:chExt cx="708" cy="1967"/>
          </a:xfrm>
        </p:grpSpPr>
        <p:sp>
          <p:nvSpPr>
            <p:cNvPr id="27681" name="Freeform 9"/>
            <p:cNvSpPr>
              <a:spLocks/>
            </p:cNvSpPr>
            <p:nvPr/>
          </p:nvSpPr>
          <p:spPr bwMode="auto">
            <a:xfrm>
              <a:off x="2224" y="1063"/>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2" name="Freeform 10"/>
            <p:cNvSpPr>
              <a:spLocks/>
            </p:cNvSpPr>
            <p:nvPr/>
          </p:nvSpPr>
          <p:spPr bwMode="auto">
            <a:xfrm>
              <a:off x="2706" y="1063"/>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3" name="Freeform 11"/>
            <p:cNvSpPr>
              <a:spLocks/>
            </p:cNvSpPr>
            <p:nvPr/>
          </p:nvSpPr>
          <p:spPr bwMode="auto">
            <a:xfrm>
              <a:off x="2711" y="2018"/>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4" name="Freeform 12"/>
            <p:cNvSpPr>
              <a:spLocks/>
            </p:cNvSpPr>
            <p:nvPr/>
          </p:nvSpPr>
          <p:spPr bwMode="auto">
            <a:xfrm>
              <a:off x="2224" y="1129"/>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7655" name="Group 13"/>
          <p:cNvGrpSpPr>
            <a:grpSpLocks/>
          </p:cNvGrpSpPr>
          <p:nvPr/>
        </p:nvGrpSpPr>
        <p:grpSpPr bwMode="auto">
          <a:xfrm>
            <a:off x="2925763" y="2286000"/>
            <a:ext cx="1123950" cy="3513138"/>
            <a:chOff x="1651" y="1063"/>
            <a:chExt cx="708" cy="1967"/>
          </a:xfrm>
        </p:grpSpPr>
        <p:sp>
          <p:nvSpPr>
            <p:cNvPr id="27677" name="Freeform 14"/>
            <p:cNvSpPr>
              <a:spLocks/>
            </p:cNvSpPr>
            <p:nvPr/>
          </p:nvSpPr>
          <p:spPr bwMode="auto">
            <a:xfrm>
              <a:off x="1651" y="1063"/>
              <a:ext cx="526" cy="67"/>
            </a:xfrm>
            <a:custGeom>
              <a:avLst/>
              <a:gdLst>
                <a:gd name="T0" fmla="*/ 482 w 526"/>
                <a:gd name="T1" fmla="*/ 66 h 67"/>
                <a:gd name="T2" fmla="*/ 0 w 526"/>
                <a:gd name="T3" fmla="*/ 66 h 67"/>
                <a:gd name="T4" fmla="*/ 46 w 526"/>
                <a:gd name="T5" fmla="*/ 0 h 67"/>
                <a:gd name="T6" fmla="*/ 525 w 526"/>
                <a:gd name="T7" fmla="*/ 0 h 67"/>
                <a:gd name="T8" fmla="*/ 482 w 526"/>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6" h="67">
                  <a:moveTo>
                    <a:pt x="482" y="66"/>
                  </a:moveTo>
                  <a:lnTo>
                    <a:pt x="0" y="66"/>
                  </a:lnTo>
                  <a:lnTo>
                    <a:pt x="46" y="0"/>
                  </a:lnTo>
                  <a:lnTo>
                    <a:pt x="525" y="0"/>
                  </a:lnTo>
                  <a:lnTo>
                    <a:pt x="482" y="66"/>
                  </a:lnTo>
                </a:path>
              </a:pathLst>
            </a:custGeom>
            <a:solidFill>
              <a:srgbClr val="BF3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8" name="Freeform 15"/>
            <p:cNvSpPr>
              <a:spLocks/>
            </p:cNvSpPr>
            <p:nvPr/>
          </p:nvSpPr>
          <p:spPr bwMode="auto">
            <a:xfrm>
              <a:off x="2133" y="1063"/>
              <a:ext cx="225" cy="1010"/>
            </a:xfrm>
            <a:custGeom>
              <a:avLst/>
              <a:gdLst>
                <a:gd name="T0" fmla="*/ 43 w 225"/>
                <a:gd name="T1" fmla="*/ 0 h 1010"/>
                <a:gd name="T2" fmla="*/ 0 w 225"/>
                <a:gd name="T3" fmla="*/ 66 h 1010"/>
                <a:gd name="T4" fmla="*/ 186 w 225"/>
                <a:gd name="T5" fmla="*/ 1009 h 1010"/>
                <a:gd name="T6" fmla="*/ 224 w 225"/>
                <a:gd name="T7" fmla="*/ 957 h 1010"/>
                <a:gd name="T8" fmla="*/ 43 w 225"/>
                <a:gd name="T9" fmla="*/ 0 h 10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10">
                  <a:moveTo>
                    <a:pt x="43" y="0"/>
                  </a:moveTo>
                  <a:lnTo>
                    <a:pt x="0" y="66"/>
                  </a:lnTo>
                  <a:lnTo>
                    <a:pt x="186" y="1009"/>
                  </a:lnTo>
                  <a:lnTo>
                    <a:pt x="224" y="957"/>
                  </a:lnTo>
                  <a:lnTo>
                    <a:pt x="43" y="0"/>
                  </a:lnTo>
                </a:path>
              </a:pathLst>
            </a:custGeom>
            <a:solidFill>
              <a:srgbClr val="FF5F1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9" name="Freeform 16"/>
            <p:cNvSpPr>
              <a:spLocks/>
            </p:cNvSpPr>
            <p:nvPr/>
          </p:nvSpPr>
          <p:spPr bwMode="auto">
            <a:xfrm>
              <a:off x="2138" y="2018"/>
              <a:ext cx="221" cy="1012"/>
            </a:xfrm>
            <a:custGeom>
              <a:avLst/>
              <a:gdLst>
                <a:gd name="T0" fmla="*/ 220 w 221"/>
                <a:gd name="T1" fmla="*/ 0 h 1012"/>
                <a:gd name="T2" fmla="*/ 181 w 221"/>
                <a:gd name="T3" fmla="*/ 53 h 1012"/>
                <a:gd name="T4" fmla="*/ 0 w 221"/>
                <a:gd name="T5" fmla="*/ 1011 h 1012"/>
                <a:gd name="T6" fmla="*/ 42 w 221"/>
                <a:gd name="T7" fmla="*/ 949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9"/>
                  </a:lnTo>
                  <a:lnTo>
                    <a:pt x="220" y="0"/>
                  </a:lnTo>
                </a:path>
              </a:pathLst>
            </a:custGeom>
            <a:solidFill>
              <a:srgbClr val="FF7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80" name="Freeform 17"/>
            <p:cNvSpPr>
              <a:spLocks/>
            </p:cNvSpPr>
            <p:nvPr/>
          </p:nvSpPr>
          <p:spPr bwMode="auto">
            <a:xfrm>
              <a:off x="1651" y="1129"/>
              <a:ext cx="669" cy="1901"/>
            </a:xfrm>
            <a:custGeom>
              <a:avLst/>
              <a:gdLst>
                <a:gd name="T0" fmla="*/ 482 w 669"/>
                <a:gd name="T1" fmla="*/ 0 h 1901"/>
                <a:gd name="T2" fmla="*/ 0 w 669"/>
                <a:gd name="T3" fmla="*/ 0 h 1901"/>
                <a:gd name="T4" fmla="*/ 181 w 669"/>
                <a:gd name="T5" fmla="*/ 948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8"/>
                  </a:lnTo>
                  <a:lnTo>
                    <a:pt x="0" y="1900"/>
                  </a:lnTo>
                  <a:lnTo>
                    <a:pt x="487" y="1900"/>
                  </a:lnTo>
                  <a:lnTo>
                    <a:pt x="668" y="942"/>
                  </a:lnTo>
                  <a:lnTo>
                    <a:pt x="482" y="0"/>
                  </a:lnTo>
                </a:path>
              </a:pathLst>
            </a:custGeom>
            <a:solidFill>
              <a:srgbClr val="FF5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7656" name="Group 18"/>
          <p:cNvGrpSpPr>
            <a:grpSpLocks/>
          </p:cNvGrpSpPr>
          <p:nvPr/>
        </p:nvGrpSpPr>
        <p:grpSpPr bwMode="auto">
          <a:xfrm>
            <a:off x="4775200" y="2286000"/>
            <a:ext cx="1123950" cy="3513138"/>
            <a:chOff x="2816" y="1063"/>
            <a:chExt cx="708" cy="1967"/>
          </a:xfrm>
        </p:grpSpPr>
        <p:sp>
          <p:nvSpPr>
            <p:cNvPr id="27673" name="Freeform 19"/>
            <p:cNvSpPr>
              <a:spLocks/>
            </p:cNvSpPr>
            <p:nvPr/>
          </p:nvSpPr>
          <p:spPr bwMode="auto">
            <a:xfrm>
              <a:off x="2816" y="1063"/>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4" name="Freeform 20"/>
            <p:cNvSpPr>
              <a:spLocks/>
            </p:cNvSpPr>
            <p:nvPr/>
          </p:nvSpPr>
          <p:spPr bwMode="auto">
            <a:xfrm>
              <a:off x="3298" y="1063"/>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5" name="Freeform 21"/>
            <p:cNvSpPr>
              <a:spLocks/>
            </p:cNvSpPr>
            <p:nvPr/>
          </p:nvSpPr>
          <p:spPr bwMode="auto">
            <a:xfrm>
              <a:off x="3303" y="2018"/>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6" name="Freeform 22"/>
            <p:cNvSpPr>
              <a:spLocks/>
            </p:cNvSpPr>
            <p:nvPr/>
          </p:nvSpPr>
          <p:spPr bwMode="auto">
            <a:xfrm>
              <a:off x="2816" y="1129"/>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7657" name="Group 23"/>
          <p:cNvGrpSpPr>
            <a:grpSpLocks/>
          </p:cNvGrpSpPr>
          <p:nvPr/>
        </p:nvGrpSpPr>
        <p:grpSpPr bwMode="auto">
          <a:xfrm>
            <a:off x="5715000" y="2286000"/>
            <a:ext cx="1123950" cy="3513138"/>
            <a:chOff x="3408" y="1063"/>
            <a:chExt cx="708" cy="1967"/>
          </a:xfrm>
        </p:grpSpPr>
        <p:sp>
          <p:nvSpPr>
            <p:cNvPr id="27669" name="Freeform 24"/>
            <p:cNvSpPr>
              <a:spLocks/>
            </p:cNvSpPr>
            <p:nvPr/>
          </p:nvSpPr>
          <p:spPr bwMode="auto">
            <a:xfrm>
              <a:off x="3408" y="1063"/>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0" name="Freeform 25"/>
            <p:cNvSpPr>
              <a:spLocks/>
            </p:cNvSpPr>
            <p:nvPr/>
          </p:nvSpPr>
          <p:spPr bwMode="auto">
            <a:xfrm>
              <a:off x="3890" y="1063"/>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1" name="Freeform 26"/>
            <p:cNvSpPr>
              <a:spLocks/>
            </p:cNvSpPr>
            <p:nvPr/>
          </p:nvSpPr>
          <p:spPr bwMode="auto">
            <a:xfrm>
              <a:off x="3895" y="2018"/>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7672" name="Freeform 27"/>
            <p:cNvSpPr>
              <a:spLocks/>
            </p:cNvSpPr>
            <p:nvPr/>
          </p:nvSpPr>
          <p:spPr bwMode="auto">
            <a:xfrm>
              <a:off x="3408" y="1129"/>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sp>
        <p:nvSpPr>
          <p:cNvPr id="193569" name="Rectangle 33"/>
          <p:cNvSpPr>
            <a:spLocks noChangeArrowheads="1"/>
          </p:cNvSpPr>
          <p:nvPr/>
        </p:nvSpPr>
        <p:spPr bwMode="auto">
          <a:xfrm>
            <a:off x="2017713" y="3524250"/>
            <a:ext cx="812800"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user</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queries</a:t>
            </a:r>
          </a:p>
        </p:txBody>
      </p:sp>
      <p:sp>
        <p:nvSpPr>
          <p:cNvPr id="193570" name="Rectangle 34"/>
          <p:cNvSpPr>
            <a:spLocks noChangeArrowheads="1"/>
          </p:cNvSpPr>
          <p:nvPr/>
        </p:nvSpPr>
        <p:spPr bwMode="auto">
          <a:xfrm>
            <a:off x="3135313" y="3824288"/>
            <a:ext cx="754062"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mouse</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picks</a:t>
            </a:r>
          </a:p>
        </p:txBody>
      </p:sp>
      <p:sp>
        <p:nvSpPr>
          <p:cNvPr id="193571" name="Rectangle 35"/>
          <p:cNvSpPr>
            <a:spLocks noChangeArrowheads="1"/>
          </p:cNvSpPr>
          <p:nvPr/>
        </p:nvSpPr>
        <p:spPr bwMode="auto">
          <a:xfrm>
            <a:off x="4075113" y="3581400"/>
            <a:ext cx="833437"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output</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formats</a:t>
            </a:r>
          </a:p>
        </p:txBody>
      </p:sp>
      <p:sp>
        <p:nvSpPr>
          <p:cNvPr id="193572" name="Rectangle 36"/>
          <p:cNvSpPr>
            <a:spLocks noChangeArrowheads="1"/>
          </p:cNvSpPr>
          <p:nvPr/>
        </p:nvSpPr>
        <p:spPr bwMode="auto">
          <a:xfrm>
            <a:off x="5002213" y="4052888"/>
            <a:ext cx="892175" cy="258762"/>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prompts</a:t>
            </a:r>
          </a:p>
        </p:txBody>
      </p:sp>
      <p:sp>
        <p:nvSpPr>
          <p:cNvPr id="193573" name="Rectangle 37"/>
          <p:cNvSpPr>
            <a:spLocks noChangeArrowheads="1"/>
          </p:cNvSpPr>
          <p:nvPr/>
        </p:nvSpPr>
        <p:spPr bwMode="auto">
          <a:xfrm>
            <a:off x="5992813" y="3538538"/>
            <a:ext cx="549830" cy="262123"/>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data</a:t>
            </a:r>
          </a:p>
        </p:txBody>
      </p:sp>
    </p:spTree>
    <p:extLst>
      <p:ext uri="{BB962C8B-B14F-4D97-AF65-F5344CB8AC3E}">
        <p14:creationId xmlns:p14="http://schemas.microsoft.com/office/powerpoint/2010/main" val="91969397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a:xfrm>
            <a:off x="1219200" y="990600"/>
            <a:ext cx="6943725" cy="628650"/>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Sample Equivalence Classes</a:t>
            </a:r>
          </a:p>
        </p:txBody>
      </p:sp>
      <p:sp>
        <p:nvSpPr>
          <p:cNvPr id="24" name="Slide Number Placeholder 4"/>
          <p:cNvSpPr>
            <a:spLocks noGrp="1"/>
          </p:cNvSpPr>
          <p:nvPr>
            <p:ph type="sldNum" sz="quarter" idx="12"/>
          </p:nvPr>
        </p:nvSpPr>
        <p:spPr>
          <a:prstGeom prst="rect">
            <a:avLst/>
          </a:prstGeom>
        </p:spPr>
        <p:txBody>
          <a:bodyPr/>
          <a:lstStyle/>
          <a:p>
            <a:pPr>
              <a:defRPr/>
            </a:pPr>
            <a:fld id="{FD08693D-523B-4985-AE46-32ACE37E3315}" type="slidenum">
              <a:rPr lang="en-US"/>
              <a:pPr>
                <a:defRPr/>
              </a:pPr>
              <a:t>47</a:t>
            </a:fld>
            <a:endParaRPr lang="en-US"/>
          </a:p>
        </p:txBody>
      </p:sp>
      <p:sp>
        <p:nvSpPr>
          <p:cNvPr id="23"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sp>
        <p:nvSpPr>
          <p:cNvPr id="194563" name="Rectangle 3"/>
          <p:cNvSpPr>
            <a:spLocks noChangeArrowheads="1"/>
          </p:cNvSpPr>
          <p:nvPr/>
        </p:nvSpPr>
        <p:spPr bwMode="auto">
          <a:xfrm>
            <a:off x="3468688" y="2027238"/>
            <a:ext cx="29368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user supplied commands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64" name="Rectangle 4"/>
          <p:cNvSpPr>
            <a:spLocks noChangeArrowheads="1"/>
          </p:cNvSpPr>
          <p:nvPr/>
        </p:nvSpPr>
        <p:spPr bwMode="auto">
          <a:xfrm>
            <a:off x="3468688" y="2346325"/>
            <a:ext cx="3433762"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responses to system prompts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65" name="Rectangle 5"/>
          <p:cNvSpPr>
            <a:spLocks noChangeArrowheads="1"/>
          </p:cNvSpPr>
          <p:nvPr/>
        </p:nvSpPr>
        <p:spPr bwMode="auto">
          <a:xfrm>
            <a:off x="3468688" y="2665413"/>
            <a:ext cx="12985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file names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66" name="Rectangle 6"/>
          <p:cNvSpPr>
            <a:spLocks noChangeArrowheads="1"/>
          </p:cNvSpPr>
          <p:nvPr/>
        </p:nvSpPr>
        <p:spPr bwMode="auto">
          <a:xfrm>
            <a:off x="3468688" y="2968625"/>
            <a:ext cx="22764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computational data</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67" name="Rectangle 7"/>
          <p:cNvSpPr>
            <a:spLocks noChangeArrowheads="1"/>
          </p:cNvSpPr>
          <p:nvPr/>
        </p:nvSpPr>
        <p:spPr bwMode="auto">
          <a:xfrm>
            <a:off x="3468688" y="3275013"/>
            <a:ext cx="2900362"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    physical parameters    </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68" name="Rectangle 8"/>
          <p:cNvSpPr>
            <a:spLocks noChangeArrowheads="1"/>
          </p:cNvSpPr>
          <p:nvPr/>
        </p:nvSpPr>
        <p:spPr bwMode="auto">
          <a:xfrm>
            <a:off x="3468688" y="3565525"/>
            <a:ext cx="22510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    bounding values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69" name="Rectangle 9"/>
          <p:cNvSpPr>
            <a:spLocks noChangeArrowheads="1"/>
          </p:cNvSpPr>
          <p:nvPr/>
        </p:nvSpPr>
        <p:spPr bwMode="auto">
          <a:xfrm>
            <a:off x="3455988" y="3840163"/>
            <a:ext cx="2162175"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    initiation values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70" name="Rectangle 10"/>
          <p:cNvSpPr>
            <a:spLocks noChangeArrowheads="1"/>
          </p:cNvSpPr>
          <p:nvPr/>
        </p:nvSpPr>
        <p:spPr bwMode="auto">
          <a:xfrm>
            <a:off x="3455988" y="4146550"/>
            <a:ext cx="26193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output data formatting</a:t>
            </a:r>
          </a:p>
        </p:txBody>
      </p:sp>
      <p:sp>
        <p:nvSpPr>
          <p:cNvPr id="194571" name="Rectangle 11"/>
          <p:cNvSpPr>
            <a:spLocks noChangeArrowheads="1"/>
          </p:cNvSpPr>
          <p:nvPr/>
        </p:nvSpPr>
        <p:spPr bwMode="auto">
          <a:xfrm>
            <a:off x="3468688" y="4406900"/>
            <a:ext cx="3370262"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responses to error messages</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72" name="Rectangle 12"/>
          <p:cNvSpPr>
            <a:spLocks noChangeArrowheads="1"/>
          </p:cNvSpPr>
          <p:nvPr/>
        </p:nvSpPr>
        <p:spPr bwMode="auto">
          <a:xfrm>
            <a:off x="3468688" y="4668838"/>
            <a:ext cx="3852862" cy="363537"/>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dirty="0">
                <a:effectLst>
                  <a:outerShdw blurRad="38100" dist="38100" dir="2700000" algn="tl">
                    <a:srgbClr val="FFFFFF"/>
                  </a:outerShdw>
                </a:effectLst>
                <a:latin typeface="Helvetica" pitchFamily="-128" charset="0"/>
                <a:ea typeface="ＭＳ Ｐゴシック" pitchFamily="-128" charset="-128"/>
              </a:rPr>
              <a:t>graphical data (e.g., mouse picks)</a:t>
            </a:r>
          </a:p>
        </p:txBody>
      </p:sp>
      <p:sp>
        <p:nvSpPr>
          <p:cNvPr id="194573" name="Rectangle 13"/>
          <p:cNvSpPr>
            <a:spLocks noChangeArrowheads="1"/>
          </p:cNvSpPr>
          <p:nvPr/>
        </p:nvSpPr>
        <p:spPr bwMode="auto">
          <a:xfrm>
            <a:off x="3468688" y="5497513"/>
            <a:ext cx="4156075" cy="363537"/>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data outside bounds of the program </a:t>
            </a:r>
          </a:p>
        </p:txBody>
      </p:sp>
      <p:sp>
        <p:nvSpPr>
          <p:cNvPr id="194574" name="Rectangle 14"/>
          <p:cNvSpPr>
            <a:spLocks noChangeArrowheads="1"/>
          </p:cNvSpPr>
          <p:nvPr/>
        </p:nvSpPr>
        <p:spPr bwMode="auto">
          <a:xfrm>
            <a:off x="3468688" y="5761038"/>
            <a:ext cx="3078162" cy="63817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physically impossible data</a:t>
            </a:r>
          </a:p>
          <a:p>
            <a:pPr>
              <a:defRPr/>
            </a:pPr>
            <a:endParaRPr lang="en-US" sz="1800" b="1">
              <a:effectLst>
                <a:outerShdw blurRad="38100" dist="38100" dir="2700000" algn="tl">
                  <a:srgbClr val="FFFFFF"/>
                </a:outerShdw>
              </a:effectLst>
              <a:latin typeface="Helvetica" pitchFamily="-128" charset="0"/>
              <a:ea typeface="ＭＳ Ｐゴシック" pitchFamily="-128" charset="-128"/>
            </a:endParaRPr>
          </a:p>
        </p:txBody>
      </p:sp>
      <p:sp>
        <p:nvSpPr>
          <p:cNvPr id="194575" name="Rectangle 15"/>
          <p:cNvSpPr>
            <a:spLocks noChangeArrowheads="1"/>
          </p:cNvSpPr>
          <p:nvPr/>
        </p:nvSpPr>
        <p:spPr bwMode="auto">
          <a:xfrm>
            <a:off x="3455988" y="6035675"/>
            <a:ext cx="42195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proper value supplied in wrong place</a:t>
            </a:r>
          </a:p>
        </p:txBody>
      </p:sp>
      <p:sp>
        <p:nvSpPr>
          <p:cNvPr id="194576" name="Rectangle 16"/>
          <p:cNvSpPr>
            <a:spLocks noChangeArrowheads="1"/>
          </p:cNvSpPr>
          <p:nvPr/>
        </p:nvSpPr>
        <p:spPr bwMode="auto">
          <a:xfrm>
            <a:off x="3048000" y="1752600"/>
            <a:ext cx="12604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i="1" u="sng" dirty="0">
                <a:effectLst>
                  <a:outerShdw blurRad="38100" dist="38100" dir="2700000" algn="tl">
                    <a:srgbClr val="FFFFFF"/>
                  </a:outerShdw>
                </a:effectLst>
                <a:latin typeface="Helvetica" pitchFamily="-128" charset="0"/>
                <a:ea typeface="ＭＳ Ｐゴシック" pitchFamily="-128" charset="-128"/>
              </a:rPr>
              <a:t>Valid data</a:t>
            </a:r>
          </a:p>
        </p:txBody>
      </p:sp>
      <p:sp>
        <p:nvSpPr>
          <p:cNvPr id="194577" name="Rectangle 17"/>
          <p:cNvSpPr>
            <a:spLocks noChangeArrowheads="1"/>
          </p:cNvSpPr>
          <p:nvPr/>
        </p:nvSpPr>
        <p:spPr bwMode="auto">
          <a:xfrm>
            <a:off x="3073400" y="5168900"/>
            <a:ext cx="14382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i="1" u="sng">
                <a:effectLst>
                  <a:outerShdw blurRad="38100" dist="38100" dir="2700000" algn="tl">
                    <a:srgbClr val="FFFFFF"/>
                  </a:outerShdw>
                </a:effectLst>
                <a:latin typeface="Helvetica" pitchFamily="-128" charset="0"/>
                <a:ea typeface="ＭＳ Ｐゴシック" pitchFamily="-128" charset="-128"/>
              </a:rPr>
              <a:t>Invalid data</a:t>
            </a:r>
          </a:p>
        </p:txBody>
      </p:sp>
      <p:grpSp>
        <p:nvGrpSpPr>
          <p:cNvPr id="28692" name="Group 18"/>
          <p:cNvGrpSpPr>
            <a:grpSpLocks/>
          </p:cNvGrpSpPr>
          <p:nvPr/>
        </p:nvGrpSpPr>
        <p:grpSpPr bwMode="auto">
          <a:xfrm>
            <a:off x="1855788" y="2349500"/>
            <a:ext cx="1123950" cy="3513138"/>
            <a:chOff x="952" y="1087"/>
            <a:chExt cx="708" cy="1967"/>
          </a:xfrm>
        </p:grpSpPr>
        <p:sp>
          <p:nvSpPr>
            <p:cNvPr id="28693" name="Freeform 19"/>
            <p:cNvSpPr>
              <a:spLocks/>
            </p:cNvSpPr>
            <p:nvPr/>
          </p:nvSpPr>
          <p:spPr bwMode="auto">
            <a:xfrm>
              <a:off x="952" y="1087"/>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8694" name="Freeform 20"/>
            <p:cNvSpPr>
              <a:spLocks/>
            </p:cNvSpPr>
            <p:nvPr/>
          </p:nvSpPr>
          <p:spPr bwMode="auto">
            <a:xfrm>
              <a:off x="1434" y="1087"/>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8695" name="Freeform 21"/>
            <p:cNvSpPr>
              <a:spLocks/>
            </p:cNvSpPr>
            <p:nvPr/>
          </p:nvSpPr>
          <p:spPr bwMode="auto">
            <a:xfrm>
              <a:off x="1439" y="2042"/>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8696" name="Freeform 22"/>
            <p:cNvSpPr>
              <a:spLocks/>
            </p:cNvSpPr>
            <p:nvPr/>
          </p:nvSpPr>
          <p:spPr bwMode="auto">
            <a:xfrm>
              <a:off x="952" y="1153"/>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spTree>
    <p:extLst>
      <p:ext uri="{BB962C8B-B14F-4D97-AF65-F5344CB8AC3E}">
        <p14:creationId xmlns:p14="http://schemas.microsoft.com/office/powerpoint/2010/main" val="62265767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1219200" y="1066800"/>
            <a:ext cx="6777038" cy="619125"/>
          </a:xfrm>
          <a:noFill/>
          <a:extLst>
            <a:ext uri="{91240B29-F687-4f45-9708-019B960494DF}">
              <a14:hiddenLine xmlns:a14="http://schemas.microsoft.com/office/drawing/2010/main" xmlns="" w="12700">
                <a:solidFill>
                  <a:schemeClr val="tx1"/>
                </a:solidFill>
                <a:miter lim="800000"/>
                <a:headEnd/>
                <a:tailEnd/>
              </a14:hiddenLine>
            </a:ext>
          </a:extLst>
        </p:spPr>
        <p:txBody>
          <a:bodyPr lIns="90487" tIns="44450" rIns="90487" bIns="44450" anchor="ctr">
            <a:normAutofit fontScale="90000"/>
          </a:bodyPr>
          <a:lstStyle/>
          <a:p>
            <a:pPr eaLnBrk="1" hangingPunct="1"/>
            <a:r>
              <a:rPr lang="en-US" altLang="x-none"/>
              <a:t>Boundary Value Analysis</a:t>
            </a:r>
          </a:p>
        </p:txBody>
      </p:sp>
      <p:sp>
        <p:nvSpPr>
          <p:cNvPr id="53" name="Slide Number Placeholder 4"/>
          <p:cNvSpPr>
            <a:spLocks noGrp="1"/>
          </p:cNvSpPr>
          <p:nvPr>
            <p:ph type="sldNum" sz="quarter" idx="12"/>
          </p:nvPr>
        </p:nvSpPr>
        <p:spPr>
          <a:prstGeom prst="rect">
            <a:avLst/>
          </a:prstGeom>
        </p:spPr>
        <p:txBody>
          <a:bodyPr/>
          <a:lstStyle/>
          <a:p>
            <a:pPr>
              <a:defRPr/>
            </a:pPr>
            <a:fld id="{ED6C3218-45AF-4D19-88B2-F0CDBC29B598}" type="slidenum">
              <a:rPr lang="en-US"/>
              <a:pPr>
                <a:defRPr/>
              </a:pPr>
              <a:t>48</a:t>
            </a:fld>
            <a:endParaRPr lang="en-US"/>
          </a:p>
        </p:txBody>
      </p:sp>
      <p:sp>
        <p:nvSpPr>
          <p:cNvPr id="52" name="Footer Placeholder 3"/>
          <p:cNvSpPr>
            <a:spLocks noGrp="1"/>
          </p:cNvSpPr>
          <p:nvPr>
            <p:ph type="ftr" sz="quarter" idx="4294967295"/>
          </p:nvPr>
        </p:nvSpPr>
        <p:spPr>
          <a:xfrm>
            <a:off x="0" y="6248400"/>
            <a:ext cx="5486400" cy="457200"/>
          </a:xfrm>
          <a:prstGeom prst="rect">
            <a:avLst/>
          </a:prstGeom>
        </p:spPr>
        <p:txBody>
          <a:bodyPr/>
          <a:lstStyle/>
          <a:p>
            <a:pPr>
              <a:defRPr/>
            </a:pPr>
            <a:r>
              <a:rPr lang="en-US"/>
              <a:t>These slides are designed to accompany </a:t>
            </a:r>
            <a:r>
              <a:rPr lang="en-US" i="1"/>
              <a:t>Software Engineering: A Practitioner’s Approach, 7/e </a:t>
            </a:r>
            <a:r>
              <a:rPr lang="en-US"/>
              <a:t>(McGraw-Hill 2009). Slides copyright 2009 by Roger Pressman.</a:t>
            </a:r>
          </a:p>
        </p:txBody>
      </p:sp>
      <p:grpSp>
        <p:nvGrpSpPr>
          <p:cNvPr id="29701" name="Group 3"/>
          <p:cNvGrpSpPr>
            <a:grpSpLocks/>
          </p:cNvGrpSpPr>
          <p:nvPr/>
        </p:nvGrpSpPr>
        <p:grpSpPr bwMode="auto">
          <a:xfrm>
            <a:off x="1795463" y="2209800"/>
            <a:ext cx="1123950" cy="3513138"/>
            <a:chOff x="811" y="1055"/>
            <a:chExt cx="708" cy="1967"/>
          </a:xfrm>
        </p:grpSpPr>
        <p:sp>
          <p:nvSpPr>
            <p:cNvPr id="29746" name="Freeform 4"/>
            <p:cNvSpPr>
              <a:spLocks/>
            </p:cNvSpPr>
            <p:nvPr/>
          </p:nvSpPr>
          <p:spPr bwMode="auto">
            <a:xfrm>
              <a:off x="811" y="1055"/>
              <a:ext cx="526" cy="67"/>
            </a:xfrm>
            <a:custGeom>
              <a:avLst/>
              <a:gdLst>
                <a:gd name="T0" fmla="*/ 482 w 526"/>
                <a:gd name="T1" fmla="*/ 66 h 67"/>
                <a:gd name="T2" fmla="*/ 0 w 526"/>
                <a:gd name="T3" fmla="*/ 66 h 67"/>
                <a:gd name="T4" fmla="*/ 46 w 526"/>
                <a:gd name="T5" fmla="*/ 0 h 67"/>
                <a:gd name="T6" fmla="*/ 525 w 526"/>
                <a:gd name="T7" fmla="*/ 0 h 67"/>
                <a:gd name="T8" fmla="*/ 482 w 526"/>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6" h="67">
                  <a:moveTo>
                    <a:pt x="482" y="66"/>
                  </a:moveTo>
                  <a:lnTo>
                    <a:pt x="0" y="66"/>
                  </a:lnTo>
                  <a:lnTo>
                    <a:pt x="46" y="0"/>
                  </a:lnTo>
                  <a:lnTo>
                    <a:pt x="525" y="0"/>
                  </a:lnTo>
                  <a:lnTo>
                    <a:pt x="482" y="66"/>
                  </a:lnTo>
                </a:path>
              </a:pathLst>
            </a:custGeom>
            <a:solidFill>
              <a:srgbClr val="5F00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7" name="Freeform 5"/>
            <p:cNvSpPr>
              <a:spLocks/>
            </p:cNvSpPr>
            <p:nvPr/>
          </p:nvSpPr>
          <p:spPr bwMode="auto">
            <a:xfrm>
              <a:off x="1293" y="1055"/>
              <a:ext cx="225" cy="1010"/>
            </a:xfrm>
            <a:custGeom>
              <a:avLst/>
              <a:gdLst>
                <a:gd name="T0" fmla="*/ 43 w 225"/>
                <a:gd name="T1" fmla="*/ 0 h 1010"/>
                <a:gd name="T2" fmla="*/ 0 w 225"/>
                <a:gd name="T3" fmla="*/ 66 h 1010"/>
                <a:gd name="T4" fmla="*/ 186 w 225"/>
                <a:gd name="T5" fmla="*/ 1009 h 1010"/>
                <a:gd name="T6" fmla="*/ 224 w 225"/>
                <a:gd name="T7" fmla="*/ 957 h 1010"/>
                <a:gd name="T8" fmla="*/ 43 w 225"/>
                <a:gd name="T9" fmla="*/ 0 h 10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10">
                  <a:moveTo>
                    <a:pt x="43" y="0"/>
                  </a:moveTo>
                  <a:lnTo>
                    <a:pt x="0" y="66"/>
                  </a:lnTo>
                  <a:lnTo>
                    <a:pt x="186" y="1009"/>
                  </a:lnTo>
                  <a:lnTo>
                    <a:pt x="224" y="957"/>
                  </a:lnTo>
                  <a:lnTo>
                    <a:pt x="43" y="0"/>
                  </a:lnTo>
                </a:path>
              </a:pathLst>
            </a:custGeom>
            <a:solidFill>
              <a:srgbClr val="9F3FD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8" name="Freeform 6"/>
            <p:cNvSpPr>
              <a:spLocks/>
            </p:cNvSpPr>
            <p:nvPr/>
          </p:nvSpPr>
          <p:spPr bwMode="auto">
            <a:xfrm>
              <a:off x="1298" y="2010"/>
              <a:ext cx="221" cy="1012"/>
            </a:xfrm>
            <a:custGeom>
              <a:avLst/>
              <a:gdLst>
                <a:gd name="T0" fmla="*/ 220 w 221"/>
                <a:gd name="T1" fmla="*/ 0 h 1012"/>
                <a:gd name="T2" fmla="*/ 181 w 221"/>
                <a:gd name="T3" fmla="*/ 53 h 1012"/>
                <a:gd name="T4" fmla="*/ 0 w 221"/>
                <a:gd name="T5" fmla="*/ 1011 h 1012"/>
                <a:gd name="T6" fmla="*/ 42 w 221"/>
                <a:gd name="T7" fmla="*/ 949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9"/>
                  </a:lnTo>
                  <a:lnTo>
                    <a:pt x="220" y="0"/>
                  </a:lnTo>
                </a:path>
              </a:pathLst>
            </a:custGeom>
            <a:solidFill>
              <a:srgbClr val="DF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9" name="Freeform 7"/>
            <p:cNvSpPr>
              <a:spLocks/>
            </p:cNvSpPr>
            <p:nvPr/>
          </p:nvSpPr>
          <p:spPr bwMode="auto">
            <a:xfrm>
              <a:off x="811" y="1121"/>
              <a:ext cx="669" cy="1901"/>
            </a:xfrm>
            <a:custGeom>
              <a:avLst/>
              <a:gdLst>
                <a:gd name="T0" fmla="*/ 482 w 669"/>
                <a:gd name="T1" fmla="*/ 0 h 1901"/>
                <a:gd name="T2" fmla="*/ 0 w 669"/>
                <a:gd name="T3" fmla="*/ 0 h 1901"/>
                <a:gd name="T4" fmla="*/ 0 w 669"/>
                <a:gd name="T5" fmla="*/ 1900 h 1901"/>
                <a:gd name="T6" fmla="*/ 487 w 669"/>
                <a:gd name="T7" fmla="*/ 1900 h 1901"/>
                <a:gd name="T8" fmla="*/ 668 w 669"/>
                <a:gd name="T9" fmla="*/ 942 h 1901"/>
                <a:gd name="T10" fmla="*/ 482 w 669"/>
                <a:gd name="T11" fmla="*/ 0 h 19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69" h="1901">
                  <a:moveTo>
                    <a:pt x="482" y="0"/>
                  </a:moveTo>
                  <a:lnTo>
                    <a:pt x="0" y="0"/>
                  </a:lnTo>
                  <a:lnTo>
                    <a:pt x="0" y="1900"/>
                  </a:lnTo>
                  <a:lnTo>
                    <a:pt x="487" y="1900"/>
                  </a:lnTo>
                  <a:lnTo>
                    <a:pt x="668" y="942"/>
                  </a:lnTo>
                  <a:lnTo>
                    <a:pt x="482" y="0"/>
                  </a:lnTo>
                </a:path>
              </a:pathLst>
            </a:custGeom>
            <a:solidFill>
              <a:srgbClr val="7F00D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9702" name="Group 8"/>
          <p:cNvGrpSpPr>
            <a:grpSpLocks/>
          </p:cNvGrpSpPr>
          <p:nvPr/>
        </p:nvGrpSpPr>
        <p:grpSpPr bwMode="auto">
          <a:xfrm>
            <a:off x="3581400" y="2209800"/>
            <a:ext cx="1123950" cy="3513138"/>
            <a:chOff x="1936" y="1055"/>
            <a:chExt cx="708" cy="1967"/>
          </a:xfrm>
        </p:grpSpPr>
        <p:sp>
          <p:nvSpPr>
            <p:cNvPr id="29742" name="Freeform 9"/>
            <p:cNvSpPr>
              <a:spLocks/>
            </p:cNvSpPr>
            <p:nvPr/>
          </p:nvSpPr>
          <p:spPr bwMode="auto">
            <a:xfrm>
              <a:off x="1936" y="1055"/>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3" name="Freeform 10"/>
            <p:cNvSpPr>
              <a:spLocks/>
            </p:cNvSpPr>
            <p:nvPr/>
          </p:nvSpPr>
          <p:spPr bwMode="auto">
            <a:xfrm>
              <a:off x="2418" y="1055"/>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4" name="Freeform 11"/>
            <p:cNvSpPr>
              <a:spLocks/>
            </p:cNvSpPr>
            <p:nvPr/>
          </p:nvSpPr>
          <p:spPr bwMode="auto">
            <a:xfrm>
              <a:off x="2423" y="2010"/>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5" name="Freeform 12"/>
            <p:cNvSpPr>
              <a:spLocks/>
            </p:cNvSpPr>
            <p:nvPr/>
          </p:nvSpPr>
          <p:spPr bwMode="auto">
            <a:xfrm>
              <a:off x="1936" y="1121"/>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9703" name="Group 13"/>
          <p:cNvGrpSpPr>
            <a:grpSpLocks/>
          </p:cNvGrpSpPr>
          <p:nvPr/>
        </p:nvGrpSpPr>
        <p:grpSpPr bwMode="auto">
          <a:xfrm>
            <a:off x="2671763" y="2209800"/>
            <a:ext cx="1123950" cy="3513138"/>
            <a:chOff x="1363" y="1055"/>
            <a:chExt cx="708" cy="1967"/>
          </a:xfrm>
        </p:grpSpPr>
        <p:sp>
          <p:nvSpPr>
            <p:cNvPr id="29738" name="Freeform 14"/>
            <p:cNvSpPr>
              <a:spLocks/>
            </p:cNvSpPr>
            <p:nvPr/>
          </p:nvSpPr>
          <p:spPr bwMode="auto">
            <a:xfrm>
              <a:off x="1363" y="1055"/>
              <a:ext cx="526" cy="67"/>
            </a:xfrm>
            <a:custGeom>
              <a:avLst/>
              <a:gdLst>
                <a:gd name="T0" fmla="*/ 482 w 526"/>
                <a:gd name="T1" fmla="*/ 66 h 67"/>
                <a:gd name="T2" fmla="*/ 0 w 526"/>
                <a:gd name="T3" fmla="*/ 66 h 67"/>
                <a:gd name="T4" fmla="*/ 46 w 526"/>
                <a:gd name="T5" fmla="*/ 0 h 67"/>
                <a:gd name="T6" fmla="*/ 525 w 526"/>
                <a:gd name="T7" fmla="*/ 0 h 67"/>
                <a:gd name="T8" fmla="*/ 482 w 526"/>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6" h="67">
                  <a:moveTo>
                    <a:pt x="482" y="66"/>
                  </a:moveTo>
                  <a:lnTo>
                    <a:pt x="0" y="66"/>
                  </a:lnTo>
                  <a:lnTo>
                    <a:pt x="46" y="0"/>
                  </a:lnTo>
                  <a:lnTo>
                    <a:pt x="525" y="0"/>
                  </a:lnTo>
                  <a:lnTo>
                    <a:pt x="482" y="66"/>
                  </a:lnTo>
                </a:path>
              </a:pathLst>
            </a:custGeom>
            <a:solidFill>
              <a:srgbClr val="BF3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9" name="Freeform 15"/>
            <p:cNvSpPr>
              <a:spLocks/>
            </p:cNvSpPr>
            <p:nvPr/>
          </p:nvSpPr>
          <p:spPr bwMode="auto">
            <a:xfrm>
              <a:off x="1845" y="1055"/>
              <a:ext cx="225" cy="1010"/>
            </a:xfrm>
            <a:custGeom>
              <a:avLst/>
              <a:gdLst>
                <a:gd name="T0" fmla="*/ 43 w 225"/>
                <a:gd name="T1" fmla="*/ 0 h 1010"/>
                <a:gd name="T2" fmla="*/ 0 w 225"/>
                <a:gd name="T3" fmla="*/ 66 h 1010"/>
                <a:gd name="T4" fmla="*/ 186 w 225"/>
                <a:gd name="T5" fmla="*/ 1009 h 1010"/>
                <a:gd name="T6" fmla="*/ 224 w 225"/>
                <a:gd name="T7" fmla="*/ 957 h 1010"/>
                <a:gd name="T8" fmla="*/ 43 w 225"/>
                <a:gd name="T9" fmla="*/ 0 h 10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10">
                  <a:moveTo>
                    <a:pt x="43" y="0"/>
                  </a:moveTo>
                  <a:lnTo>
                    <a:pt x="0" y="66"/>
                  </a:lnTo>
                  <a:lnTo>
                    <a:pt x="186" y="1009"/>
                  </a:lnTo>
                  <a:lnTo>
                    <a:pt x="224" y="957"/>
                  </a:lnTo>
                  <a:lnTo>
                    <a:pt x="43" y="0"/>
                  </a:lnTo>
                </a:path>
              </a:pathLst>
            </a:custGeom>
            <a:solidFill>
              <a:srgbClr val="FF5F1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0" name="Freeform 16"/>
            <p:cNvSpPr>
              <a:spLocks/>
            </p:cNvSpPr>
            <p:nvPr/>
          </p:nvSpPr>
          <p:spPr bwMode="auto">
            <a:xfrm>
              <a:off x="1850" y="2010"/>
              <a:ext cx="221" cy="1012"/>
            </a:xfrm>
            <a:custGeom>
              <a:avLst/>
              <a:gdLst>
                <a:gd name="T0" fmla="*/ 220 w 221"/>
                <a:gd name="T1" fmla="*/ 0 h 1012"/>
                <a:gd name="T2" fmla="*/ 181 w 221"/>
                <a:gd name="T3" fmla="*/ 53 h 1012"/>
                <a:gd name="T4" fmla="*/ 0 w 221"/>
                <a:gd name="T5" fmla="*/ 1011 h 1012"/>
                <a:gd name="T6" fmla="*/ 42 w 221"/>
                <a:gd name="T7" fmla="*/ 949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9"/>
                  </a:lnTo>
                  <a:lnTo>
                    <a:pt x="220" y="0"/>
                  </a:lnTo>
                </a:path>
              </a:pathLst>
            </a:custGeom>
            <a:solidFill>
              <a:srgbClr val="FF7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41" name="Freeform 17"/>
            <p:cNvSpPr>
              <a:spLocks/>
            </p:cNvSpPr>
            <p:nvPr/>
          </p:nvSpPr>
          <p:spPr bwMode="auto">
            <a:xfrm>
              <a:off x="1363" y="1121"/>
              <a:ext cx="669" cy="1901"/>
            </a:xfrm>
            <a:custGeom>
              <a:avLst/>
              <a:gdLst>
                <a:gd name="T0" fmla="*/ 482 w 669"/>
                <a:gd name="T1" fmla="*/ 0 h 1901"/>
                <a:gd name="T2" fmla="*/ 0 w 669"/>
                <a:gd name="T3" fmla="*/ 0 h 1901"/>
                <a:gd name="T4" fmla="*/ 181 w 669"/>
                <a:gd name="T5" fmla="*/ 948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8"/>
                  </a:lnTo>
                  <a:lnTo>
                    <a:pt x="0" y="1900"/>
                  </a:lnTo>
                  <a:lnTo>
                    <a:pt x="487" y="1900"/>
                  </a:lnTo>
                  <a:lnTo>
                    <a:pt x="668" y="942"/>
                  </a:lnTo>
                  <a:lnTo>
                    <a:pt x="482" y="0"/>
                  </a:lnTo>
                </a:path>
              </a:pathLst>
            </a:custGeom>
            <a:solidFill>
              <a:srgbClr val="FF5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9704" name="Group 18"/>
          <p:cNvGrpSpPr>
            <a:grpSpLocks/>
          </p:cNvGrpSpPr>
          <p:nvPr/>
        </p:nvGrpSpPr>
        <p:grpSpPr bwMode="auto">
          <a:xfrm>
            <a:off x="4521200" y="2209800"/>
            <a:ext cx="1123950" cy="3513138"/>
            <a:chOff x="2528" y="1055"/>
            <a:chExt cx="708" cy="1967"/>
          </a:xfrm>
        </p:grpSpPr>
        <p:sp>
          <p:nvSpPr>
            <p:cNvPr id="29734" name="Freeform 19"/>
            <p:cNvSpPr>
              <a:spLocks/>
            </p:cNvSpPr>
            <p:nvPr/>
          </p:nvSpPr>
          <p:spPr bwMode="auto">
            <a:xfrm>
              <a:off x="2528" y="1055"/>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5" name="Freeform 20"/>
            <p:cNvSpPr>
              <a:spLocks/>
            </p:cNvSpPr>
            <p:nvPr/>
          </p:nvSpPr>
          <p:spPr bwMode="auto">
            <a:xfrm>
              <a:off x="3010" y="1055"/>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6" name="Freeform 21"/>
            <p:cNvSpPr>
              <a:spLocks/>
            </p:cNvSpPr>
            <p:nvPr/>
          </p:nvSpPr>
          <p:spPr bwMode="auto">
            <a:xfrm>
              <a:off x="3015" y="2010"/>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7" name="Freeform 22"/>
            <p:cNvSpPr>
              <a:spLocks/>
            </p:cNvSpPr>
            <p:nvPr/>
          </p:nvSpPr>
          <p:spPr bwMode="auto">
            <a:xfrm>
              <a:off x="2528" y="1121"/>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9705" name="Group 23"/>
          <p:cNvGrpSpPr>
            <a:grpSpLocks/>
          </p:cNvGrpSpPr>
          <p:nvPr/>
        </p:nvGrpSpPr>
        <p:grpSpPr bwMode="auto">
          <a:xfrm>
            <a:off x="5461000" y="2209800"/>
            <a:ext cx="1123950" cy="3513138"/>
            <a:chOff x="3120" y="1055"/>
            <a:chExt cx="708" cy="1967"/>
          </a:xfrm>
        </p:grpSpPr>
        <p:sp>
          <p:nvSpPr>
            <p:cNvPr id="29730" name="Freeform 24"/>
            <p:cNvSpPr>
              <a:spLocks/>
            </p:cNvSpPr>
            <p:nvPr/>
          </p:nvSpPr>
          <p:spPr bwMode="auto">
            <a:xfrm>
              <a:off x="3120" y="1055"/>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1" name="Freeform 25"/>
            <p:cNvSpPr>
              <a:spLocks/>
            </p:cNvSpPr>
            <p:nvPr/>
          </p:nvSpPr>
          <p:spPr bwMode="auto">
            <a:xfrm>
              <a:off x="3602" y="1055"/>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2" name="Freeform 26"/>
            <p:cNvSpPr>
              <a:spLocks/>
            </p:cNvSpPr>
            <p:nvPr/>
          </p:nvSpPr>
          <p:spPr bwMode="auto">
            <a:xfrm>
              <a:off x="3607" y="2010"/>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33" name="Freeform 27"/>
            <p:cNvSpPr>
              <a:spLocks/>
            </p:cNvSpPr>
            <p:nvPr/>
          </p:nvSpPr>
          <p:spPr bwMode="auto">
            <a:xfrm>
              <a:off x="3120" y="1121"/>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grpSp>
        <p:nvGrpSpPr>
          <p:cNvPr id="29706" name="Group 28"/>
          <p:cNvGrpSpPr>
            <a:grpSpLocks/>
          </p:cNvGrpSpPr>
          <p:nvPr/>
        </p:nvGrpSpPr>
        <p:grpSpPr bwMode="auto">
          <a:xfrm>
            <a:off x="6400800" y="2209800"/>
            <a:ext cx="1123950" cy="3513138"/>
            <a:chOff x="3712" y="1055"/>
            <a:chExt cx="708" cy="1967"/>
          </a:xfrm>
        </p:grpSpPr>
        <p:sp>
          <p:nvSpPr>
            <p:cNvPr id="29726" name="Freeform 29"/>
            <p:cNvSpPr>
              <a:spLocks/>
            </p:cNvSpPr>
            <p:nvPr/>
          </p:nvSpPr>
          <p:spPr bwMode="auto">
            <a:xfrm>
              <a:off x="3712" y="1055"/>
              <a:ext cx="527" cy="67"/>
            </a:xfrm>
            <a:custGeom>
              <a:avLst/>
              <a:gdLst>
                <a:gd name="T0" fmla="*/ 482 w 527"/>
                <a:gd name="T1" fmla="*/ 66 h 67"/>
                <a:gd name="T2" fmla="*/ 0 w 527"/>
                <a:gd name="T3" fmla="*/ 66 h 67"/>
                <a:gd name="T4" fmla="*/ 46 w 527"/>
                <a:gd name="T5" fmla="*/ 0 h 67"/>
                <a:gd name="T6" fmla="*/ 526 w 527"/>
                <a:gd name="T7" fmla="*/ 0 h 67"/>
                <a:gd name="T8" fmla="*/ 482 w 527"/>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7" h="67">
                  <a:moveTo>
                    <a:pt x="482" y="66"/>
                  </a:moveTo>
                  <a:lnTo>
                    <a:pt x="0" y="66"/>
                  </a:lnTo>
                  <a:lnTo>
                    <a:pt x="46" y="0"/>
                  </a:lnTo>
                  <a:lnTo>
                    <a:pt x="526" y="0"/>
                  </a:lnTo>
                  <a:lnTo>
                    <a:pt x="482" y="66"/>
                  </a:lnTo>
                </a:path>
              </a:pathLst>
            </a:custGeom>
            <a:solidFill>
              <a:srgbClr val="800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27" name="Freeform 30"/>
            <p:cNvSpPr>
              <a:spLocks/>
            </p:cNvSpPr>
            <p:nvPr/>
          </p:nvSpPr>
          <p:spPr bwMode="auto">
            <a:xfrm>
              <a:off x="4194" y="1055"/>
              <a:ext cx="225" cy="1009"/>
            </a:xfrm>
            <a:custGeom>
              <a:avLst/>
              <a:gdLst>
                <a:gd name="T0" fmla="*/ 44 w 225"/>
                <a:gd name="T1" fmla="*/ 0 h 1009"/>
                <a:gd name="T2" fmla="*/ 0 w 225"/>
                <a:gd name="T3" fmla="*/ 66 h 1009"/>
                <a:gd name="T4" fmla="*/ 186 w 225"/>
                <a:gd name="T5" fmla="*/ 1008 h 1009"/>
                <a:gd name="T6" fmla="*/ 224 w 225"/>
                <a:gd name="T7" fmla="*/ 956 h 1009"/>
                <a:gd name="T8" fmla="*/ 44 w 225"/>
                <a:gd name="T9" fmla="*/ 0 h 10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09">
                  <a:moveTo>
                    <a:pt x="44" y="0"/>
                  </a:moveTo>
                  <a:lnTo>
                    <a:pt x="0" y="66"/>
                  </a:lnTo>
                  <a:lnTo>
                    <a:pt x="186" y="1008"/>
                  </a:lnTo>
                  <a:lnTo>
                    <a:pt x="224" y="956"/>
                  </a:lnTo>
                  <a:lnTo>
                    <a:pt x="44" y="0"/>
                  </a:lnTo>
                </a:path>
              </a:pathLst>
            </a:custGeom>
            <a:solidFill>
              <a:srgbClr val="FF5F7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28" name="Freeform 31"/>
            <p:cNvSpPr>
              <a:spLocks/>
            </p:cNvSpPr>
            <p:nvPr/>
          </p:nvSpPr>
          <p:spPr bwMode="auto">
            <a:xfrm>
              <a:off x="4199" y="2010"/>
              <a:ext cx="221" cy="1012"/>
            </a:xfrm>
            <a:custGeom>
              <a:avLst/>
              <a:gdLst>
                <a:gd name="T0" fmla="*/ 220 w 221"/>
                <a:gd name="T1" fmla="*/ 0 h 1012"/>
                <a:gd name="T2" fmla="*/ 181 w 221"/>
                <a:gd name="T3" fmla="*/ 53 h 1012"/>
                <a:gd name="T4" fmla="*/ 0 w 221"/>
                <a:gd name="T5" fmla="*/ 1011 h 1012"/>
                <a:gd name="T6" fmla="*/ 42 w 221"/>
                <a:gd name="T7" fmla="*/ 948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8"/>
                  </a:lnTo>
                  <a:lnTo>
                    <a:pt x="220" y="0"/>
                  </a:lnTo>
                </a:path>
              </a:pathLst>
            </a:custGeom>
            <a:solidFill>
              <a:srgbClr val="FF7F9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29" name="Freeform 32"/>
            <p:cNvSpPr>
              <a:spLocks/>
            </p:cNvSpPr>
            <p:nvPr/>
          </p:nvSpPr>
          <p:spPr bwMode="auto">
            <a:xfrm>
              <a:off x="3712" y="1121"/>
              <a:ext cx="669" cy="1901"/>
            </a:xfrm>
            <a:custGeom>
              <a:avLst/>
              <a:gdLst>
                <a:gd name="T0" fmla="*/ 482 w 669"/>
                <a:gd name="T1" fmla="*/ 0 h 1901"/>
                <a:gd name="T2" fmla="*/ 0 w 669"/>
                <a:gd name="T3" fmla="*/ 0 h 1901"/>
                <a:gd name="T4" fmla="*/ 181 w 669"/>
                <a:gd name="T5" fmla="*/ 947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7"/>
                  </a:lnTo>
                  <a:lnTo>
                    <a:pt x="0" y="1900"/>
                  </a:lnTo>
                  <a:lnTo>
                    <a:pt x="487" y="1900"/>
                  </a:lnTo>
                  <a:lnTo>
                    <a:pt x="668" y="942"/>
                  </a:lnTo>
                  <a:lnTo>
                    <a:pt x="482" y="0"/>
                  </a:lnTo>
                </a:path>
              </a:pathLst>
            </a:custGeom>
            <a:solidFill>
              <a:srgbClr val="DF1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sp>
        <p:nvSpPr>
          <p:cNvPr id="195617" name="Rectangle 33"/>
          <p:cNvSpPr>
            <a:spLocks noChangeArrowheads="1"/>
          </p:cNvSpPr>
          <p:nvPr/>
        </p:nvSpPr>
        <p:spPr bwMode="auto">
          <a:xfrm>
            <a:off x="1763713" y="3448050"/>
            <a:ext cx="812800"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user</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queries</a:t>
            </a:r>
          </a:p>
        </p:txBody>
      </p:sp>
      <p:sp>
        <p:nvSpPr>
          <p:cNvPr id="29708" name="Freeform 34"/>
          <p:cNvSpPr>
            <a:spLocks/>
          </p:cNvSpPr>
          <p:nvPr/>
        </p:nvSpPr>
        <p:spPr bwMode="auto">
          <a:xfrm>
            <a:off x="2730500" y="2382838"/>
            <a:ext cx="928688" cy="3244850"/>
          </a:xfrm>
          <a:custGeom>
            <a:avLst/>
            <a:gdLst>
              <a:gd name="T0" fmla="*/ 0 w 585"/>
              <a:gd name="T1" fmla="*/ 0 h 1817"/>
              <a:gd name="T2" fmla="*/ 1028224304 w 585"/>
              <a:gd name="T3" fmla="*/ 0 h 1817"/>
              <a:gd name="T4" fmla="*/ 1471772042 w 585"/>
              <a:gd name="T5" fmla="*/ 2147483647 h 1817"/>
              <a:gd name="T6" fmla="*/ 1028224304 w 585"/>
              <a:gd name="T7" fmla="*/ 2147483647 h 1817"/>
              <a:gd name="T8" fmla="*/ 40322522 w 585"/>
              <a:gd name="T9" fmla="*/ 2147483647 h 1817"/>
              <a:gd name="T10" fmla="*/ 504031521 w 585"/>
              <a:gd name="T11" fmla="*/ 2147483647 h 1817"/>
              <a:gd name="T12" fmla="*/ 0 w 585"/>
              <a:gd name="T13" fmla="*/ 0 h 18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5" h="1817">
                <a:moveTo>
                  <a:pt x="0" y="0"/>
                </a:moveTo>
                <a:lnTo>
                  <a:pt x="408" y="0"/>
                </a:lnTo>
                <a:lnTo>
                  <a:pt x="584" y="888"/>
                </a:lnTo>
                <a:lnTo>
                  <a:pt x="408" y="1816"/>
                </a:lnTo>
                <a:lnTo>
                  <a:pt x="16" y="1816"/>
                </a:lnTo>
                <a:lnTo>
                  <a:pt x="200" y="904"/>
                </a:lnTo>
                <a:lnTo>
                  <a:pt x="0" y="0"/>
                </a:lnTo>
              </a:path>
            </a:pathLst>
          </a:custGeom>
          <a:noFill/>
          <a:ln w="76200" cap="rnd" cmpd="sng">
            <a:solidFill>
              <a:srgbClr val="51DC00"/>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195619" name="Rectangle 35"/>
          <p:cNvSpPr>
            <a:spLocks noChangeArrowheads="1"/>
          </p:cNvSpPr>
          <p:nvPr/>
        </p:nvSpPr>
        <p:spPr bwMode="auto">
          <a:xfrm>
            <a:off x="2881313" y="3748088"/>
            <a:ext cx="754062"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mouse</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picks</a:t>
            </a:r>
          </a:p>
        </p:txBody>
      </p:sp>
      <p:sp>
        <p:nvSpPr>
          <p:cNvPr id="29710" name="Freeform 36"/>
          <p:cNvSpPr>
            <a:spLocks/>
          </p:cNvSpPr>
          <p:nvPr/>
        </p:nvSpPr>
        <p:spPr bwMode="auto">
          <a:xfrm>
            <a:off x="3670300" y="2411413"/>
            <a:ext cx="928688" cy="3244850"/>
          </a:xfrm>
          <a:custGeom>
            <a:avLst/>
            <a:gdLst>
              <a:gd name="T0" fmla="*/ 0 w 585"/>
              <a:gd name="T1" fmla="*/ 0 h 1817"/>
              <a:gd name="T2" fmla="*/ 1028224304 w 585"/>
              <a:gd name="T3" fmla="*/ 0 h 1817"/>
              <a:gd name="T4" fmla="*/ 1471772042 w 585"/>
              <a:gd name="T5" fmla="*/ 2147483647 h 1817"/>
              <a:gd name="T6" fmla="*/ 1028224304 w 585"/>
              <a:gd name="T7" fmla="*/ 2147483647 h 1817"/>
              <a:gd name="T8" fmla="*/ 40322522 w 585"/>
              <a:gd name="T9" fmla="*/ 2147483647 h 1817"/>
              <a:gd name="T10" fmla="*/ 504031521 w 585"/>
              <a:gd name="T11" fmla="*/ 2147483647 h 1817"/>
              <a:gd name="T12" fmla="*/ 0 w 585"/>
              <a:gd name="T13" fmla="*/ 0 h 18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5" h="1817">
                <a:moveTo>
                  <a:pt x="0" y="0"/>
                </a:moveTo>
                <a:lnTo>
                  <a:pt x="408" y="0"/>
                </a:lnTo>
                <a:lnTo>
                  <a:pt x="584" y="888"/>
                </a:lnTo>
                <a:lnTo>
                  <a:pt x="408" y="1816"/>
                </a:lnTo>
                <a:lnTo>
                  <a:pt x="16" y="1816"/>
                </a:lnTo>
                <a:lnTo>
                  <a:pt x="200" y="904"/>
                </a:lnTo>
                <a:lnTo>
                  <a:pt x="0" y="0"/>
                </a:lnTo>
              </a:path>
            </a:pathLst>
          </a:custGeom>
          <a:noFill/>
          <a:ln w="76200" cap="rnd" cmpd="sng">
            <a:solidFill>
              <a:srgbClr val="51DC00"/>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11" name="Freeform 37"/>
          <p:cNvSpPr>
            <a:spLocks/>
          </p:cNvSpPr>
          <p:nvPr/>
        </p:nvSpPr>
        <p:spPr bwMode="auto">
          <a:xfrm>
            <a:off x="4610100" y="2425700"/>
            <a:ext cx="928688" cy="3244850"/>
          </a:xfrm>
          <a:custGeom>
            <a:avLst/>
            <a:gdLst>
              <a:gd name="T0" fmla="*/ 0 w 585"/>
              <a:gd name="T1" fmla="*/ 0 h 1817"/>
              <a:gd name="T2" fmla="*/ 1028224304 w 585"/>
              <a:gd name="T3" fmla="*/ 0 h 1817"/>
              <a:gd name="T4" fmla="*/ 1471772042 w 585"/>
              <a:gd name="T5" fmla="*/ 2147483647 h 1817"/>
              <a:gd name="T6" fmla="*/ 1028224304 w 585"/>
              <a:gd name="T7" fmla="*/ 2147483647 h 1817"/>
              <a:gd name="T8" fmla="*/ 40322522 w 585"/>
              <a:gd name="T9" fmla="*/ 2147483647 h 1817"/>
              <a:gd name="T10" fmla="*/ 504031521 w 585"/>
              <a:gd name="T11" fmla="*/ 2147483647 h 1817"/>
              <a:gd name="T12" fmla="*/ 0 w 585"/>
              <a:gd name="T13" fmla="*/ 0 h 18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5" h="1817">
                <a:moveTo>
                  <a:pt x="0" y="0"/>
                </a:moveTo>
                <a:lnTo>
                  <a:pt x="408" y="0"/>
                </a:lnTo>
                <a:lnTo>
                  <a:pt x="584" y="888"/>
                </a:lnTo>
                <a:lnTo>
                  <a:pt x="408" y="1816"/>
                </a:lnTo>
                <a:lnTo>
                  <a:pt x="16" y="1816"/>
                </a:lnTo>
                <a:lnTo>
                  <a:pt x="200" y="904"/>
                </a:lnTo>
                <a:lnTo>
                  <a:pt x="0" y="0"/>
                </a:lnTo>
              </a:path>
            </a:pathLst>
          </a:custGeom>
          <a:noFill/>
          <a:ln w="76200" cap="rnd" cmpd="sng">
            <a:solidFill>
              <a:srgbClr val="51DC00"/>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12" name="Freeform 38"/>
          <p:cNvSpPr>
            <a:spLocks/>
          </p:cNvSpPr>
          <p:nvPr/>
        </p:nvSpPr>
        <p:spPr bwMode="auto">
          <a:xfrm>
            <a:off x="5537200" y="2397125"/>
            <a:ext cx="928688" cy="3244850"/>
          </a:xfrm>
          <a:custGeom>
            <a:avLst/>
            <a:gdLst>
              <a:gd name="T0" fmla="*/ 0 w 585"/>
              <a:gd name="T1" fmla="*/ 0 h 1817"/>
              <a:gd name="T2" fmla="*/ 1028224304 w 585"/>
              <a:gd name="T3" fmla="*/ 0 h 1817"/>
              <a:gd name="T4" fmla="*/ 1471772042 w 585"/>
              <a:gd name="T5" fmla="*/ 2147483647 h 1817"/>
              <a:gd name="T6" fmla="*/ 1028224304 w 585"/>
              <a:gd name="T7" fmla="*/ 2147483647 h 1817"/>
              <a:gd name="T8" fmla="*/ 40322522 w 585"/>
              <a:gd name="T9" fmla="*/ 2147483647 h 1817"/>
              <a:gd name="T10" fmla="*/ 504031521 w 585"/>
              <a:gd name="T11" fmla="*/ 2147483647 h 1817"/>
              <a:gd name="T12" fmla="*/ 0 w 585"/>
              <a:gd name="T13" fmla="*/ 0 h 18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5" h="1817">
                <a:moveTo>
                  <a:pt x="0" y="0"/>
                </a:moveTo>
                <a:lnTo>
                  <a:pt x="408" y="0"/>
                </a:lnTo>
                <a:lnTo>
                  <a:pt x="584" y="888"/>
                </a:lnTo>
                <a:lnTo>
                  <a:pt x="408" y="1816"/>
                </a:lnTo>
                <a:lnTo>
                  <a:pt x="16" y="1816"/>
                </a:lnTo>
                <a:lnTo>
                  <a:pt x="200" y="904"/>
                </a:lnTo>
                <a:lnTo>
                  <a:pt x="0" y="0"/>
                </a:lnTo>
              </a:path>
            </a:pathLst>
          </a:custGeom>
          <a:noFill/>
          <a:ln w="76200" cap="rnd" cmpd="sng">
            <a:solidFill>
              <a:srgbClr val="51DC00"/>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13" name="Freeform 39"/>
          <p:cNvSpPr>
            <a:spLocks/>
          </p:cNvSpPr>
          <p:nvPr/>
        </p:nvSpPr>
        <p:spPr bwMode="auto">
          <a:xfrm>
            <a:off x="6477000" y="2411413"/>
            <a:ext cx="928688" cy="3244850"/>
          </a:xfrm>
          <a:custGeom>
            <a:avLst/>
            <a:gdLst>
              <a:gd name="T0" fmla="*/ 0 w 585"/>
              <a:gd name="T1" fmla="*/ 0 h 1817"/>
              <a:gd name="T2" fmla="*/ 1028224304 w 585"/>
              <a:gd name="T3" fmla="*/ 0 h 1817"/>
              <a:gd name="T4" fmla="*/ 1471772042 w 585"/>
              <a:gd name="T5" fmla="*/ 2147483647 h 1817"/>
              <a:gd name="T6" fmla="*/ 1028224304 w 585"/>
              <a:gd name="T7" fmla="*/ 2147483647 h 1817"/>
              <a:gd name="T8" fmla="*/ 40322522 w 585"/>
              <a:gd name="T9" fmla="*/ 2147483647 h 1817"/>
              <a:gd name="T10" fmla="*/ 504031521 w 585"/>
              <a:gd name="T11" fmla="*/ 2147483647 h 1817"/>
              <a:gd name="T12" fmla="*/ 0 w 585"/>
              <a:gd name="T13" fmla="*/ 0 h 18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5" h="1817">
                <a:moveTo>
                  <a:pt x="0" y="0"/>
                </a:moveTo>
                <a:lnTo>
                  <a:pt x="408" y="0"/>
                </a:lnTo>
                <a:lnTo>
                  <a:pt x="584" y="888"/>
                </a:lnTo>
                <a:lnTo>
                  <a:pt x="408" y="1816"/>
                </a:lnTo>
                <a:lnTo>
                  <a:pt x="16" y="1816"/>
                </a:lnTo>
                <a:lnTo>
                  <a:pt x="200" y="904"/>
                </a:lnTo>
                <a:lnTo>
                  <a:pt x="0" y="0"/>
                </a:lnTo>
              </a:path>
            </a:pathLst>
          </a:custGeom>
          <a:noFill/>
          <a:ln w="76200" cap="rnd" cmpd="sng">
            <a:solidFill>
              <a:srgbClr val="51DC00"/>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195624" name="Rectangle 40"/>
          <p:cNvSpPr>
            <a:spLocks noChangeArrowheads="1"/>
          </p:cNvSpPr>
          <p:nvPr/>
        </p:nvSpPr>
        <p:spPr bwMode="auto">
          <a:xfrm>
            <a:off x="3821113" y="3505200"/>
            <a:ext cx="833437"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output</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formats</a:t>
            </a:r>
          </a:p>
        </p:txBody>
      </p:sp>
      <p:sp>
        <p:nvSpPr>
          <p:cNvPr id="195625" name="Rectangle 41"/>
          <p:cNvSpPr>
            <a:spLocks noChangeArrowheads="1"/>
          </p:cNvSpPr>
          <p:nvPr/>
        </p:nvSpPr>
        <p:spPr bwMode="auto">
          <a:xfrm>
            <a:off x="4748213" y="3976688"/>
            <a:ext cx="892175" cy="258762"/>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prompts</a:t>
            </a:r>
          </a:p>
        </p:txBody>
      </p:sp>
      <p:sp>
        <p:nvSpPr>
          <p:cNvPr id="195626" name="Rectangle 42"/>
          <p:cNvSpPr>
            <a:spLocks noChangeArrowheads="1"/>
          </p:cNvSpPr>
          <p:nvPr/>
        </p:nvSpPr>
        <p:spPr bwMode="auto">
          <a:xfrm>
            <a:off x="5738813" y="3462338"/>
            <a:ext cx="615950" cy="428625"/>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FK</a:t>
            </a:r>
          </a:p>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input</a:t>
            </a:r>
          </a:p>
        </p:txBody>
      </p:sp>
      <p:sp>
        <p:nvSpPr>
          <p:cNvPr id="195627" name="Rectangle 43"/>
          <p:cNvSpPr>
            <a:spLocks noChangeArrowheads="1"/>
          </p:cNvSpPr>
          <p:nvPr/>
        </p:nvSpPr>
        <p:spPr bwMode="auto">
          <a:xfrm>
            <a:off x="6729413" y="3848100"/>
            <a:ext cx="546100" cy="258763"/>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400" b="1">
                <a:effectLst>
                  <a:outerShdw blurRad="38100" dist="38100" dir="2700000" algn="tl">
                    <a:srgbClr val="FFFFFF"/>
                  </a:outerShdw>
                </a:effectLst>
                <a:latin typeface="Helvetica" pitchFamily="-128" charset="0"/>
                <a:ea typeface="ＭＳ Ｐゴシック" pitchFamily="-128" charset="-128"/>
              </a:rPr>
              <a:t>data</a:t>
            </a:r>
          </a:p>
        </p:txBody>
      </p:sp>
      <p:grpSp>
        <p:nvGrpSpPr>
          <p:cNvPr id="29718" name="Group 44"/>
          <p:cNvGrpSpPr>
            <a:grpSpLocks/>
          </p:cNvGrpSpPr>
          <p:nvPr/>
        </p:nvGrpSpPr>
        <p:grpSpPr bwMode="auto">
          <a:xfrm>
            <a:off x="7612063" y="2209800"/>
            <a:ext cx="1123950" cy="3513138"/>
            <a:chOff x="4475" y="1055"/>
            <a:chExt cx="708" cy="1967"/>
          </a:xfrm>
        </p:grpSpPr>
        <p:sp>
          <p:nvSpPr>
            <p:cNvPr id="29722" name="Freeform 45"/>
            <p:cNvSpPr>
              <a:spLocks/>
            </p:cNvSpPr>
            <p:nvPr/>
          </p:nvSpPr>
          <p:spPr bwMode="auto">
            <a:xfrm>
              <a:off x="4475" y="1055"/>
              <a:ext cx="526" cy="67"/>
            </a:xfrm>
            <a:custGeom>
              <a:avLst/>
              <a:gdLst>
                <a:gd name="T0" fmla="*/ 482 w 526"/>
                <a:gd name="T1" fmla="*/ 66 h 67"/>
                <a:gd name="T2" fmla="*/ 0 w 526"/>
                <a:gd name="T3" fmla="*/ 66 h 67"/>
                <a:gd name="T4" fmla="*/ 46 w 526"/>
                <a:gd name="T5" fmla="*/ 0 h 67"/>
                <a:gd name="T6" fmla="*/ 525 w 526"/>
                <a:gd name="T7" fmla="*/ 0 h 67"/>
                <a:gd name="T8" fmla="*/ 482 w 526"/>
                <a:gd name="T9" fmla="*/ 66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6" h="67">
                  <a:moveTo>
                    <a:pt x="482" y="66"/>
                  </a:moveTo>
                  <a:lnTo>
                    <a:pt x="0" y="66"/>
                  </a:lnTo>
                  <a:lnTo>
                    <a:pt x="46" y="0"/>
                  </a:lnTo>
                  <a:lnTo>
                    <a:pt x="525" y="0"/>
                  </a:lnTo>
                  <a:lnTo>
                    <a:pt x="482" y="66"/>
                  </a:lnTo>
                </a:path>
              </a:pathLst>
            </a:custGeom>
            <a:solidFill>
              <a:srgbClr val="BF3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23" name="Freeform 46"/>
            <p:cNvSpPr>
              <a:spLocks/>
            </p:cNvSpPr>
            <p:nvPr/>
          </p:nvSpPr>
          <p:spPr bwMode="auto">
            <a:xfrm>
              <a:off x="4957" y="1055"/>
              <a:ext cx="225" cy="1010"/>
            </a:xfrm>
            <a:custGeom>
              <a:avLst/>
              <a:gdLst>
                <a:gd name="T0" fmla="*/ 43 w 225"/>
                <a:gd name="T1" fmla="*/ 0 h 1010"/>
                <a:gd name="T2" fmla="*/ 0 w 225"/>
                <a:gd name="T3" fmla="*/ 66 h 1010"/>
                <a:gd name="T4" fmla="*/ 186 w 225"/>
                <a:gd name="T5" fmla="*/ 1009 h 1010"/>
                <a:gd name="T6" fmla="*/ 224 w 225"/>
                <a:gd name="T7" fmla="*/ 957 h 1010"/>
                <a:gd name="T8" fmla="*/ 43 w 225"/>
                <a:gd name="T9" fmla="*/ 0 h 10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5" h="1010">
                  <a:moveTo>
                    <a:pt x="43" y="0"/>
                  </a:moveTo>
                  <a:lnTo>
                    <a:pt x="0" y="66"/>
                  </a:lnTo>
                  <a:lnTo>
                    <a:pt x="186" y="1009"/>
                  </a:lnTo>
                  <a:lnTo>
                    <a:pt x="224" y="957"/>
                  </a:lnTo>
                  <a:lnTo>
                    <a:pt x="43" y="0"/>
                  </a:lnTo>
                </a:path>
              </a:pathLst>
            </a:custGeom>
            <a:solidFill>
              <a:srgbClr val="FF5F1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24" name="Freeform 47"/>
            <p:cNvSpPr>
              <a:spLocks/>
            </p:cNvSpPr>
            <p:nvPr/>
          </p:nvSpPr>
          <p:spPr bwMode="auto">
            <a:xfrm>
              <a:off x="4962" y="2010"/>
              <a:ext cx="221" cy="1012"/>
            </a:xfrm>
            <a:custGeom>
              <a:avLst/>
              <a:gdLst>
                <a:gd name="T0" fmla="*/ 220 w 221"/>
                <a:gd name="T1" fmla="*/ 0 h 1012"/>
                <a:gd name="T2" fmla="*/ 181 w 221"/>
                <a:gd name="T3" fmla="*/ 53 h 1012"/>
                <a:gd name="T4" fmla="*/ 0 w 221"/>
                <a:gd name="T5" fmla="*/ 1011 h 1012"/>
                <a:gd name="T6" fmla="*/ 42 w 221"/>
                <a:gd name="T7" fmla="*/ 949 h 1012"/>
                <a:gd name="T8" fmla="*/ 220 w 221"/>
                <a:gd name="T9" fmla="*/ 0 h 10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1012">
                  <a:moveTo>
                    <a:pt x="220" y="0"/>
                  </a:moveTo>
                  <a:lnTo>
                    <a:pt x="181" y="53"/>
                  </a:lnTo>
                  <a:lnTo>
                    <a:pt x="0" y="1011"/>
                  </a:lnTo>
                  <a:lnTo>
                    <a:pt x="42" y="949"/>
                  </a:lnTo>
                  <a:lnTo>
                    <a:pt x="220" y="0"/>
                  </a:lnTo>
                </a:path>
              </a:pathLst>
            </a:custGeom>
            <a:solidFill>
              <a:srgbClr val="FF7F3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29725" name="Freeform 48"/>
            <p:cNvSpPr>
              <a:spLocks/>
            </p:cNvSpPr>
            <p:nvPr/>
          </p:nvSpPr>
          <p:spPr bwMode="auto">
            <a:xfrm>
              <a:off x="4475" y="1121"/>
              <a:ext cx="669" cy="1901"/>
            </a:xfrm>
            <a:custGeom>
              <a:avLst/>
              <a:gdLst>
                <a:gd name="T0" fmla="*/ 482 w 669"/>
                <a:gd name="T1" fmla="*/ 0 h 1901"/>
                <a:gd name="T2" fmla="*/ 0 w 669"/>
                <a:gd name="T3" fmla="*/ 0 h 1901"/>
                <a:gd name="T4" fmla="*/ 181 w 669"/>
                <a:gd name="T5" fmla="*/ 948 h 1901"/>
                <a:gd name="T6" fmla="*/ 0 w 669"/>
                <a:gd name="T7" fmla="*/ 1900 h 1901"/>
                <a:gd name="T8" fmla="*/ 487 w 669"/>
                <a:gd name="T9" fmla="*/ 1900 h 1901"/>
                <a:gd name="T10" fmla="*/ 668 w 669"/>
                <a:gd name="T11" fmla="*/ 942 h 1901"/>
                <a:gd name="T12" fmla="*/ 482 w 669"/>
                <a:gd name="T13" fmla="*/ 0 h 190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9" h="1901">
                  <a:moveTo>
                    <a:pt x="482" y="0"/>
                  </a:moveTo>
                  <a:lnTo>
                    <a:pt x="0" y="0"/>
                  </a:lnTo>
                  <a:lnTo>
                    <a:pt x="181" y="948"/>
                  </a:lnTo>
                  <a:lnTo>
                    <a:pt x="0" y="1900"/>
                  </a:lnTo>
                  <a:lnTo>
                    <a:pt x="487" y="1900"/>
                  </a:lnTo>
                  <a:lnTo>
                    <a:pt x="668" y="942"/>
                  </a:lnTo>
                  <a:lnTo>
                    <a:pt x="482" y="0"/>
                  </a:lnTo>
                </a:path>
              </a:pathLst>
            </a:custGeom>
            <a:solidFill>
              <a:srgbClr val="FF5F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grpSp>
      <p:sp>
        <p:nvSpPr>
          <p:cNvPr id="29719" name="Freeform 49"/>
          <p:cNvSpPr>
            <a:spLocks/>
          </p:cNvSpPr>
          <p:nvPr/>
        </p:nvSpPr>
        <p:spPr bwMode="auto">
          <a:xfrm>
            <a:off x="7670800" y="2382838"/>
            <a:ext cx="928688" cy="3244850"/>
          </a:xfrm>
          <a:custGeom>
            <a:avLst/>
            <a:gdLst>
              <a:gd name="T0" fmla="*/ 0 w 585"/>
              <a:gd name="T1" fmla="*/ 0 h 1817"/>
              <a:gd name="T2" fmla="*/ 1028224304 w 585"/>
              <a:gd name="T3" fmla="*/ 0 h 1817"/>
              <a:gd name="T4" fmla="*/ 1471772042 w 585"/>
              <a:gd name="T5" fmla="*/ 2147483647 h 1817"/>
              <a:gd name="T6" fmla="*/ 1028224304 w 585"/>
              <a:gd name="T7" fmla="*/ 2147483647 h 1817"/>
              <a:gd name="T8" fmla="*/ 40322522 w 585"/>
              <a:gd name="T9" fmla="*/ 2147483647 h 1817"/>
              <a:gd name="T10" fmla="*/ 504031521 w 585"/>
              <a:gd name="T11" fmla="*/ 2147483647 h 1817"/>
              <a:gd name="T12" fmla="*/ 0 w 585"/>
              <a:gd name="T13" fmla="*/ 0 h 181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85" h="1817">
                <a:moveTo>
                  <a:pt x="0" y="0"/>
                </a:moveTo>
                <a:lnTo>
                  <a:pt x="408" y="0"/>
                </a:lnTo>
                <a:lnTo>
                  <a:pt x="584" y="888"/>
                </a:lnTo>
                <a:lnTo>
                  <a:pt x="408" y="1816"/>
                </a:lnTo>
                <a:lnTo>
                  <a:pt x="16" y="1816"/>
                </a:lnTo>
                <a:lnTo>
                  <a:pt x="200" y="904"/>
                </a:lnTo>
                <a:lnTo>
                  <a:pt x="0" y="0"/>
                </a:lnTo>
              </a:path>
            </a:pathLst>
          </a:custGeom>
          <a:noFill/>
          <a:ln w="76200" cap="rnd" cmpd="sng">
            <a:solidFill>
              <a:srgbClr val="51DC00"/>
            </a:solidFill>
            <a:prstDash val="solid"/>
            <a:round/>
            <a:headEnd type="none" w="med" len="med"/>
            <a:tailEnd type="triangle" w="med" len="med"/>
          </a:ln>
          <a:effectLst/>
          <a:extLst>
            <a:ext uri="{909E8E84-426E-40dd-AFC4-6F175D3DCCD1}">
              <a14:hiddenFill xmlns:a14="http://schemas.microsoft.com/office/drawing/2010/main" xmlns="">
                <a:solidFill>
                  <a:schemeClr val="accent2"/>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x-none"/>
          </a:p>
        </p:txBody>
      </p:sp>
      <p:sp>
        <p:nvSpPr>
          <p:cNvPr id="195634" name="Rectangle 50"/>
          <p:cNvSpPr>
            <a:spLocks noChangeArrowheads="1"/>
          </p:cNvSpPr>
          <p:nvPr/>
        </p:nvSpPr>
        <p:spPr bwMode="auto">
          <a:xfrm>
            <a:off x="7466013" y="5743575"/>
            <a:ext cx="993775" cy="527050"/>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lnSpc>
                <a:spcPct val="80000"/>
              </a:lnSpc>
              <a:defRPr/>
            </a:pPr>
            <a:r>
              <a:rPr lang="en-US" sz="1800" b="1">
                <a:effectLst>
                  <a:outerShdw blurRad="38100" dist="38100" dir="2700000" algn="tl">
                    <a:srgbClr val="FFFFFF"/>
                  </a:outerShdw>
                </a:effectLst>
                <a:latin typeface="Helvetica" pitchFamily="-128" charset="0"/>
                <a:ea typeface="ＭＳ Ｐゴシック" pitchFamily="-128" charset="-128"/>
              </a:rPr>
              <a:t>output</a:t>
            </a:r>
          </a:p>
          <a:p>
            <a:pPr>
              <a:lnSpc>
                <a:spcPct val="80000"/>
              </a:lnSpc>
              <a:defRPr/>
            </a:pPr>
            <a:r>
              <a:rPr lang="en-US" sz="1800" b="1">
                <a:effectLst>
                  <a:outerShdw blurRad="38100" dist="38100" dir="2700000" algn="tl">
                    <a:srgbClr val="FFFFFF"/>
                  </a:outerShdw>
                </a:effectLst>
                <a:latin typeface="Helvetica" pitchFamily="-128" charset="0"/>
                <a:ea typeface="ＭＳ Ｐゴシック" pitchFamily="-128" charset="-128"/>
              </a:rPr>
              <a:t>domain</a:t>
            </a:r>
          </a:p>
        </p:txBody>
      </p:sp>
      <p:sp>
        <p:nvSpPr>
          <p:cNvPr id="195635" name="Rectangle 51"/>
          <p:cNvSpPr>
            <a:spLocks noChangeArrowheads="1"/>
          </p:cNvSpPr>
          <p:nvPr/>
        </p:nvSpPr>
        <p:spPr bwMode="auto">
          <a:xfrm>
            <a:off x="3681413" y="5895975"/>
            <a:ext cx="1616075" cy="363538"/>
          </a:xfrm>
          <a:prstGeom prst="rect">
            <a:avLst/>
          </a:prstGeom>
          <a:noFill/>
          <a:ln>
            <a:noFill/>
          </a:ln>
          <a:effectLst/>
          <a:extLst>
            <a:ext uri="{909E8E84-426E-40dd-AFC4-6F175D3DCCD1}">
              <a14:hiddenFill xmlns:a14="http://schemas.microsoft.com/office/drawing/2010/main" xmlns="">
                <a:solidFill>
                  <a:schemeClr val="accent2"/>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0487" tIns="44450" rIns="90487" bIns="44450">
            <a:spAutoFit/>
          </a:bodyPr>
          <a:lstStyle/>
          <a:p>
            <a:pPr>
              <a:defRPr/>
            </a:pPr>
            <a:r>
              <a:rPr lang="en-US" sz="1800" b="1">
                <a:effectLst>
                  <a:outerShdw blurRad="38100" dist="38100" dir="2700000" algn="tl">
                    <a:srgbClr val="FFFFFF"/>
                  </a:outerShdw>
                </a:effectLst>
                <a:latin typeface="Helvetica" pitchFamily="-128" charset="0"/>
                <a:ea typeface="ＭＳ Ｐゴシック" pitchFamily="-128" charset="-128"/>
              </a:rPr>
              <a:t>input domain</a:t>
            </a:r>
          </a:p>
        </p:txBody>
      </p:sp>
    </p:spTree>
    <p:extLst>
      <p:ext uri="{BB962C8B-B14F-4D97-AF65-F5344CB8AC3E}">
        <p14:creationId xmlns:p14="http://schemas.microsoft.com/office/powerpoint/2010/main" val="112956912"/>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838200"/>
          </a:xfrm>
        </p:spPr>
        <p:txBody>
          <a:bodyPr>
            <a:normAutofit/>
          </a:bodyPr>
          <a:lstStyle/>
          <a:p>
            <a:r>
              <a:rPr lang="en-US" sz="3200" dirty="0"/>
              <a:t>Resources</a:t>
            </a:r>
            <a:endParaRPr lang="en-GB" sz="3200" dirty="0"/>
          </a:p>
        </p:txBody>
      </p:sp>
      <p:sp>
        <p:nvSpPr>
          <p:cNvPr id="3" name="Content Placeholder 2"/>
          <p:cNvSpPr>
            <a:spLocks noGrp="1"/>
          </p:cNvSpPr>
          <p:nvPr>
            <p:ph idx="1"/>
          </p:nvPr>
        </p:nvSpPr>
        <p:spPr>
          <a:xfrm>
            <a:off x="457200" y="1600200"/>
            <a:ext cx="8229600" cy="4974336"/>
          </a:xfrm>
        </p:spPr>
        <p:txBody>
          <a:bodyPr>
            <a:normAutofit/>
          </a:bodyPr>
          <a:lstStyle/>
          <a:p>
            <a:pPr marL="109728" indent="0" rtl="0">
              <a:buNone/>
            </a:pPr>
            <a:r>
              <a:rPr lang="en-US" dirty="0"/>
              <a:t>Software Engineering, Pearson by Ashok </a:t>
            </a:r>
            <a:r>
              <a:rPr lang="en-US" dirty="0" err="1"/>
              <a:t>Mohanty</a:t>
            </a:r>
            <a:r>
              <a:rPr lang="en-US" dirty="0"/>
              <a:t>, </a:t>
            </a:r>
            <a:r>
              <a:rPr lang="en-US" dirty="0" err="1"/>
              <a:t>Jibitesh</a:t>
            </a:r>
            <a:r>
              <a:rPr lang="en-US" dirty="0"/>
              <a:t> Mishra.</a:t>
            </a:r>
            <a:endParaRPr lang="en-US" sz="2400" dirty="0"/>
          </a:p>
          <a:p>
            <a:pPr marL="109728" indent="0" rtl="0">
              <a:buNone/>
            </a:pPr>
            <a:endParaRPr lang="en-US"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b196578f-6ae1-40cd-93dd-1a3b7a6ede66}" enabled="1" method="Standard" siteId="{2c86bbfc-8d04-41ff-a83a-942f075e0f60}" removed="0"/>
</clbl:labelList>
</file>

<file path=docProps/app.xml><?xml version="1.0" encoding="utf-8"?>
<Properties xmlns="http://schemas.openxmlformats.org/officeDocument/2006/extended-properties" xmlns:vt="http://schemas.openxmlformats.org/officeDocument/2006/docPropsVTypes">
  <Template>CIS512_Topic5+6</Template>
  <TotalTime>17895</TotalTime>
  <Words>3414</Words>
  <Application>Microsoft Office PowerPoint</Application>
  <PresentationFormat>On-screen Show (4:3)</PresentationFormat>
  <Paragraphs>438</Paragraphs>
  <Slides>49</Slides>
  <Notes>10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49</vt:i4>
      </vt:variant>
    </vt:vector>
  </HeadingPairs>
  <TitlesOfParts>
    <vt:vector size="65" baseType="lpstr">
      <vt:lpstr>ＭＳ Ｐゴシック</vt:lpstr>
      <vt:lpstr>Aptos</vt:lpstr>
      <vt:lpstr>Arial</vt:lpstr>
      <vt:lpstr>Arial</vt:lpstr>
      <vt:lpstr>Arial Black</vt:lpstr>
      <vt:lpstr>Calibri</vt:lpstr>
      <vt:lpstr>Cambria</vt:lpstr>
      <vt:lpstr>Georgia</vt:lpstr>
      <vt:lpstr>Helvetica</vt:lpstr>
      <vt:lpstr>Palatino</vt:lpstr>
      <vt:lpstr>Source Sans Pro</vt:lpstr>
      <vt:lpstr>Times New Roman</vt:lpstr>
      <vt:lpstr>Trebuchet MS</vt:lpstr>
      <vt:lpstr>Wingdings</vt:lpstr>
      <vt:lpstr>Wingdings 2</vt:lpstr>
      <vt:lpstr>Urban</vt:lpstr>
      <vt:lpstr>Topic 7: CIS403 Software Quality Assurance  Software Testing</vt:lpstr>
      <vt:lpstr>What is a “Good” Test?</vt:lpstr>
      <vt:lpstr>Topic 3: Test Case Design</vt:lpstr>
      <vt:lpstr>Exhaustive Testing not possible!</vt:lpstr>
      <vt:lpstr>Selective Testing</vt:lpstr>
      <vt:lpstr>Classification of Software Testing</vt:lpstr>
      <vt:lpstr>Classification of Software Testing</vt:lpstr>
      <vt:lpstr>Black box vs. Grey box vs. White box</vt:lpstr>
      <vt:lpstr>White-Box Testing</vt:lpstr>
      <vt:lpstr>Why Cover?</vt:lpstr>
      <vt:lpstr>1. Data processing and calculation correctness tests  </vt:lpstr>
      <vt:lpstr>1. Data processing and calculation correctness tests  </vt:lpstr>
      <vt:lpstr>1. Data processing and calculation correctness tests  </vt:lpstr>
      <vt:lpstr>PowerPoint Presentation</vt:lpstr>
      <vt:lpstr>Adv. and Dis. of white box testing</vt:lpstr>
      <vt:lpstr>McCabe’s cyclomatic complexity metrics </vt:lpstr>
      <vt:lpstr>McCabe’s cyclomatic complexity metrics </vt:lpstr>
      <vt:lpstr>PowerPoint Presentation</vt:lpstr>
      <vt:lpstr>McCabe’s cyclomatic complexity metrics </vt:lpstr>
      <vt:lpstr>Basis Path Testing</vt:lpstr>
      <vt:lpstr>Basis Path Testing Notes</vt:lpstr>
      <vt:lpstr>Flow graph notation</vt:lpstr>
      <vt:lpstr>PowerPoint Presentation</vt:lpstr>
      <vt:lpstr>Deriving Test Cases</vt:lpstr>
      <vt:lpstr>Loop Testing</vt:lpstr>
      <vt:lpstr>Loop Testing: Simple Loops</vt:lpstr>
      <vt:lpstr>Loop Testing: Nested Loops</vt:lpstr>
      <vt:lpstr>Example: The Imperial Taxi Services (ITS) taximeter  </vt:lpstr>
      <vt:lpstr>PowerPoint Presentation</vt:lpstr>
      <vt:lpstr>PowerPoint Presentation</vt:lpstr>
      <vt:lpstr>PowerPoint Presentation</vt:lpstr>
      <vt:lpstr>PowerPoint Presentation</vt:lpstr>
      <vt:lpstr>PowerPoint Presentation</vt:lpstr>
      <vt:lpstr>Black box testing</vt:lpstr>
      <vt:lpstr>Adv. and dis. of black box testing</vt:lpstr>
      <vt:lpstr>Output correctness test</vt:lpstr>
      <vt:lpstr>Documentation tests </vt:lpstr>
      <vt:lpstr>Availability tests </vt:lpstr>
      <vt:lpstr>Reliability tests </vt:lpstr>
      <vt:lpstr>Stress tests </vt:lpstr>
      <vt:lpstr>Software security system tests </vt:lpstr>
      <vt:lpstr>Equivalence class partitioning method</vt:lpstr>
      <vt:lpstr>Equivalence class partitioning method</vt:lpstr>
      <vt:lpstr>Equivalence class partitioning method</vt:lpstr>
      <vt:lpstr>PowerPoint Presentation</vt:lpstr>
      <vt:lpstr>Equivalence Partitioning</vt:lpstr>
      <vt:lpstr>Sample Equivalence Classes</vt:lpstr>
      <vt:lpstr>Boundary Value Analysis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Esraa Suleman Alshabeeb</dc:creator>
  <cp:lastModifiedBy>ghada Alrugaib</cp:lastModifiedBy>
  <cp:revision>300</cp:revision>
  <cp:lastPrinted>2015-01-13T07:26:45Z</cp:lastPrinted>
  <dcterms:created xsi:type="dcterms:W3CDTF">2014-09-02T09:13:26Z</dcterms:created>
  <dcterms:modified xsi:type="dcterms:W3CDTF">2026-10-03T08:44:35Z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Urban:6</vt:lpwstr>
  </property>
  <property fmtid="{D5CDD505-2E9C-101B-9397-08002B2CF9AE}" pid="3" name="ClassificationContentMarkingFooterText">
    <vt:lpwstr>Public - عام</vt:lpwstr>
  </property>
  <property fmtid="{D5CDD505-2E9C-101B-9397-08002B2CF9AE}" pid="4" name="ClassificationContentMarkingHeaderLocations">
    <vt:lpwstr>Urban:5</vt:lpwstr>
  </property>
  <property fmtid="{D5CDD505-2E9C-101B-9397-08002B2CF9AE}" pid="5" name="ClassificationContentMarkingHeaderText">
    <vt:lpwstr>Public - عام</vt:lpwstr>
  </property>
</Properties>
</file>